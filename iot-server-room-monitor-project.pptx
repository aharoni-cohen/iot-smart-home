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60" r:id="rId5"/>
    <p:sldId id="261" r:id="rId6"/>
    <p:sldId id="262" r:id="rId7"/>
    <p:sldId id="263" r:id="rId8"/>
    <p:sldId id="264" r:id="rId9"/>
    <p:sldId id="265" r:id="rId10"/>
    <p:sldId id="267" r:id="rId11"/>
  </p:sldIdLst>
  <p:sldSz cx="12192000" cy="6858000"/>
  <p:notesSz cx="6858000" cy="9144000"/>
  <p:defaultText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r>
              <a:t>Opening: this project presents a simulated IoT server-room monitor. It collects temperature and humidity readings, moves them through MQTT, and turns threshold violations into visible relay actions.</a:t>
            </a:r>
          </a:p>
          <a:p>
            <a:endParaRPr/>
          </a:p>
          <a:p>
            <a:r>
              <a:t>Source: https://github.com/aharoni-cohen/iot-smart-home and the repository files reviewed for this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r>
              <a:t>Explain the operating context. The repository simulates temperature and humidity readings and defines automatic responses for emergency conditions.</a:t>
            </a:r>
          </a:p>
          <a:p>
            <a:endParaRPr/>
          </a:p>
          <a:p>
            <a:r>
              <a:t>Source: https://github.com/aharoni-cohen/iot-smart-home, especially README.md and dashboard.py.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r>
              <a:t>Describe the project as an end-to-end control loop. The dashboard subscribes to four topics and publishes control messages when the threshold logic calls for a response.</a:t>
            </a:r>
          </a:p>
          <a:p>
            <a:endParaRPr/>
          </a:p>
          <a:p>
            <a:r>
              <a:t>Source: https://github.com/aharoni-cohen/iot-smart-home, dashboard.py.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r>
              <a:t>Use the diagram to explain the loose coupling. The DHT simulation publishes a reading. The dashboard subscribes, evaluates it, and publishes relay state messages. The outputs can remain separate processes because MQTT carries the state.</a:t>
            </a:r>
          </a:p>
          <a:p>
            <a:endParaRPr/>
          </a:p>
          <a:p>
            <a:r>
              <a:t>Source: https://github.com/aharoni-cohen/iot-smart-home, dashboard.py and the standalone scripts.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r>
              <a:t>Explain the event order. A timer generates the demo input, the dashboard parses it, threshold logic decides whether to publish, and the event log records the result. The code also tracks whether temperature or humidity is already in alert state so that recovery can publish 0.</a:t>
            </a:r>
          </a:p>
          <a:p>
            <a:endParaRPr/>
          </a:p>
          <a:p>
            <a:r>
              <a:t>Source: https://github.com/aharoni-cohen/iot-smart-home, dashboard.py.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r>
              <a:t>Use this table to make the communication contract concrete. The DHT feed uses a text payload. The relay topics use a JSON object with a value field.</a:t>
            </a:r>
          </a:p>
          <a:p>
            <a:endParaRPr/>
          </a:p>
          <a:p>
            <a:r>
              <a:t>Source: https://github.com/aharoni-cohen/iot-smart-home, dashboard.py and mqtt_init.py.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r>
              <a:t>This screenshot comes from the repository's current dashboard.py. It shows a controlled demonstration state with a 31.2 degree temperature reading, 78.4 percent humidity, and active A/C, pump, and alarm states. The dashboard itself is the main user interface for this project.</a:t>
            </a:r>
          </a:p>
          <a:p>
            <a:endParaRPr/>
          </a:p>
          <a:p>
            <a:r>
              <a:t>Source: https://github.com/aharoni-cohen/iot-smart-home, dashboard.py. Screenshot captured from the repository code in a local offscreen run.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r>
              <a:t>The event log records the normal readings leading into the emergency, then records the temperature and humidity actions. The values shown here come from the controlled screenshot capture and demonstrate how the UI exposes the system response.</a:t>
            </a:r>
          </a:p>
          <a:p>
            <a:endParaRPr/>
          </a:p>
          <a:p>
            <a:r>
              <a:t>Source: https://github.com/aharoni-cohen/iot-smart-home, dashboard.py.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r>
              <a:t>Point out the implementation choices. dashboard.py is the consolidated application. The original scripts remain in the repository as device-level references. PyQt5 renders the GUI, paho-mqtt handles messaging, and matplotlib plots the history.</a:t>
            </a:r>
          </a:p>
          <a:p>
            <a:endParaRPr/>
          </a:p>
          <a:p>
            <a:r>
              <a:t>Source: https://github.com/aharoni-cohen/iot-smart-home, README.md, requirements.txt, and dashboard.py.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r>
              <a:t>Close with the three-part story: measure, decide, act. The application demonstrates how a small MQTT-based system can make environmental risk visible and initiate the first response automatically.</a:t>
            </a:r>
          </a:p>
          <a:p>
            <a:endParaRPr/>
          </a:p>
          <a:p>
            <a:r>
              <a:t>Source: https://github.com/aharoni-cohen/iot-smart-home.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3C52"/>
        </a:solidFill>
        <a:effectLst/>
      </p:bgPr>
    </p:bg>
    <p:spTree>
      <p:nvGrpSpPr>
        <p:cNvPr id="1" name=""/>
        <p:cNvGrpSpPr/>
        <p:nvPr/>
      </p:nvGrpSpPr>
      <p:grpSpPr>
        <a:xfrm>
          <a:off x="0" y="0"/>
          <a:ext cx="0" cy="0"/>
          <a:chOff x="0" y="0"/>
          <a:chExt cx="0" cy="0"/>
        </a:xfrm>
      </p:grpSpPr>
      <p:sp>
        <p:nvSpPr>
          <p:cNvPr id="15" name="cover-rule">
            <a:extLst>
              <a:ext uri="{FF2B5EF4-FFF2-40B4-BE49-F238E27FC236}">
                <a16:creationId xmlns:a16="http://schemas.microsoft.com/office/drawing/2014/main" id="{7835E73F-3C74-4378-A7E2-9D8919872DC3}"/>
              </a:ext>
            </a:extLst>
          </p:cNvPr>
          <p:cNvSpPr>
            <a:spLocks noGrp="1"/>
          </p:cNvSpPr>
          <p:nvPr/>
        </p:nvSpPr>
        <p:spPr>
          <a:xfrm>
            <a:off x="895350" y="1143000"/>
            <a:ext cx="0" cy="1428750"/>
          </a:xfrm>
          <a:prstGeom prst="line">
            <a:avLst/>
          </a:prstGeom>
          <a:noFill/>
          <a:ln w="28575">
            <a:solidFill>
              <a:srgbClr val="1FA9D2"/>
            </a:solidFill>
            <a:prstDash val="solid"/>
          </a:ln>
        </p:spPr>
        <p:txBody>
          <a:bodyPr/>
          <a:lstStyle/>
          <a:p>
            <a:endParaRPr lang="he-IL"/>
          </a:p>
        </p:txBody>
      </p:sp>
      <p:sp>
        <p:nvSpPr>
          <p:cNvPr id="2" name="cover-title">
            <a:extLst>
              <a:ext uri="{FF2B5EF4-FFF2-40B4-BE49-F238E27FC236}">
                <a16:creationId xmlns:a16="http://schemas.microsoft.com/office/drawing/2014/main" id="{C65EE552-8E02-462A-9B24-D33602B2E93E}"/>
              </a:ext>
            </a:extLst>
          </p:cNvPr>
          <p:cNvSpPr>
            <a:spLocks noGrp="1"/>
          </p:cNvSpPr>
          <p:nvPr/>
        </p:nvSpPr>
        <p:spPr>
          <a:xfrm>
            <a:off x="1181099" y="1123950"/>
            <a:ext cx="6342648" cy="1809750"/>
          </a:xfrm>
          <a:prstGeom prst="rect">
            <a:avLst/>
          </a:prstGeom>
          <a:noFill/>
          <a:ln w="0">
            <a:noFill/>
            <a:prstDash val="solid"/>
          </a:ln>
        </p:spPr>
        <p:txBody>
          <a:bodyPr wrap="square" lIns="0" tIns="0" rIns="0" bIns="0" anchor="t">
            <a:normAutofit/>
          </a:bodyPr>
          <a:lstStyle/>
          <a:p>
            <a:pPr algn="l">
              <a:lnSpc>
                <a:spcPct val="92000"/>
              </a:lnSpc>
              <a:buNone/>
              <a:defRPr sz="5025" b="1" i="0">
                <a:solidFill>
                  <a:srgbClr val="FFFFFF"/>
                </a:solidFill>
                <a:latin typeface="Arial"/>
                <a:ea typeface="Arial"/>
                <a:cs typeface="Arial"/>
              </a:defRPr>
            </a:pPr>
            <a:r>
              <a:rPr sz="5025" b="1" i="0" dirty="0">
                <a:solidFill>
                  <a:srgbClr val="FFFFFF"/>
                </a:solidFill>
                <a:latin typeface="Arial"/>
                <a:ea typeface="Arial"/>
                <a:cs typeface="Arial"/>
              </a:rPr>
              <a:t>IoT</a:t>
            </a:r>
          </a:p>
          <a:p>
            <a:pPr>
              <a:lnSpc>
                <a:spcPct val="105000"/>
              </a:lnSpc>
              <a:defRPr sz="2175" b="0" i="0">
                <a:solidFill>
                  <a:srgbClr val="8CC9DB"/>
                </a:solidFill>
                <a:latin typeface="Arial"/>
                <a:ea typeface="Arial"/>
                <a:cs typeface="Arial"/>
              </a:defRPr>
            </a:pPr>
            <a:r>
              <a:rPr lang="en-US" sz="5000" dirty="0">
                <a:solidFill>
                  <a:srgbClr val="8CC9DB"/>
                </a:solidFill>
                <a:latin typeface="Arial"/>
                <a:ea typeface="Arial"/>
                <a:cs typeface="Arial"/>
              </a:rPr>
              <a:t>Server Room Monitor</a:t>
            </a:r>
          </a:p>
        </p:txBody>
      </p:sp>
      <p:sp>
        <p:nvSpPr>
          <p:cNvPr id="4" name="cover-description">
            <a:extLst>
              <a:ext uri="{FF2B5EF4-FFF2-40B4-BE49-F238E27FC236}">
                <a16:creationId xmlns:a16="http://schemas.microsoft.com/office/drawing/2014/main" id="{B5A62F12-FE1E-4523-B75B-10FE7B995FFF}"/>
              </a:ext>
            </a:extLst>
          </p:cNvPr>
          <p:cNvSpPr>
            <a:spLocks noGrp="1"/>
          </p:cNvSpPr>
          <p:nvPr/>
        </p:nvSpPr>
        <p:spPr>
          <a:xfrm>
            <a:off x="895350" y="2811253"/>
            <a:ext cx="5676900" cy="533400"/>
          </a:xfrm>
          <a:prstGeom prst="rect">
            <a:avLst/>
          </a:prstGeom>
          <a:noFill/>
          <a:ln w="0">
            <a:noFill/>
            <a:prstDash val="solid"/>
          </a:ln>
        </p:spPr>
        <p:txBody>
          <a:bodyPr wrap="square" lIns="0" tIns="0" rIns="0" bIns="0" anchor="t">
            <a:normAutofit/>
          </a:bodyPr>
          <a:lstStyle/>
          <a:p>
            <a:pPr algn="l">
              <a:lnSpc>
                <a:spcPct val="105000"/>
              </a:lnSpc>
              <a:buNone/>
              <a:defRPr sz="1500" b="0" i="0">
                <a:solidFill>
                  <a:srgbClr val="FFFFFF"/>
                </a:solidFill>
                <a:latin typeface="Arial"/>
                <a:ea typeface="Arial"/>
                <a:cs typeface="Arial"/>
              </a:defRPr>
            </a:pPr>
            <a:r>
              <a:rPr sz="1600" b="0" i="0" dirty="0">
                <a:solidFill>
                  <a:srgbClr val="FFFFFF"/>
                </a:solidFill>
                <a:latin typeface="Arial"/>
                <a:ea typeface="Arial"/>
                <a:cs typeface="Arial"/>
              </a:rPr>
              <a:t>Real-time climate monitoring with automatic emergency control</a:t>
            </a:r>
          </a:p>
        </p:txBody>
      </p:sp>
      <p:sp>
        <p:nvSpPr>
          <p:cNvPr id="5" name="cover-kicker">
            <a:extLst>
              <a:ext uri="{FF2B5EF4-FFF2-40B4-BE49-F238E27FC236}">
                <a16:creationId xmlns:a16="http://schemas.microsoft.com/office/drawing/2014/main" id="{5AA93B39-2CAD-40AF-879C-6E02E4AA2A8B}"/>
              </a:ext>
            </a:extLst>
          </p:cNvPr>
          <p:cNvSpPr>
            <a:spLocks noGrp="1"/>
          </p:cNvSpPr>
          <p:nvPr/>
        </p:nvSpPr>
        <p:spPr>
          <a:xfrm>
            <a:off x="907382" y="4997992"/>
            <a:ext cx="3143250" cy="266700"/>
          </a:xfrm>
          <a:prstGeom prst="rect">
            <a:avLst/>
          </a:prstGeom>
          <a:noFill/>
          <a:ln w="0">
            <a:noFill/>
            <a:prstDash val="solid"/>
          </a:ln>
        </p:spPr>
        <p:txBody>
          <a:bodyPr wrap="square" lIns="0" tIns="0" rIns="0" bIns="0" anchor="t">
            <a:normAutofit/>
          </a:bodyPr>
          <a:lstStyle/>
          <a:p>
            <a:pPr algn="l">
              <a:lnSpc>
                <a:spcPct val="105000"/>
              </a:lnSpc>
              <a:buNone/>
              <a:defRPr sz="1200" b="0" i="0">
                <a:solidFill>
                  <a:srgbClr val="8CC9DB"/>
                </a:solidFill>
                <a:latin typeface="Arial"/>
                <a:ea typeface="Arial"/>
                <a:cs typeface="Arial"/>
              </a:defRPr>
            </a:pPr>
            <a:r>
              <a:rPr sz="1600" b="0" i="0" dirty="0">
                <a:solidFill>
                  <a:srgbClr val="8CC9DB"/>
                </a:solidFill>
                <a:latin typeface="Arial"/>
                <a:ea typeface="Arial"/>
                <a:cs typeface="Arial"/>
              </a:rPr>
              <a:t>Application presentation</a:t>
            </a:r>
          </a:p>
        </p:txBody>
      </p:sp>
      <p:sp>
        <p:nvSpPr>
          <p:cNvPr id="6" name="cover-repo">
            <a:extLst>
              <a:ext uri="{FF2B5EF4-FFF2-40B4-BE49-F238E27FC236}">
                <a16:creationId xmlns:a16="http://schemas.microsoft.com/office/drawing/2014/main" id="{75F376AD-D003-4D91-BD53-F400A3467213}"/>
              </a:ext>
            </a:extLst>
          </p:cNvPr>
          <p:cNvSpPr>
            <a:spLocks noGrp="1"/>
          </p:cNvSpPr>
          <p:nvPr/>
        </p:nvSpPr>
        <p:spPr>
          <a:xfrm>
            <a:off x="907382" y="5321842"/>
            <a:ext cx="6457950" cy="304800"/>
          </a:xfrm>
          <a:prstGeom prst="rect">
            <a:avLst/>
          </a:prstGeom>
          <a:noFill/>
          <a:ln w="0">
            <a:noFill/>
            <a:prstDash val="solid"/>
          </a:ln>
        </p:spPr>
        <p:txBody>
          <a:bodyPr wrap="square" lIns="0" tIns="0" rIns="0" bIns="0" anchor="t">
            <a:normAutofit/>
          </a:bodyPr>
          <a:lstStyle/>
          <a:p>
            <a:pPr>
              <a:lnSpc>
                <a:spcPct val="105000"/>
              </a:lnSpc>
            </a:pPr>
            <a:r>
              <a:rPr sz="1600" dirty="0">
                <a:solidFill>
                  <a:srgbClr val="FFFFFF"/>
                </a:solidFill>
                <a:latin typeface="Arial"/>
                <a:cs typeface="Arial"/>
              </a:rPr>
              <a:t>https://github.com/aharoni-cohen/iot-smart-home</a:t>
            </a:r>
          </a:p>
        </p:txBody>
      </p:sp>
      <p:sp>
        <p:nvSpPr>
          <p:cNvPr id="7" name="cover-sensor">
            <a:extLst>
              <a:ext uri="{FF2B5EF4-FFF2-40B4-BE49-F238E27FC236}">
                <a16:creationId xmlns:a16="http://schemas.microsoft.com/office/drawing/2014/main" id="{F8ED15EB-A47F-4B1C-AC05-5B8B2E888495}"/>
              </a:ext>
            </a:extLst>
          </p:cNvPr>
          <p:cNvSpPr>
            <a:spLocks noGrp="1"/>
          </p:cNvSpPr>
          <p:nvPr/>
        </p:nvSpPr>
        <p:spPr>
          <a:xfrm>
            <a:off x="7677150" y="1581150"/>
            <a:ext cx="1562100" cy="1028700"/>
          </a:xfrm>
          <a:prstGeom prst="roundRect">
            <a:avLst>
              <a:gd name="adj" fmla="val 16667"/>
            </a:avLst>
          </a:prstGeom>
          <a:solidFill>
            <a:srgbClr val="FFFFFF"/>
          </a:solidFill>
          <a:ln w="9525">
            <a:solidFill>
              <a:srgbClr val="8CC9DB"/>
            </a:solidFill>
            <a:prstDash val="solid"/>
          </a:ln>
        </p:spPr>
        <p:txBody>
          <a:bodyPr wrap="square" lIns="114300" tIns="114300" rIns="114300" bIns="114300" anchor="ctr">
            <a:normAutofit/>
          </a:bodyPr>
          <a:lstStyle/>
          <a:p>
            <a:pPr algn="ctr">
              <a:lnSpc>
                <a:spcPct val="104000"/>
              </a:lnSpc>
              <a:buNone/>
              <a:defRPr sz="1350">
                <a:solidFill>
                  <a:srgbClr val="5C6A70"/>
                </a:solidFill>
                <a:latin typeface="Arial"/>
                <a:ea typeface="Arial"/>
                <a:cs typeface="Arial"/>
              </a:defRPr>
            </a:pPr>
            <a:r>
              <a:rPr sz="1350" b="1">
                <a:solidFill>
                  <a:srgbClr val="5C6A70"/>
                </a:solidFill>
                <a:latin typeface="Arial"/>
                <a:ea typeface="Arial"/>
                <a:cs typeface="Arial"/>
              </a:rPr>
              <a:t>DHT</a:t>
            </a:r>
            <a:r>
              <a:rPr sz="1350">
                <a:solidFill>
                  <a:srgbClr val="5C6A70"/>
                </a:solidFill>
                <a:latin typeface="Arial"/>
                <a:ea typeface="Arial"/>
                <a:cs typeface="Arial"/>
              </a:rPr>
              <a:t>
simulated sensor</a:t>
            </a:r>
          </a:p>
        </p:txBody>
      </p:sp>
      <p:sp>
        <p:nvSpPr>
          <p:cNvPr id="8" name="cover-broker">
            <a:extLst>
              <a:ext uri="{FF2B5EF4-FFF2-40B4-BE49-F238E27FC236}">
                <a16:creationId xmlns:a16="http://schemas.microsoft.com/office/drawing/2014/main" id="{748674DA-5B20-4F97-B2C3-92E44DA25922}"/>
              </a:ext>
            </a:extLst>
          </p:cNvPr>
          <p:cNvSpPr>
            <a:spLocks noGrp="1"/>
          </p:cNvSpPr>
          <p:nvPr/>
        </p:nvSpPr>
        <p:spPr>
          <a:xfrm>
            <a:off x="9525000" y="2781300"/>
            <a:ext cx="1562100" cy="1028700"/>
          </a:xfrm>
          <a:prstGeom prst="roundRect">
            <a:avLst>
              <a:gd name="adj" fmla="val 16667"/>
            </a:avLst>
          </a:prstGeom>
          <a:solidFill>
            <a:srgbClr val="1FA9D2"/>
          </a:solidFill>
          <a:ln w="9525">
            <a:solidFill>
              <a:srgbClr val="1FA9D2"/>
            </a:solidFill>
            <a:prstDash val="solid"/>
          </a:ln>
        </p:spPr>
        <p:txBody>
          <a:bodyPr wrap="square" lIns="114300" tIns="114300" rIns="114300" bIns="114300" anchor="ctr">
            <a:normAutofit/>
          </a:bodyPr>
          <a:lstStyle/>
          <a:p>
            <a:pPr algn="ctr">
              <a:lnSpc>
                <a:spcPct val="104000"/>
              </a:lnSpc>
              <a:buNone/>
              <a:defRPr sz="1350">
                <a:solidFill>
                  <a:srgbClr val="FFFFFF"/>
                </a:solidFill>
                <a:latin typeface="Arial"/>
                <a:ea typeface="Arial"/>
                <a:cs typeface="Arial"/>
              </a:defRPr>
            </a:pPr>
            <a:r>
              <a:rPr sz="1350" b="1">
                <a:solidFill>
                  <a:srgbClr val="FFFFFF"/>
                </a:solidFill>
                <a:latin typeface="Arial"/>
                <a:ea typeface="Arial"/>
                <a:cs typeface="Arial"/>
              </a:rPr>
              <a:t>MQTT</a:t>
            </a:r>
            <a:r>
              <a:rPr sz="1350">
                <a:solidFill>
                  <a:srgbClr val="FFFFFF"/>
                </a:solidFill>
                <a:latin typeface="Arial"/>
                <a:ea typeface="Arial"/>
                <a:cs typeface="Arial"/>
              </a:rPr>
              <a:t>
message broker</a:t>
            </a:r>
          </a:p>
        </p:txBody>
      </p:sp>
      <p:sp>
        <p:nvSpPr>
          <p:cNvPr id="9" name="cover-gui">
            <a:extLst>
              <a:ext uri="{FF2B5EF4-FFF2-40B4-BE49-F238E27FC236}">
                <a16:creationId xmlns:a16="http://schemas.microsoft.com/office/drawing/2014/main" id="{465EAFC9-AF2F-4FE2-83A4-B3AB664A5FFB}"/>
              </a:ext>
            </a:extLst>
          </p:cNvPr>
          <p:cNvSpPr>
            <a:spLocks noGrp="1"/>
          </p:cNvSpPr>
          <p:nvPr/>
        </p:nvSpPr>
        <p:spPr>
          <a:xfrm>
            <a:off x="7677150" y="4038600"/>
            <a:ext cx="1562100" cy="1028700"/>
          </a:xfrm>
          <a:prstGeom prst="roundRect">
            <a:avLst>
              <a:gd name="adj" fmla="val 16667"/>
            </a:avLst>
          </a:prstGeom>
          <a:solidFill>
            <a:srgbClr val="FFFFFF"/>
          </a:solidFill>
          <a:ln w="9525">
            <a:solidFill>
              <a:srgbClr val="8CC9DB"/>
            </a:solidFill>
            <a:prstDash val="solid"/>
          </a:ln>
        </p:spPr>
        <p:txBody>
          <a:bodyPr wrap="square" lIns="114300" tIns="114300" rIns="114300" bIns="114300" anchor="ctr">
            <a:normAutofit/>
          </a:bodyPr>
          <a:lstStyle/>
          <a:p>
            <a:pPr algn="ctr">
              <a:lnSpc>
                <a:spcPct val="104000"/>
              </a:lnSpc>
              <a:buNone/>
              <a:defRPr sz="1350">
                <a:solidFill>
                  <a:srgbClr val="5C6A70"/>
                </a:solidFill>
                <a:latin typeface="Arial"/>
                <a:ea typeface="Arial"/>
                <a:cs typeface="Arial"/>
              </a:defRPr>
            </a:pPr>
            <a:r>
              <a:rPr sz="1350" b="1">
                <a:solidFill>
                  <a:srgbClr val="5C6A70"/>
                </a:solidFill>
                <a:latin typeface="Arial"/>
                <a:ea typeface="Arial"/>
                <a:cs typeface="Arial"/>
              </a:rPr>
              <a:t>GUI</a:t>
            </a:r>
            <a:r>
              <a:rPr sz="1350">
                <a:solidFill>
                  <a:srgbClr val="5C6A70"/>
                </a:solidFill>
                <a:latin typeface="Arial"/>
                <a:ea typeface="Arial"/>
                <a:cs typeface="Arial"/>
              </a:rPr>
              <a:t>
decision and status</a:t>
            </a:r>
          </a:p>
        </p:txBody>
      </p:sp>
      <p:sp>
        <p:nvSpPr>
          <p:cNvPr id="10" name="cover-relays">
            <a:extLst>
              <a:ext uri="{FF2B5EF4-FFF2-40B4-BE49-F238E27FC236}">
                <a16:creationId xmlns:a16="http://schemas.microsoft.com/office/drawing/2014/main" id="{64C2C74E-F94C-4C06-BE3C-5E1C14E49E32}"/>
              </a:ext>
            </a:extLst>
          </p:cNvPr>
          <p:cNvSpPr>
            <a:spLocks noGrp="1"/>
          </p:cNvSpPr>
          <p:nvPr/>
        </p:nvSpPr>
        <p:spPr>
          <a:xfrm>
            <a:off x="9525000" y="5238750"/>
            <a:ext cx="1562100" cy="876300"/>
          </a:xfrm>
          <a:prstGeom prst="roundRect">
            <a:avLst>
              <a:gd name="adj" fmla="val 19565"/>
            </a:avLst>
          </a:prstGeom>
          <a:solidFill>
            <a:srgbClr val="4FB49A"/>
          </a:solidFill>
          <a:ln w="9525">
            <a:solidFill>
              <a:srgbClr val="4FB49A"/>
            </a:solidFill>
            <a:prstDash val="solid"/>
          </a:ln>
        </p:spPr>
        <p:txBody>
          <a:bodyPr wrap="square" lIns="114300" tIns="114300" rIns="114300" bIns="114300" anchor="ctr">
            <a:normAutofit fontScale="97797"/>
          </a:bodyPr>
          <a:lstStyle/>
          <a:p>
            <a:pPr algn="ctr">
              <a:lnSpc>
                <a:spcPct val="104000"/>
              </a:lnSpc>
              <a:buNone/>
              <a:defRPr sz="1275">
                <a:solidFill>
                  <a:srgbClr val="FFFFFF"/>
                </a:solidFill>
                <a:latin typeface="Arial"/>
                <a:ea typeface="Arial"/>
                <a:cs typeface="Arial"/>
              </a:defRPr>
            </a:pPr>
            <a:r>
              <a:rPr sz="1275" b="1" dirty="0">
                <a:solidFill>
                  <a:srgbClr val="FFFFFF"/>
                </a:solidFill>
                <a:latin typeface="Arial"/>
                <a:ea typeface="Arial"/>
                <a:cs typeface="Arial"/>
              </a:rPr>
              <a:t>RELAYS</a:t>
            </a:r>
            <a:r>
              <a:rPr sz="1275" dirty="0">
                <a:solidFill>
                  <a:srgbClr val="FFFFFF"/>
                </a:solidFill>
                <a:latin typeface="Arial"/>
                <a:ea typeface="Arial"/>
                <a:cs typeface="Arial"/>
              </a:rPr>
              <a:t>
A/C, pump, alarm</a:t>
            </a:r>
          </a:p>
        </p:txBody>
      </p:sp>
      <p:cxnSp>
        <p:nvCxnSpPr>
          <p:cNvPr id="25" name="Straight Arrow Connector 24"/>
          <p:cNvCxnSpPr>
            <a:stCxn id="7" idx="3"/>
            <a:endCxn id="8" idx="0"/>
          </p:cNvCxnSpPr>
          <p:nvPr/>
        </p:nvCxnSpPr>
        <p:spPr>
          <a:xfrm>
            <a:off x="9239250" y="2095500"/>
            <a:ext cx="1066800" cy="685800"/>
          </a:xfrm>
          <a:prstGeom prst="straightConnector1">
            <a:avLst/>
          </a:prstGeom>
          <a:ln w="19050">
            <a:solidFill>
              <a:srgbClr val="8CC9DB"/>
            </a:solidFill>
            <a:prstDash val="solid"/>
            <a:tailEnd type="triangle" w="sm" len="sm"/>
          </a:ln>
        </p:spPr>
      </p:cxnSp>
      <p:cxnSp>
        <p:nvCxnSpPr>
          <p:cNvPr id="26" name="Straight Arrow Connector 25"/>
          <p:cNvCxnSpPr>
            <a:stCxn id="8" idx="2"/>
            <a:endCxn id="9" idx="3"/>
          </p:cNvCxnSpPr>
          <p:nvPr/>
        </p:nvCxnSpPr>
        <p:spPr>
          <a:xfrm flipH="1">
            <a:off x="9239250" y="3810000"/>
            <a:ext cx="1066800" cy="742950"/>
          </a:xfrm>
          <a:prstGeom prst="straightConnector1">
            <a:avLst/>
          </a:prstGeom>
          <a:ln w="19050">
            <a:solidFill>
              <a:srgbClr val="8CC9DB"/>
            </a:solidFill>
            <a:prstDash val="solid"/>
            <a:tailEnd type="triangle" w="sm" len="sm"/>
          </a:ln>
        </p:spPr>
      </p:cxnSp>
      <p:cxnSp>
        <p:nvCxnSpPr>
          <p:cNvPr id="27" name="Straight Arrow Connector 26"/>
          <p:cNvCxnSpPr>
            <a:stCxn id="9" idx="3"/>
            <a:endCxn id="10" idx="0"/>
          </p:cNvCxnSpPr>
          <p:nvPr/>
        </p:nvCxnSpPr>
        <p:spPr>
          <a:xfrm>
            <a:off x="9239250" y="4552950"/>
            <a:ext cx="1066800" cy="685800"/>
          </a:xfrm>
          <a:prstGeom prst="straightConnector1">
            <a:avLst/>
          </a:prstGeom>
          <a:ln w="19050">
            <a:solidFill>
              <a:srgbClr val="8CC9DB"/>
            </a:solidFill>
            <a:prstDash val="solid"/>
            <a:tailEnd type="triangle" w="sm" len="sm"/>
          </a:ln>
        </p:spPr>
      </p:cxnSp>
      <p:sp>
        <p:nvSpPr>
          <p:cNvPr id="14" name="cover-diagram-caption">
            <a:extLst>
              <a:ext uri="{FF2B5EF4-FFF2-40B4-BE49-F238E27FC236}">
                <a16:creationId xmlns:a16="http://schemas.microsoft.com/office/drawing/2014/main" id="{C4205C2B-E09C-4BAD-B814-ED20BA8E97A1}"/>
              </a:ext>
            </a:extLst>
          </p:cNvPr>
          <p:cNvSpPr>
            <a:spLocks noGrp="1"/>
          </p:cNvSpPr>
          <p:nvPr/>
        </p:nvSpPr>
        <p:spPr>
          <a:xfrm>
            <a:off x="7061534" y="933450"/>
            <a:ext cx="4025566" cy="533400"/>
          </a:xfrm>
          <a:prstGeom prst="rect">
            <a:avLst/>
          </a:prstGeom>
          <a:noFill/>
          <a:ln w="0">
            <a:noFill/>
            <a:prstDash val="solid"/>
          </a:ln>
        </p:spPr>
        <p:txBody>
          <a:bodyPr wrap="square" lIns="0" tIns="0" rIns="0" bIns="0" anchor="t">
            <a:normAutofit/>
          </a:bodyPr>
          <a:lstStyle/>
          <a:p>
            <a:pPr algn="ctr">
              <a:lnSpc>
                <a:spcPct val="105000"/>
              </a:lnSpc>
              <a:buNone/>
              <a:defRPr sz="1350" b="0" i="0">
                <a:solidFill>
                  <a:srgbClr val="FFFFFF"/>
                </a:solidFill>
                <a:latin typeface="Arial"/>
                <a:ea typeface="Arial"/>
                <a:cs typeface="Arial"/>
              </a:defRPr>
            </a:pPr>
            <a:r>
              <a:rPr sz="1400" b="0" i="0" dirty="0">
                <a:solidFill>
                  <a:srgbClr val="FFFFFF"/>
                </a:solidFill>
                <a:latin typeface="Arial"/>
                <a:ea typeface="Arial"/>
                <a:cs typeface="Arial"/>
              </a:rPr>
              <a:t>Sensor data becomes a visible action</a:t>
            </a:r>
          </a:p>
        </p:txBody>
      </p:sp>
      <p:sp>
        <p:nvSpPr>
          <p:cNvPr id="12" name="cover-kicker">
            <a:extLst>
              <a:ext uri="{FF2B5EF4-FFF2-40B4-BE49-F238E27FC236}">
                <a16:creationId xmlns:a16="http://schemas.microsoft.com/office/drawing/2014/main" id="{BD10938B-DAB6-D121-26A8-91709148BEC3}"/>
              </a:ext>
            </a:extLst>
          </p:cNvPr>
          <p:cNvSpPr>
            <a:spLocks noGrp="1"/>
          </p:cNvSpPr>
          <p:nvPr/>
        </p:nvSpPr>
        <p:spPr>
          <a:xfrm>
            <a:off x="907382" y="3788317"/>
            <a:ext cx="4476750" cy="832686"/>
          </a:xfrm>
          <a:prstGeom prst="rect">
            <a:avLst/>
          </a:prstGeom>
          <a:noFill/>
          <a:ln w="0">
            <a:noFill/>
            <a:prstDash val="solid"/>
          </a:ln>
        </p:spPr>
        <p:txBody>
          <a:bodyPr wrap="square" lIns="0" tIns="0" rIns="0" bIns="0" anchor="t">
            <a:normAutofit/>
          </a:bodyPr>
          <a:lstStyle/>
          <a:p>
            <a:pPr algn="l">
              <a:lnSpc>
                <a:spcPct val="105000"/>
              </a:lnSpc>
              <a:buNone/>
              <a:defRPr sz="1200" b="0" i="0">
                <a:solidFill>
                  <a:srgbClr val="8CC9DB"/>
                </a:solidFill>
                <a:latin typeface="Arial"/>
                <a:ea typeface="Arial"/>
                <a:cs typeface="Arial"/>
              </a:defRPr>
            </a:pPr>
            <a:r>
              <a:rPr lang="en-US" sz="1600" b="0" i="0" dirty="0">
                <a:solidFill>
                  <a:srgbClr val="8CC9DB"/>
                </a:solidFill>
                <a:latin typeface="Arial"/>
                <a:ea typeface="Arial"/>
                <a:cs typeface="Arial"/>
              </a:rPr>
              <a:t>Aharoni Cohen  206881047</a:t>
            </a:r>
            <a:br>
              <a:rPr lang="en-US" sz="1600" b="0" i="0" dirty="0">
                <a:solidFill>
                  <a:srgbClr val="8CC9DB"/>
                </a:solidFill>
                <a:latin typeface="Arial"/>
                <a:ea typeface="Arial"/>
                <a:cs typeface="Arial"/>
              </a:rPr>
            </a:br>
            <a:r>
              <a:rPr lang="en-US" sz="1600" b="0" i="0" dirty="0">
                <a:solidFill>
                  <a:srgbClr val="8CC9DB"/>
                </a:solidFill>
                <a:latin typeface="Arial"/>
                <a:ea typeface="Arial"/>
                <a:cs typeface="Arial"/>
              </a:rPr>
              <a:t>Ron Shitrit 207973264</a:t>
            </a:r>
            <a:endParaRPr sz="1600" b="0" i="0" dirty="0">
              <a:solidFill>
                <a:srgbClr val="8CC9DB"/>
              </a:solidFill>
              <a:latin typeface="Arial"/>
              <a:ea typeface="Arial"/>
              <a:cs typeface="Arial"/>
            </a:endParaRPr>
          </a:p>
        </p:txBody>
      </p:sp>
    </p:spTree>
    <p:extLst>
      <p:ext uri="{BB962C8B-B14F-4D97-AF65-F5344CB8AC3E}">
        <p14:creationId xmlns:p14="http://schemas.microsoft.com/office/powerpoint/2010/main" val="8022158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7"/>
        </a:solidFill>
        <a:effectLst/>
      </p:bgPr>
    </p:bg>
    <p:spTree>
      <p:nvGrpSpPr>
        <p:cNvPr id="1" name=""/>
        <p:cNvGrpSpPr/>
        <p:nvPr/>
      </p:nvGrpSpPr>
      <p:grpSpPr>
        <a:xfrm>
          <a:off x="0" y="0"/>
          <a:ext cx="0" cy="0"/>
          <a:chOff x="0" y="0"/>
          <a:chExt cx="0" cy="0"/>
        </a:xfrm>
      </p:grpSpPr>
      <p:sp>
        <p:nvSpPr>
          <p:cNvPr id="23" name="2-title-rule">
            <a:extLst>
              <a:ext uri="{FF2B5EF4-FFF2-40B4-BE49-F238E27FC236}">
                <a16:creationId xmlns:a16="http://schemas.microsoft.com/office/drawing/2014/main" id="{3A95F257-A11C-4C12-B222-B8D52C7258E2}"/>
              </a:ext>
            </a:extLst>
          </p:cNvPr>
          <p:cNvSpPr>
            <a:spLocks noGrp="1"/>
          </p:cNvSpPr>
          <p:nvPr/>
        </p:nvSpPr>
        <p:spPr>
          <a:xfrm>
            <a:off x="685800" y="552450"/>
            <a:ext cx="0" cy="400050"/>
          </a:xfrm>
          <a:prstGeom prst="line">
            <a:avLst/>
          </a:prstGeom>
          <a:noFill/>
          <a:ln w="19050">
            <a:solidFill>
              <a:srgbClr val="1FA9D2"/>
            </a:solidFill>
            <a:prstDash val="solid"/>
          </a:ln>
        </p:spPr>
        <p:txBody>
          <a:bodyPr/>
          <a:lstStyle/>
          <a:p>
            <a:endParaRPr lang="he-IL"/>
          </a:p>
        </p:txBody>
      </p:sp>
      <p:sp>
        <p:nvSpPr>
          <p:cNvPr id="2" name="2-title">
            <a:extLst>
              <a:ext uri="{FF2B5EF4-FFF2-40B4-BE49-F238E27FC236}">
                <a16:creationId xmlns:a16="http://schemas.microsoft.com/office/drawing/2014/main" id="{934302EB-746C-4AF3-B81F-EE50DDFFFE87}"/>
              </a:ext>
            </a:extLst>
          </p:cNvPr>
          <p:cNvSpPr>
            <a:spLocks noGrp="1"/>
          </p:cNvSpPr>
          <p:nvPr/>
        </p:nvSpPr>
        <p:spPr>
          <a:xfrm>
            <a:off x="914400" y="457200"/>
            <a:ext cx="9620250" cy="609600"/>
          </a:xfrm>
          <a:prstGeom prst="rect">
            <a:avLst/>
          </a:prstGeom>
          <a:noFill/>
          <a:ln w="0">
            <a:noFill/>
            <a:prstDash val="solid"/>
          </a:ln>
        </p:spPr>
        <p:txBody>
          <a:bodyPr wrap="square" lIns="0" tIns="0" rIns="0" bIns="0" anchor="t">
            <a:normAutofit/>
          </a:bodyPr>
          <a:lstStyle/>
          <a:p>
            <a:pPr algn="l">
              <a:lnSpc>
                <a:spcPct val="105000"/>
              </a:lnSpc>
              <a:buNone/>
              <a:defRPr sz="2925" b="0" i="0">
                <a:solidFill>
                  <a:srgbClr val="18252B"/>
                </a:solidFill>
                <a:latin typeface="Arial"/>
                <a:ea typeface="Arial"/>
                <a:cs typeface="Arial"/>
              </a:defRPr>
            </a:pPr>
            <a:r>
              <a:rPr sz="2925" b="0" i="0" dirty="0">
                <a:solidFill>
                  <a:srgbClr val="18252B"/>
                </a:solidFill>
                <a:latin typeface="Arial"/>
                <a:ea typeface="Arial"/>
                <a:cs typeface="Arial"/>
              </a:rPr>
              <a:t>Server rooms need continuous attention</a:t>
            </a:r>
          </a:p>
        </p:txBody>
      </p:sp>
      <p:sp>
        <p:nvSpPr>
          <p:cNvPr id="3" name="2-subtitle">
            <a:extLst>
              <a:ext uri="{FF2B5EF4-FFF2-40B4-BE49-F238E27FC236}">
                <a16:creationId xmlns:a16="http://schemas.microsoft.com/office/drawing/2014/main" id="{2638C535-B4C3-444E-B5D0-BACB572DD597}"/>
              </a:ext>
            </a:extLst>
          </p:cNvPr>
          <p:cNvSpPr>
            <a:spLocks noGrp="1"/>
          </p:cNvSpPr>
          <p:nvPr/>
        </p:nvSpPr>
        <p:spPr>
          <a:xfrm>
            <a:off x="933450" y="1066800"/>
            <a:ext cx="10001250" cy="342900"/>
          </a:xfrm>
          <a:prstGeom prst="rect">
            <a:avLst/>
          </a:prstGeom>
          <a:noFill/>
          <a:ln w="0">
            <a:noFill/>
            <a:prstDash val="solid"/>
          </a:ln>
        </p:spPr>
        <p:txBody>
          <a:bodyPr wrap="square" lIns="0" tIns="0" rIns="0" bIns="0" anchor="t">
            <a:normAutofit/>
          </a:bodyPr>
          <a:lstStyle/>
          <a:p>
            <a:pPr algn="l">
              <a:lnSpc>
                <a:spcPct val="105000"/>
              </a:lnSpc>
              <a:buNone/>
              <a:defRPr sz="1350" b="0" i="0">
                <a:solidFill>
                  <a:srgbClr val="5C6A70"/>
                </a:solidFill>
                <a:latin typeface="Arial"/>
                <a:ea typeface="Arial"/>
                <a:cs typeface="Arial"/>
              </a:defRPr>
            </a:pPr>
            <a:r>
              <a:rPr sz="1350" b="0" i="0" dirty="0">
                <a:solidFill>
                  <a:srgbClr val="5C6A70"/>
                </a:solidFill>
                <a:latin typeface="Arial"/>
                <a:ea typeface="Arial"/>
                <a:cs typeface="Arial"/>
              </a:rPr>
              <a:t>The application focuses on two environmental signals that can threaten</a:t>
            </a:r>
            <a:r>
              <a:rPr lang="he-IL" sz="1350" b="0" i="0" dirty="0">
                <a:solidFill>
                  <a:srgbClr val="5C6A70"/>
                </a:solidFill>
                <a:latin typeface="Arial"/>
                <a:ea typeface="Arial"/>
                <a:cs typeface="Arial"/>
              </a:rPr>
              <a:t> </a:t>
            </a:r>
            <a:r>
              <a:rPr lang="en-US" sz="1350" b="0" i="0" dirty="0">
                <a:solidFill>
                  <a:srgbClr val="5C6A70"/>
                </a:solidFill>
                <a:latin typeface="Arial"/>
                <a:ea typeface="Arial"/>
                <a:cs typeface="Arial"/>
              </a:rPr>
              <a:t>the </a:t>
            </a:r>
            <a:r>
              <a:rPr sz="1350" b="0" i="0" dirty="0">
                <a:solidFill>
                  <a:srgbClr val="5C6A70"/>
                </a:solidFill>
                <a:latin typeface="Arial"/>
                <a:ea typeface="Arial"/>
                <a:cs typeface="Arial"/>
              </a:rPr>
              <a:t>equipment</a:t>
            </a:r>
            <a:r>
              <a:rPr lang="en-US" sz="1350" dirty="0">
                <a:solidFill>
                  <a:srgbClr val="5C6A70"/>
                </a:solidFill>
                <a:latin typeface="Arial"/>
                <a:ea typeface="Arial"/>
                <a:cs typeface="Arial"/>
              </a:rPr>
              <a:t>.</a:t>
            </a:r>
            <a:r>
              <a:rPr sz="1350" b="0" i="0" dirty="0">
                <a:solidFill>
                  <a:srgbClr val="5C6A70"/>
                </a:solidFill>
                <a:latin typeface="Arial"/>
                <a:ea typeface="Arial"/>
                <a:cs typeface="Arial"/>
              </a:rPr>
              <a:t> </a:t>
            </a:r>
          </a:p>
        </p:txBody>
      </p:sp>
      <p:sp>
        <p:nvSpPr>
          <p:cNvPr id="4" name="2-folio">
            <a:extLst>
              <a:ext uri="{FF2B5EF4-FFF2-40B4-BE49-F238E27FC236}">
                <a16:creationId xmlns:a16="http://schemas.microsoft.com/office/drawing/2014/main" id="{458EB4D5-3745-4750-B110-C096F26F0206}"/>
              </a:ext>
            </a:extLst>
          </p:cNvPr>
          <p:cNvSpPr>
            <a:spLocks noGrp="1"/>
          </p:cNvSpPr>
          <p:nvPr/>
        </p:nvSpPr>
        <p:spPr>
          <a:xfrm>
            <a:off x="11239500" y="438150"/>
            <a:ext cx="419100" cy="228600"/>
          </a:xfrm>
          <a:prstGeom prst="rect">
            <a:avLst/>
          </a:prstGeom>
          <a:noFill/>
          <a:ln w="0">
            <a:noFill/>
            <a:prstDash val="solid"/>
          </a:ln>
        </p:spPr>
        <p:txBody>
          <a:bodyPr wrap="square" lIns="0" tIns="0" rIns="0" bIns="0" anchor="t">
            <a:normAutofit/>
          </a:bodyPr>
          <a:lstStyle/>
          <a:p>
            <a:pPr algn="r">
              <a:lnSpc>
                <a:spcPct val="105000"/>
              </a:lnSpc>
              <a:buNone/>
              <a:defRPr sz="1200" b="0" i="0">
                <a:solidFill>
                  <a:srgbClr val="5C6A70"/>
                </a:solidFill>
                <a:latin typeface="Arial"/>
                <a:ea typeface="Arial"/>
                <a:cs typeface="Arial"/>
              </a:defRPr>
            </a:pPr>
            <a:r>
              <a:rPr sz="1200" b="0" i="0">
                <a:solidFill>
                  <a:srgbClr val="5C6A70"/>
                </a:solidFill>
                <a:latin typeface="Arial"/>
                <a:ea typeface="Arial"/>
                <a:cs typeface="Arial"/>
              </a:rPr>
              <a:t>02</a:t>
            </a:r>
          </a:p>
        </p:txBody>
      </p:sp>
      <p:sp>
        <p:nvSpPr>
          <p:cNvPr id="5" name="challenge-lead">
            <a:extLst>
              <a:ext uri="{FF2B5EF4-FFF2-40B4-BE49-F238E27FC236}">
                <a16:creationId xmlns:a16="http://schemas.microsoft.com/office/drawing/2014/main" id="{ED4B7154-6F62-47D0-9180-841762CEA8FC}"/>
              </a:ext>
            </a:extLst>
          </p:cNvPr>
          <p:cNvSpPr>
            <a:spLocks noGrp="1"/>
          </p:cNvSpPr>
          <p:nvPr/>
        </p:nvSpPr>
        <p:spPr>
          <a:xfrm>
            <a:off x="933450" y="1676400"/>
            <a:ext cx="4953000" cy="1066800"/>
          </a:xfrm>
          <a:prstGeom prst="rect">
            <a:avLst/>
          </a:prstGeom>
          <a:noFill/>
          <a:ln w="0">
            <a:noFill/>
            <a:prstDash val="solid"/>
          </a:ln>
        </p:spPr>
        <p:txBody>
          <a:bodyPr wrap="square" lIns="0" tIns="0" rIns="0" bIns="0" anchor="t">
            <a:normAutofit fontScale="93371" lnSpcReduction="10000"/>
          </a:bodyPr>
          <a:lstStyle/>
          <a:p>
            <a:pPr algn="l">
              <a:lnSpc>
                <a:spcPct val="98000"/>
              </a:lnSpc>
              <a:buNone/>
              <a:defRPr sz="2550" b="1" i="0">
                <a:solidFill>
                  <a:srgbClr val="113C52"/>
                </a:solidFill>
                <a:latin typeface="Arial"/>
                <a:ea typeface="Arial"/>
                <a:cs typeface="Arial"/>
              </a:defRPr>
            </a:pPr>
            <a:r>
              <a:rPr sz="2550" b="1" i="0">
                <a:solidFill>
                  <a:srgbClr val="113C52"/>
                </a:solidFill>
                <a:latin typeface="Arial"/>
                <a:ea typeface="Arial"/>
                <a:cs typeface="Arial"/>
              </a:rPr>
              <a:t>A small change in the room can become a service interruption when nobody sees it in time.</a:t>
            </a:r>
          </a:p>
        </p:txBody>
      </p:sp>
      <p:sp>
        <p:nvSpPr>
          <p:cNvPr id="6" name="challenge-divider">
            <a:extLst>
              <a:ext uri="{FF2B5EF4-FFF2-40B4-BE49-F238E27FC236}">
                <a16:creationId xmlns:a16="http://schemas.microsoft.com/office/drawing/2014/main" id="{286ACBBB-C3CC-4BCF-B6B1-E6C6280D4844}"/>
              </a:ext>
            </a:extLst>
          </p:cNvPr>
          <p:cNvSpPr>
            <a:spLocks noGrp="1"/>
          </p:cNvSpPr>
          <p:nvPr/>
        </p:nvSpPr>
        <p:spPr>
          <a:xfrm>
            <a:off x="933450" y="3067050"/>
            <a:ext cx="4381500" cy="0"/>
          </a:xfrm>
          <a:prstGeom prst="line">
            <a:avLst/>
          </a:prstGeom>
          <a:noFill/>
          <a:ln w="19050">
            <a:solidFill>
              <a:srgbClr val="1FA9D2"/>
            </a:solidFill>
            <a:prstDash val="solid"/>
          </a:ln>
        </p:spPr>
        <p:txBody>
          <a:bodyPr/>
          <a:lstStyle/>
          <a:p>
            <a:endParaRPr lang="he-IL"/>
          </a:p>
        </p:txBody>
      </p:sp>
      <p:sp>
        <p:nvSpPr>
          <p:cNvPr id="7" name="challenge-question-label">
            <a:extLst>
              <a:ext uri="{FF2B5EF4-FFF2-40B4-BE49-F238E27FC236}">
                <a16:creationId xmlns:a16="http://schemas.microsoft.com/office/drawing/2014/main" id="{4AFBE722-2BC9-4C99-923E-63B478533B7F}"/>
              </a:ext>
            </a:extLst>
          </p:cNvPr>
          <p:cNvSpPr>
            <a:spLocks noGrp="1"/>
          </p:cNvSpPr>
          <p:nvPr/>
        </p:nvSpPr>
        <p:spPr>
          <a:xfrm>
            <a:off x="933450" y="3333750"/>
            <a:ext cx="2095500" cy="266700"/>
          </a:xfrm>
          <a:prstGeom prst="rect">
            <a:avLst/>
          </a:prstGeom>
          <a:noFill/>
          <a:ln w="0">
            <a:noFill/>
            <a:prstDash val="solid"/>
          </a:ln>
        </p:spPr>
        <p:txBody>
          <a:bodyPr wrap="square" lIns="0" tIns="0" rIns="0" bIns="0" anchor="t">
            <a:normAutofit/>
          </a:bodyPr>
          <a:lstStyle/>
          <a:p>
            <a:pPr algn="l">
              <a:lnSpc>
                <a:spcPct val="105000"/>
              </a:lnSpc>
              <a:buNone/>
              <a:defRPr sz="1275" b="1" i="0">
                <a:solidFill>
                  <a:srgbClr val="1FA9D2"/>
                </a:solidFill>
                <a:latin typeface="Arial"/>
                <a:ea typeface="Arial"/>
                <a:cs typeface="Arial"/>
              </a:defRPr>
            </a:pPr>
            <a:r>
              <a:rPr sz="1400" b="1" i="0" dirty="0">
                <a:solidFill>
                  <a:srgbClr val="1FA9D2"/>
                </a:solidFill>
                <a:latin typeface="Arial"/>
                <a:ea typeface="Arial"/>
                <a:cs typeface="Arial"/>
              </a:rPr>
              <a:t>The question</a:t>
            </a:r>
          </a:p>
        </p:txBody>
      </p:sp>
      <p:sp>
        <p:nvSpPr>
          <p:cNvPr id="8" name="challenge-question">
            <a:extLst>
              <a:ext uri="{FF2B5EF4-FFF2-40B4-BE49-F238E27FC236}">
                <a16:creationId xmlns:a16="http://schemas.microsoft.com/office/drawing/2014/main" id="{5E94D5C1-FA05-4FC8-BEDE-E0DA92014037}"/>
              </a:ext>
            </a:extLst>
          </p:cNvPr>
          <p:cNvSpPr>
            <a:spLocks noGrp="1"/>
          </p:cNvSpPr>
          <p:nvPr/>
        </p:nvSpPr>
        <p:spPr>
          <a:xfrm>
            <a:off x="933450" y="3676650"/>
            <a:ext cx="4476750" cy="914400"/>
          </a:xfrm>
          <a:prstGeom prst="rect">
            <a:avLst/>
          </a:prstGeom>
          <a:noFill/>
          <a:ln w="0">
            <a:noFill/>
            <a:prstDash val="solid"/>
          </a:ln>
        </p:spPr>
        <p:txBody>
          <a:bodyPr wrap="square" lIns="0" tIns="0" rIns="0" bIns="0" anchor="t">
            <a:noAutofit/>
          </a:bodyPr>
          <a:lstStyle/>
          <a:p>
            <a:pPr algn="l">
              <a:lnSpc>
                <a:spcPct val="105000"/>
              </a:lnSpc>
              <a:buNone/>
              <a:defRPr sz="1800" b="0" i="0">
                <a:solidFill>
                  <a:srgbClr val="18252B"/>
                </a:solidFill>
                <a:latin typeface="Arial"/>
                <a:ea typeface="Arial"/>
                <a:cs typeface="Arial"/>
              </a:defRPr>
            </a:pPr>
            <a:r>
              <a:rPr sz="2000" b="0" i="0" dirty="0">
                <a:solidFill>
                  <a:srgbClr val="18252B"/>
                </a:solidFill>
                <a:latin typeface="Arial"/>
                <a:ea typeface="Arial"/>
                <a:cs typeface="Arial"/>
              </a:rPr>
              <a:t>How can a low-cost IoT setup detect risk and trigger the first response automatically?</a:t>
            </a:r>
          </a:p>
        </p:txBody>
      </p:sp>
      <p:sp>
        <p:nvSpPr>
          <p:cNvPr id="9" name="risk-1-surface">
            <a:extLst>
              <a:ext uri="{FF2B5EF4-FFF2-40B4-BE49-F238E27FC236}">
                <a16:creationId xmlns:a16="http://schemas.microsoft.com/office/drawing/2014/main" id="{7A998D74-F52E-4210-B367-DA89D81EB4D6}"/>
              </a:ext>
            </a:extLst>
          </p:cNvPr>
          <p:cNvSpPr>
            <a:spLocks noGrp="1"/>
          </p:cNvSpPr>
          <p:nvPr/>
        </p:nvSpPr>
        <p:spPr>
          <a:xfrm>
            <a:off x="6476999" y="1695449"/>
            <a:ext cx="5506453" cy="1196139"/>
          </a:xfrm>
          <a:prstGeom prst="roundRect">
            <a:avLst>
              <a:gd name="adj" fmla="val 11765"/>
            </a:avLst>
          </a:prstGeom>
          <a:solidFill>
            <a:srgbClr val="FBE8E9"/>
          </a:solidFill>
          <a:ln w="0">
            <a:solidFill>
              <a:srgbClr val="FBE8E9"/>
            </a:solidFill>
            <a:prstDash val="solid"/>
          </a:ln>
        </p:spPr>
        <p:txBody>
          <a:bodyPr/>
          <a:lstStyle/>
          <a:p>
            <a:endParaRPr lang="he-IL"/>
          </a:p>
        </p:txBody>
      </p:sp>
      <p:sp>
        <p:nvSpPr>
          <p:cNvPr id="10" name="risk-1-number">
            <a:extLst>
              <a:ext uri="{FF2B5EF4-FFF2-40B4-BE49-F238E27FC236}">
                <a16:creationId xmlns:a16="http://schemas.microsoft.com/office/drawing/2014/main" id="{5F0102B1-0500-4DF3-86E7-4D97FFBD5352}"/>
              </a:ext>
            </a:extLst>
          </p:cNvPr>
          <p:cNvSpPr>
            <a:spLocks noGrp="1"/>
          </p:cNvSpPr>
          <p:nvPr/>
        </p:nvSpPr>
        <p:spPr>
          <a:xfrm>
            <a:off x="6705599" y="1924050"/>
            <a:ext cx="594697" cy="633250"/>
          </a:xfrm>
          <a:prstGeom prst="ellipse">
            <a:avLst/>
          </a:prstGeom>
          <a:solidFill>
            <a:srgbClr val="E25A60"/>
          </a:solidFill>
          <a:ln w="0">
            <a:noFill/>
            <a:prstDash val="solid"/>
          </a:ln>
        </p:spPr>
        <p:txBody>
          <a:bodyPr wrap="square" lIns="0" tIns="0" rIns="0" bIns="0" anchor="ctr">
            <a:normAutofit/>
          </a:bodyPr>
          <a:lstStyle/>
          <a:p>
            <a:pPr algn="ctr">
              <a:lnSpc>
                <a:spcPct val="102000"/>
              </a:lnSpc>
              <a:buNone/>
              <a:defRPr sz="1350" b="1">
                <a:solidFill>
                  <a:srgbClr val="FFFFFF"/>
                </a:solidFill>
                <a:latin typeface="Arial"/>
                <a:ea typeface="Arial"/>
                <a:cs typeface="Arial"/>
              </a:defRPr>
            </a:pPr>
            <a:r>
              <a:rPr sz="1350" b="1">
                <a:solidFill>
                  <a:srgbClr val="FFFFFF"/>
                </a:solidFill>
                <a:latin typeface="Arial"/>
                <a:ea typeface="Arial"/>
                <a:cs typeface="Arial"/>
              </a:rPr>
              <a:t>01</a:t>
            </a:r>
          </a:p>
        </p:txBody>
      </p:sp>
      <p:sp>
        <p:nvSpPr>
          <p:cNvPr id="11" name="risk-1-title">
            <a:extLst>
              <a:ext uri="{FF2B5EF4-FFF2-40B4-BE49-F238E27FC236}">
                <a16:creationId xmlns:a16="http://schemas.microsoft.com/office/drawing/2014/main" id="{CCAF7638-EC0D-40F5-813C-D58F613E8672}"/>
              </a:ext>
            </a:extLst>
          </p:cNvPr>
          <p:cNvSpPr>
            <a:spLocks noGrp="1"/>
          </p:cNvSpPr>
          <p:nvPr/>
        </p:nvSpPr>
        <p:spPr>
          <a:xfrm>
            <a:off x="7429499" y="1876425"/>
            <a:ext cx="3854517" cy="328352"/>
          </a:xfrm>
          <a:prstGeom prst="rect">
            <a:avLst/>
          </a:prstGeom>
          <a:noFill/>
          <a:ln w="0">
            <a:noFill/>
            <a:prstDash val="solid"/>
          </a:ln>
        </p:spPr>
        <p:txBody>
          <a:bodyPr wrap="square" lIns="0" tIns="0" rIns="0" bIns="0" anchor="t">
            <a:normAutofit/>
          </a:bodyPr>
          <a:lstStyle/>
          <a:p>
            <a:pPr algn="l">
              <a:lnSpc>
                <a:spcPct val="105000"/>
              </a:lnSpc>
              <a:buNone/>
              <a:defRPr sz="1650" b="1" i="0">
                <a:solidFill>
                  <a:srgbClr val="18252B"/>
                </a:solidFill>
                <a:latin typeface="Arial"/>
                <a:ea typeface="Arial"/>
                <a:cs typeface="Arial"/>
              </a:defRPr>
            </a:pPr>
            <a:r>
              <a:rPr sz="1700" b="1" i="0" dirty="0">
                <a:solidFill>
                  <a:srgbClr val="18252B"/>
                </a:solidFill>
                <a:latin typeface="Arial"/>
                <a:ea typeface="Arial"/>
                <a:cs typeface="Arial"/>
              </a:rPr>
              <a:t>High temperature</a:t>
            </a:r>
          </a:p>
        </p:txBody>
      </p:sp>
      <p:sp>
        <p:nvSpPr>
          <p:cNvPr id="12" name="risk-1-body">
            <a:extLst>
              <a:ext uri="{FF2B5EF4-FFF2-40B4-BE49-F238E27FC236}">
                <a16:creationId xmlns:a16="http://schemas.microsoft.com/office/drawing/2014/main" id="{94D47AFD-DFBE-4534-B323-826303C17115}"/>
              </a:ext>
            </a:extLst>
          </p:cNvPr>
          <p:cNvSpPr>
            <a:spLocks noGrp="1"/>
          </p:cNvSpPr>
          <p:nvPr/>
        </p:nvSpPr>
        <p:spPr>
          <a:xfrm>
            <a:off x="7429500" y="2181225"/>
            <a:ext cx="4229100" cy="469074"/>
          </a:xfrm>
          <a:prstGeom prst="rect">
            <a:avLst/>
          </a:prstGeom>
          <a:noFill/>
          <a:ln w="0">
            <a:noFill/>
            <a:prstDash val="solid"/>
          </a:ln>
        </p:spPr>
        <p:txBody>
          <a:bodyPr wrap="square" lIns="0" tIns="0" rIns="0" bIns="0" anchor="t">
            <a:normAutofit fontScale="99206"/>
          </a:bodyPr>
          <a:lstStyle/>
          <a:p>
            <a:pPr algn="l">
              <a:lnSpc>
                <a:spcPct val="105000"/>
              </a:lnSpc>
              <a:buNone/>
              <a:defRPr sz="1200" b="0" i="0">
                <a:solidFill>
                  <a:srgbClr val="5C6A70"/>
                </a:solidFill>
                <a:latin typeface="Arial"/>
                <a:ea typeface="Arial"/>
                <a:cs typeface="Arial"/>
              </a:defRPr>
            </a:pPr>
            <a:r>
              <a:rPr sz="1400" b="0" i="0" dirty="0">
                <a:solidFill>
                  <a:srgbClr val="5C6A70"/>
                </a:solidFill>
                <a:latin typeface="Arial"/>
                <a:ea typeface="Arial"/>
                <a:cs typeface="Arial"/>
              </a:rPr>
              <a:t>Heat can damage sensitive equipment and shorten its reliable operating window.</a:t>
            </a:r>
          </a:p>
        </p:txBody>
      </p:sp>
      <p:sp>
        <p:nvSpPr>
          <p:cNvPr id="13" name="risk-2-surface">
            <a:extLst>
              <a:ext uri="{FF2B5EF4-FFF2-40B4-BE49-F238E27FC236}">
                <a16:creationId xmlns:a16="http://schemas.microsoft.com/office/drawing/2014/main" id="{4D2B4A72-7C28-4C77-941D-525787A09984}"/>
              </a:ext>
            </a:extLst>
          </p:cNvPr>
          <p:cNvSpPr>
            <a:spLocks noGrp="1"/>
          </p:cNvSpPr>
          <p:nvPr/>
        </p:nvSpPr>
        <p:spPr>
          <a:xfrm>
            <a:off x="6476999" y="2952749"/>
            <a:ext cx="5506453" cy="1196139"/>
          </a:xfrm>
          <a:prstGeom prst="roundRect">
            <a:avLst>
              <a:gd name="adj" fmla="val 11765"/>
            </a:avLst>
          </a:prstGeom>
          <a:solidFill>
            <a:srgbClr val="E7F4F8"/>
          </a:solidFill>
          <a:ln w="0">
            <a:solidFill>
              <a:srgbClr val="E7F4F8"/>
            </a:solidFill>
            <a:prstDash val="solid"/>
          </a:ln>
        </p:spPr>
        <p:txBody>
          <a:bodyPr/>
          <a:lstStyle/>
          <a:p>
            <a:endParaRPr lang="he-IL"/>
          </a:p>
        </p:txBody>
      </p:sp>
      <p:sp>
        <p:nvSpPr>
          <p:cNvPr id="14" name="risk-2-number">
            <a:extLst>
              <a:ext uri="{FF2B5EF4-FFF2-40B4-BE49-F238E27FC236}">
                <a16:creationId xmlns:a16="http://schemas.microsoft.com/office/drawing/2014/main" id="{D92DA315-3B9F-4F46-926E-14AFE09D9403}"/>
              </a:ext>
            </a:extLst>
          </p:cNvPr>
          <p:cNvSpPr>
            <a:spLocks noGrp="1"/>
          </p:cNvSpPr>
          <p:nvPr/>
        </p:nvSpPr>
        <p:spPr>
          <a:xfrm>
            <a:off x="6705599" y="3181350"/>
            <a:ext cx="594697" cy="633250"/>
          </a:xfrm>
          <a:prstGeom prst="ellipse">
            <a:avLst/>
          </a:prstGeom>
          <a:solidFill>
            <a:srgbClr val="1FA9D2"/>
          </a:solidFill>
          <a:ln w="0">
            <a:noFill/>
            <a:prstDash val="solid"/>
          </a:ln>
        </p:spPr>
        <p:txBody>
          <a:bodyPr wrap="square" lIns="0" tIns="0" rIns="0" bIns="0" anchor="ctr">
            <a:normAutofit/>
          </a:bodyPr>
          <a:lstStyle/>
          <a:p>
            <a:pPr algn="ctr">
              <a:lnSpc>
                <a:spcPct val="102000"/>
              </a:lnSpc>
              <a:buNone/>
              <a:defRPr sz="1350" b="1">
                <a:solidFill>
                  <a:srgbClr val="FFFFFF"/>
                </a:solidFill>
                <a:latin typeface="Arial"/>
                <a:ea typeface="Arial"/>
                <a:cs typeface="Arial"/>
              </a:defRPr>
            </a:pPr>
            <a:r>
              <a:rPr sz="1350" b="1">
                <a:solidFill>
                  <a:srgbClr val="FFFFFF"/>
                </a:solidFill>
                <a:latin typeface="Arial"/>
                <a:ea typeface="Arial"/>
                <a:cs typeface="Arial"/>
              </a:rPr>
              <a:t>02</a:t>
            </a:r>
          </a:p>
        </p:txBody>
      </p:sp>
      <p:sp>
        <p:nvSpPr>
          <p:cNvPr id="15" name="risk-2-title">
            <a:extLst>
              <a:ext uri="{FF2B5EF4-FFF2-40B4-BE49-F238E27FC236}">
                <a16:creationId xmlns:a16="http://schemas.microsoft.com/office/drawing/2014/main" id="{5B4A2B53-2269-4534-8149-C7E35D3CD03C}"/>
              </a:ext>
            </a:extLst>
          </p:cNvPr>
          <p:cNvSpPr>
            <a:spLocks noGrp="1"/>
          </p:cNvSpPr>
          <p:nvPr/>
        </p:nvSpPr>
        <p:spPr>
          <a:xfrm>
            <a:off x="7429499" y="3133725"/>
            <a:ext cx="3854517" cy="328352"/>
          </a:xfrm>
          <a:prstGeom prst="rect">
            <a:avLst/>
          </a:prstGeom>
          <a:noFill/>
          <a:ln w="0">
            <a:noFill/>
            <a:prstDash val="solid"/>
          </a:ln>
        </p:spPr>
        <p:txBody>
          <a:bodyPr wrap="square" lIns="0" tIns="0" rIns="0" bIns="0" anchor="t">
            <a:normAutofit/>
          </a:bodyPr>
          <a:lstStyle/>
          <a:p>
            <a:pPr algn="l">
              <a:lnSpc>
                <a:spcPct val="105000"/>
              </a:lnSpc>
              <a:buNone/>
              <a:defRPr sz="1650" b="1" i="0">
                <a:solidFill>
                  <a:srgbClr val="18252B"/>
                </a:solidFill>
                <a:latin typeface="Arial"/>
                <a:ea typeface="Arial"/>
                <a:cs typeface="Arial"/>
              </a:defRPr>
            </a:pPr>
            <a:r>
              <a:rPr sz="1700" b="1" i="0" dirty="0">
                <a:solidFill>
                  <a:srgbClr val="18252B"/>
                </a:solidFill>
                <a:latin typeface="Arial"/>
                <a:ea typeface="Arial"/>
                <a:cs typeface="Arial"/>
              </a:rPr>
              <a:t>High humidity</a:t>
            </a:r>
            <a:r>
              <a:rPr lang="he-IL" sz="1700" b="1" i="0" dirty="0">
                <a:solidFill>
                  <a:srgbClr val="18252B"/>
                </a:solidFill>
                <a:latin typeface="Arial"/>
                <a:ea typeface="Arial"/>
                <a:cs typeface="Arial"/>
              </a:rPr>
              <a:t> </a:t>
            </a:r>
            <a:r>
              <a:rPr lang="en-US" sz="1700" b="1" i="0" dirty="0">
                <a:solidFill>
                  <a:srgbClr val="18252B"/>
                </a:solidFill>
                <a:latin typeface="Arial"/>
                <a:ea typeface="Arial"/>
                <a:cs typeface="Arial"/>
              </a:rPr>
              <a:t>and leaks</a:t>
            </a:r>
            <a:endParaRPr sz="1700" b="1" i="0" dirty="0">
              <a:solidFill>
                <a:srgbClr val="18252B"/>
              </a:solidFill>
              <a:latin typeface="Arial"/>
              <a:ea typeface="Arial"/>
              <a:cs typeface="Arial"/>
            </a:endParaRPr>
          </a:p>
        </p:txBody>
      </p:sp>
      <p:sp>
        <p:nvSpPr>
          <p:cNvPr id="16" name="risk-2-body">
            <a:extLst>
              <a:ext uri="{FF2B5EF4-FFF2-40B4-BE49-F238E27FC236}">
                <a16:creationId xmlns:a16="http://schemas.microsoft.com/office/drawing/2014/main" id="{E2D8AFDA-8E77-44BD-A038-5294892BE93D}"/>
              </a:ext>
            </a:extLst>
          </p:cNvPr>
          <p:cNvSpPr>
            <a:spLocks noGrp="1"/>
          </p:cNvSpPr>
          <p:nvPr/>
        </p:nvSpPr>
        <p:spPr>
          <a:xfrm>
            <a:off x="7429500" y="3438525"/>
            <a:ext cx="4229100" cy="469074"/>
          </a:xfrm>
          <a:prstGeom prst="rect">
            <a:avLst/>
          </a:prstGeom>
          <a:noFill/>
          <a:ln w="0">
            <a:noFill/>
            <a:prstDash val="solid"/>
          </a:ln>
        </p:spPr>
        <p:txBody>
          <a:bodyPr wrap="square" lIns="0" tIns="0" rIns="0" bIns="0" anchor="t">
            <a:normAutofit fontScale="99206"/>
          </a:bodyPr>
          <a:lstStyle/>
          <a:p>
            <a:pPr algn="l">
              <a:lnSpc>
                <a:spcPct val="105000"/>
              </a:lnSpc>
              <a:buNone/>
              <a:defRPr sz="1200" b="0" i="0">
                <a:solidFill>
                  <a:srgbClr val="5C6A70"/>
                </a:solidFill>
                <a:latin typeface="Arial"/>
                <a:ea typeface="Arial"/>
                <a:cs typeface="Arial"/>
              </a:defRPr>
            </a:pPr>
            <a:r>
              <a:rPr sz="1400" b="0" i="0" dirty="0">
                <a:solidFill>
                  <a:srgbClr val="5C6A70"/>
                </a:solidFill>
                <a:latin typeface="Arial"/>
                <a:ea typeface="Arial"/>
                <a:cs typeface="Arial"/>
              </a:rPr>
              <a:t>Moisture can interrupt operation and create costly maintenance work.</a:t>
            </a:r>
          </a:p>
        </p:txBody>
      </p:sp>
      <p:sp>
        <p:nvSpPr>
          <p:cNvPr id="17" name="risk-3-surface">
            <a:extLst>
              <a:ext uri="{FF2B5EF4-FFF2-40B4-BE49-F238E27FC236}">
                <a16:creationId xmlns:a16="http://schemas.microsoft.com/office/drawing/2014/main" id="{6D4CCB87-D5FB-40FC-BF36-ADA72C057790}"/>
              </a:ext>
            </a:extLst>
          </p:cNvPr>
          <p:cNvSpPr>
            <a:spLocks noGrp="1"/>
          </p:cNvSpPr>
          <p:nvPr/>
        </p:nvSpPr>
        <p:spPr>
          <a:xfrm>
            <a:off x="6476999" y="4210049"/>
            <a:ext cx="5506453" cy="1196139"/>
          </a:xfrm>
          <a:prstGeom prst="roundRect">
            <a:avLst>
              <a:gd name="adj" fmla="val 11765"/>
            </a:avLst>
          </a:prstGeom>
          <a:solidFill>
            <a:srgbClr val="FFF6D7"/>
          </a:solidFill>
          <a:ln w="0">
            <a:solidFill>
              <a:srgbClr val="FFF6D7"/>
            </a:solidFill>
            <a:prstDash val="solid"/>
          </a:ln>
        </p:spPr>
        <p:txBody>
          <a:bodyPr/>
          <a:lstStyle/>
          <a:p>
            <a:endParaRPr lang="he-IL"/>
          </a:p>
        </p:txBody>
      </p:sp>
      <p:sp>
        <p:nvSpPr>
          <p:cNvPr id="18" name="risk-3-number">
            <a:extLst>
              <a:ext uri="{FF2B5EF4-FFF2-40B4-BE49-F238E27FC236}">
                <a16:creationId xmlns:a16="http://schemas.microsoft.com/office/drawing/2014/main" id="{3FD6F2E6-5618-4D80-89B7-F12B648BC65C}"/>
              </a:ext>
            </a:extLst>
          </p:cNvPr>
          <p:cNvSpPr>
            <a:spLocks noGrp="1"/>
          </p:cNvSpPr>
          <p:nvPr/>
        </p:nvSpPr>
        <p:spPr>
          <a:xfrm>
            <a:off x="6705599" y="4438650"/>
            <a:ext cx="594697" cy="633250"/>
          </a:xfrm>
          <a:prstGeom prst="ellipse">
            <a:avLst/>
          </a:prstGeom>
          <a:solidFill>
            <a:srgbClr val="F2C94C"/>
          </a:solidFill>
          <a:ln w="0">
            <a:noFill/>
            <a:prstDash val="solid"/>
          </a:ln>
        </p:spPr>
        <p:txBody>
          <a:bodyPr wrap="square" lIns="0" tIns="0" rIns="0" bIns="0" anchor="ctr">
            <a:normAutofit/>
          </a:bodyPr>
          <a:lstStyle/>
          <a:p>
            <a:pPr algn="ctr">
              <a:lnSpc>
                <a:spcPct val="102000"/>
              </a:lnSpc>
              <a:buNone/>
              <a:defRPr sz="1350" b="1">
                <a:solidFill>
                  <a:srgbClr val="FFFFFF"/>
                </a:solidFill>
                <a:latin typeface="Arial"/>
                <a:ea typeface="Arial"/>
                <a:cs typeface="Arial"/>
              </a:defRPr>
            </a:pPr>
            <a:r>
              <a:rPr sz="1350" b="1">
                <a:solidFill>
                  <a:srgbClr val="FFFFFF"/>
                </a:solidFill>
                <a:latin typeface="Arial"/>
                <a:ea typeface="Arial"/>
                <a:cs typeface="Arial"/>
              </a:rPr>
              <a:t>03</a:t>
            </a:r>
          </a:p>
        </p:txBody>
      </p:sp>
      <p:sp>
        <p:nvSpPr>
          <p:cNvPr id="19" name="risk-3-title">
            <a:extLst>
              <a:ext uri="{FF2B5EF4-FFF2-40B4-BE49-F238E27FC236}">
                <a16:creationId xmlns:a16="http://schemas.microsoft.com/office/drawing/2014/main" id="{6B476C28-3DD0-4CDD-AF28-E941753D6332}"/>
              </a:ext>
            </a:extLst>
          </p:cNvPr>
          <p:cNvSpPr>
            <a:spLocks noGrp="1"/>
          </p:cNvSpPr>
          <p:nvPr/>
        </p:nvSpPr>
        <p:spPr>
          <a:xfrm>
            <a:off x="7429499" y="4358941"/>
            <a:ext cx="3854517" cy="328352"/>
          </a:xfrm>
          <a:prstGeom prst="rect">
            <a:avLst/>
          </a:prstGeom>
          <a:noFill/>
          <a:ln w="0">
            <a:noFill/>
            <a:prstDash val="solid"/>
          </a:ln>
        </p:spPr>
        <p:txBody>
          <a:bodyPr wrap="square" lIns="0" tIns="0" rIns="0" bIns="0" anchor="t">
            <a:normAutofit/>
          </a:bodyPr>
          <a:lstStyle/>
          <a:p>
            <a:pPr algn="l">
              <a:lnSpc>
                <a:spcPct val="105000"/>
              </a:lnSpc>
              <a:buNone/>
              <a:defRPr sz="1650" b="1" i="0">
                <a:solidFill>
                  <a:srgbClr val="18252B"/>
                </a:solidFill>
                <a:latin typeface="Arial"/>
                <a:ea typeface="Arial"/>
                <a:cs typeface="Arial"/>
              </a:defRPr>
            </a:pPr>
            <a:r>
              <a:rPr sz="1700" b="1" i="0" dirty="0">
                <a:solidFill>
                  <a:srgbClr val="18252B"/>
                </a:solidFill>
                <a:latin typeface="Arial"/>
                <a:ea typeface="Arial"/>
                <a:cs typeface="Arial"/>
              </a:rPr>
              <a:t>Delayed reaction</a:t>
            </a:r>
          </a:p>
        </p:txBody>
      </p:sp>
      <p:sp>
        <p:nvSpPr>
          <p:cNvPr id="20" name="risk-3-body">
            <a:extLst>
              <a:ext uri="{FF2B5EF4-FFF2-40B4-BE49-F238E27FC236}">
                <a16:creationId xmlns:a16="http://schemas.microsoft.com/office/drawing/2014/main" id="{923ECDD2-C6D6-49C8-8174-5513F8AC4898}"/>
              </a:ext>
            </a:extLst>
          </p:cNvPr>
          <p:cNvSpPr>
            <a:spLocks noGrp="1"/>
          </p:cNvSpPr>
          <p:nvPr/>
        </p:nvSpPr>
        <p:spPr>
          <a:xfrm>
            <a:off x="7429500" y="4647698"/>
            <a:ext cx="4229100" cy="629151"/>
          </a:xfrm>
          <a:prstGeom prst="rect">
            <a:avLst/>
          </a:prstGeom>
          <a:noFill/>
          <a:ln w="0">
            <a:noFill/>
            <a:prstDash val="solid"/>
          </a:ln>
        </p:spPr>
        <p:txBody>
          <a:bodyPr wrap="square" lIns="0" tIns="0" rIns="0" bIns="0" anchor="t">
            <a:noAutofit/>
          </a:bodyPr>
          <a:lstStyle/>
          <a:p>
            <a:pPr>
              <a:defRPr sz="1200" b="0" i="0">
                <a:solidFill>
                  <a:srgbClr val="5C6A70"/>
                </a:solidFill>
                <a:latin typeface="Arial"/>
                <a:ea typeface="Arial"/>
                <a:cs typeface="Arial"/>
              </a:defRPr>
            </a:pPr>
            <a:r>
              <a:rPr sz="1400" b="0" i="0" dirty="0">
                <a:solidFill>
                  <a:srgbClr val="5C6A70"/>
                </a:solidFill>
                <a:latin typeface="Arial"/>
                <a:ea typeface="Arial"/>
                <a:cs typeface="Arial"/>
              </a:rPr>
              <a:t>A manual response may arrive after the condition has already escalated</a:t>
            </a:r>
            <a:r>
              <a:rPr lang="he-IL" sz="1400" b="0" i="0" dirty="0">
                <a:solidFill>
                  <a:srgbClr val="5C6A70"/>
                </a:solidFill>
                <a:latin typeface="Arial"/>
                <a:ea typeface="Arial"/>
                <a:cs typeface="Arial"/>
              </a:rPr>
              <a:t> </a:t>
            </a:r>
            <a:r>
              <a:rPr lang="en-US" sz="1400" b="0" i="0" dirty="0">
                <a:solidFill>
                  <a:srgbClr val="5C6A70"/>
                </a:solidFill>
                <a:latin typeface="Arial"/>
                <a:ea typeface="Arial"/>
                <a:cs typeface="Arial"/>
              </a:rPr>
              <a:t>and </a:t>
            </a:r>
            <a:r>
              <a:rPr lang="he-IL" sz="1400" dirty="0">
                <a:solidFill>
                  <a:srgbClr val="5C6A70"/>
                </a:solidFill>
                <a:latin typeface="Arial"/>
              </a:rPr>
              <a:t>we may have already passed the point of no return.</a:t>
            </a:r>
            <a:endParaRPr sz="1400" b="0" i="0" dirty="0">
              <a:solidFill>
                <a:srgbClr val="5C6A70"/>
              </a:solidFill>
              <a:latin typeface="Arial"/>
              <a:ea typeface="Arial"/>
              <a:cs typeface="Arial"/>
            </a:endParaRPr>
          </a:p>
        </p:txBody>
      </p:sp>
      <p:sp>
        <p:nvSpPr>
          <p:cNvPr id="21" name="2-footer-left">
            <a:extLst>
              <a:ext uri="{FF2B5EF4-FFF2-40B4-BE49-F238E27FC236}">
                <a16:creationId xmlns:a16="http://schemas.microsoft.com/office/drawing/2014/main" id="{326019C0-87AA-44D0-8C26-474B93B49A5E}"/>
              </a:ext>
            </a:extLst>
          </p:cNvPr>
          <p:cNvSpPr>
            <a:spLocks noGrp="1"/>
          </p:cNvSpPr>
          <p:nvPr/>
        </p:nvSpPr>
        <p:spPr>
          <a:xfrm>
            <a:off x="685800" y="6534150"/>
            <a:ext cx="4762500" cy="190500"/>
          </a:xfrm>
          <a:prstGeom prst="rect">
            <a:avLst/>
          </a:prstGeom>
          <a:noFill/>
          <a:ln w="0">
            <a:noFill/>
            <a:prstDash val="solid"/>
          </a:ln>
        </p:spPr>
        <p:txBody>
          <a:bodyPr wrap="square" lIns="0" tIns="0" rIns="0" bIns="0" anchor="t">
            <a:normAutofit/>
          </a:bodyPr>
          <a:lstStyle/>
          <a:p>
            <a:pPr algn="l">
              <a:lnSpc>
                <a:spcPct val="105000"/>
              </a:lnSpc>
              <a:buNone/>
              <a:defRPr sz="900" b="0" i="0">
                <a:solidFill>
                  <a:srgbClr val="5C6A70"/>
                </a:solidFill>
                <a:latin typeface="Arial"/>
                <a:ea typeface="Arial"/>
                <a:cs typeface="Arial"/>
              </a:defRPr>
            </a:pPr>
            <a:r>
              <a:rPr sz="900" b="0" i="0" dirty="0">
                <a:solidFill>
                  <a:srgbClr val="5C6A70"/>
                </a:solidFill>
                <a:latin typeface="Arial"/>
                <a:ea typeface="Arial"/>
                <a:cs typeface="Arial"/>
              </a:rPr>
              <a:t>IOT SMART HOME / SERVER ROOM MONITOR</a:t>
            </a:r>
          </a:p>
        </p:txBody>
      </p:sp>
      <p:sp>
        <p:nvSpPr>
          <p:cNvPr id="22" name="2-footer-right">
            <a:extLst>
              <a:ext uri="{FF2B5EF4-FFF2-40B4-BE49-F238E27FC236}">
                <a16:creationId xmlns:a16="http://schemas.microsoft.com/office/drawing/2014/main" id="{57B4A156-40DC-4C8E-8D8B-A396AD48BE8A}"/>
              </a:ext>
            </a:extLst>
          </p:cNvPr>
          <p:cNvSpPr>
            <a:spLocks noGrp="1"/>
          </p:cNvSpPr>
          <p:nvPr/>
        </p:nvSpPr>
        <p:spPr>
          <a:xfrm>
            <a:off x="7239000" y="6534150"/>
            <a:ext cx="4267200" cy="190500"/>
          </a:xfrm>
          <a:prstGeom prst="rect">
            <a:avLst/>
          </a:prstGeom>
          <a:noFill/>
          <a:ln w="0">
            <a:noFill/>
            <a:prstDash val="solid"/>
          </a:ln>
        </p:spPr>
        <p:txBody>
          <a:bodyPr wrap="square" lIns="0" tIns="0" rIns="0" bIns="0" anchor="t">
            <a:normAutofit/>
          </a:bodyPr>
          <a:lstStyle/>
          <a:p>
            <a:pPr algn="r">
              <a:lnSpc>
                <a:spcPct val="105000"/>
              </a:lnSpc>
              <a:buNone/>
              <a:defRPr sz="900" b="0" i="0">
                <a:solidFill>
                  <a:srgbClr val="5C6A70"/>
                </a:solidFill>
                <a:latin typeface="Arial"/>
                <a:ea typeface="Arial"/>
                <a:cs typeface="Arial"/>
              </a:defRPr>
            </a:pPr>
            <a:r>
              <a:rPr sz="900" b="0" i="0">
                <a:solidFill>
                  <a:srgbClr val="5C6A70"/>
                </a:solidFill>
                <a:latin typeface="Arial"/>
                <a:ea typeface="Arial"/>
                <a:cs typeface="Arial"/>
              </a:rPr>
              <a:t>github.com/aharoni-cohen/iot-smart-home</a:t>
            </a:r>
          </a:p>
        </p:txBody>
      </p:sp>
    </p:spTree>
    <p:extLst>
      <p:ext uri="{BB962C8B-B14F-4D97-AF65-F5344CB8AC3E}">
        <p14:creationId xmlns:p14="http://schemas.microsoft.com/office/powerpoint/2010/main" val="308565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3-title-rule">
            <a:extLst>
              <a:ext uri="{FF2B5EF4-FFF2-40B4-BE49-F238E27FC236}">
                <a16:creationId xmlns:a16="http://schemas.microsoft.com/office/drawing/2014/main" id="{433E7515-9039-47D5-8381-63BA66E3DCF9}"/>
              </a:ext>
            </a:extLst>
          </p:cNvPr>
          <p:cNvSpPr>
            <a:spLocks noGrp="1"/>
          </p:cNvSpPr>
          <p:nvPr/>
        </p:nvSpPr>
        <p:spPr>
          <a:xfrm>
            <a:off x="685800" y="552450"/>
            <a:ext cx="0" cy="400050"/>
          </a:xfrm>
          <a:prstGeom prst="line">
            <a:avLst/>
          </a:prstGeom>
          <a:noFill/>
          <a:ln w="19050">
            <a:solidFill>
              <a:srgbClr val="1FA9D2"/>
            </a:solidFill>
            <a:prstDash val="solid"/>
          </a:ln>
        </p:spPr>
        <p:txBody>
          <a:bodyPr/>
          <a:lstStyle/>
          <a:p>
            <a:endParaRPr lang="he-IL"/>
          </a:p>
        </p:txBody>
      </p:sp>
      <p:sp>
        <p:nvSpPr>
          <p:cNvPr id="2" name="3-title">
            <a:extLst>
              <a:ext uri="{FF2B5EF4-FFF2-40B4-BE49-F238E27FC236}">
                <a16:creationId xmlns:a16="http://schemas.microsoft.com/office/drawing/2014/main" id="{EB05D998-9B12-4540-AC1C-07A99F7A7D0C}"/>
              </a:ext>
            </a:extLst>
          </p:cNvPr>
          <p:cNvSpPr>
            <a:spLocks noGrp="1"/>
          </p:cNvSpPr>
          <p:nvPr/>
        </p:nvSpPr>
        <p:spPr>
          <a:xfrm>
            <a:off x="914400" y="457200"/>
            <a:ext cx="9620250" cy="609600"/>
          </a:xfrm>
          <a:prstGeom prst="rect">
            <a:avLst/>
          </a:prstGeom>
          <a:noFill/>
          <a:ln w="0">
            <a:noFill/>
            <a:prstDash val="solid"/>
          </a:ln>
        </p:spPr>
        <p:txBody>
          <a:bodyPr wrap="square" lIns="0" tIns="0" rIns="0" bIns="0" anchor="t">
            <a:normAutofit/>
          </a:bodyPr>
          <a:lstStyle/>
          <a:p>
            <a:pPr algn="l">
              <a:lnSpc>
                <a:spcPct val="105000"/>
              </a:lnSpc>
              <a:buNone/>
              <a:defRPr sz="2925" b="0" i="0">
                <a:solidFill>
                  <a:srgbClr val="18252B"/>
                </a:solidFill>
                <a:latin typeface="Arial"/>
                <a:ea typeface="Arial"/>
                <a:cs typeface="Arial"/>
              </a:defRPr>
            </a:pPr>
            <a:r>
              <a:rPr sz="2925" b="0" i="0">
                <a:solidFill>
                  <a:srgbClr val="18252B"/>
                </a:solidFill>
                <a:latin typeface="Arial"/>
                <a:ea typeface="Arial"/>
                <a:cs typeface="Arial"/>
              </a:rPr>
              <a:t>Project overview</a:t>
            </a:r>
          </a:p>
        </p:txBody>
      </p:sp>
      <p:sp>
        <p:nvSpPr>
          <p:cNvPr id="3" name="3-subtitle">
            <a:extLst>
              <a:ext uri="{FF2B5EF4-FFF2-40B4-BE49-F238E27FC236}">
                <a16:creationId xmlns:a16="http://schemas.microsoft.com/office/drawing/2014/main" id="{9D850CE3-328A-43CF-960C-8AA494D21E1A}"/>
              </a:ext>
            </a:extLst>
          </p:cNvPr>
          <p:cNvSpPr>
            <a:spLocks noGrp="1"/>
          </p:cNvSpPr>
          <p:nvPr/>
        </p:nvSpPr>
        <p:spPr>
          <a:xfrm>
            <a:off x="933450" y="1066800"/>
            <a:ext cx="10001250" cy="342900"/>
          </a:xfrm>
          <a:prstGeom prst="rect">
            <a:avLst/>
          </a:prstGeom>
          <a:noFill/>
          <a:ln w="0">
            <a:noFill/>
            <a:prstDash val="solid"/>
          </a:ln>
        </p:spPr>
        <p:txBody>
          <a:bodyPr wrap="square" lIns="0" tIns="0" rIns="0" bIns="0" anchor="t">
            <a:normAutofit/>
          </a:bodyPr>
          <a:lstStyle/>
          <a:p>
            <a:pPr algn="l">
              <a:lnSpc>
                <a:spcPct val="105000"/>
              </a:lnSpc>
              <a:buNone/>
              <a:defRPr sz="1350" b="0" i="0">
                <a:solidFill>
                  <a:srgbClr val="5C6A70"/>
                </a:solidFill>
                <a:latin typeface="Arial"/>
                <a:ea typeface="Arial"/>
                <a:cs typeface="Arial"/>
              </a:defRPr>
            </a:pPr>
            <a:r>
              <a:rPr sz="1400" b="0" i="0" dirty="0">
                <a:solidFill>
                  <a:srgbClr val="5C6A70"/>
                </a:solidFill>
                <a:latin typeface="Arial"/>
                <a:ea typeface="Arial"/>
                <a:cs typeface="Arial"/>
              </a:rPr>
              <a:t>A compact control loop links sensing, messaging, decisions, and relay states</a:t>
            </a:r>
          </a:p>
        </p:txBody>
      </p:sp>
      <p:sp>
        <p:nvSpPr>
          <p:cNvPr id="4" name="3-folio">
            <a:extLst>
              <a:ext uri="{FF2B5EF4-FFF2-40B4-BE49-F238E27FC236}">
                <a16:creationId xmlns:a16="http://schemas.microsoft.com/office/drawing/2014/main" id="{ABC10BA0-5F8F-4888-80E8-65457DF62C73}"/>
              </a:ext>
            </a:extLst>
          </p:cNvPr>
          <p:cNvSpPr>
            <a:spLocks noGrp="1"/>
          </p:cNvSpPr>
          <p:nvPr/>
        </p:nvSpPr>
        <p:spPr>
          <a:xfrm>
            <a:off x="11239500" y="438150"/>
            <a:ext cx="419100" cy="228600"/>
          </a:xfrm>
          <a:prstGeom prst="rect">
            <a:avLst/>
          </a:prstGeom>
          <a:noFill/>
          <a:ln w="0">
            <a:noFill/>
            <a:prstDash val="solid"/>
          </a:ln>
        </p:spPr>
        <p:txBody>
          <a:bodyPr wrap="square" lIns="0" tIns="0" rIns="0" bIns="0" anchor="t">
            <a:normAutofit/>
          </a:bodyPr>
          <a:lstStyle/>
          <a:p>
            <a:pPr algn="r">
              <a:lnSpc>
                <a:spcPct val="105000"/>
              </a:lnSpc>
              <a:buNone/>
              <a:defRPr sz="1200" b="0" i="0">
                <a:solidFill>
                  <a:srgbClr val="5C6A70"/>
                </a:solidFill>
                <a:latin typeface="Arial"/>
                <a:ea typeface="Arial"/>
                <a:cs typeface="Arial"/>
              </a:defRPr>
            </a:pPr>
            <a:r>
              <a:rPr sz="1200" b="0" i="0">
                <a:solidFill>
                  <a:srgbClr val="5C6A70"/>
                </a:solidFill>
                <a:latin typeface="Arial"/>
                <a:ea typeface="Arial"/>
                <a:cs typeface="Arial"/>
              </a:rPr>
              <a:t>03</a:t>
            </a:r>
          </a:p>
        </p:txBody>
      </p:sp>
      <p:sp>
        <p:nvSpPr>
          <p:cNvPr id="5" name="overview-lead">
            <a:extLst>
              <a:ext uri="{FF2B5EF4-FFF2-40B4-BE49-F238E27FC236}">
                <a16:creationId xmlns:a16="http://schemas.microsoft.com/office/drawing/2014/main" id="{86909A9B-0FE9-4A0F-9712-9D943B8D294D}"/>
              </a:ext>
            </a:extLst>
          </p:cNvPr>
          <p:cNvSpPr>
            <a:spLocks noGrp="1"/>
          </p:cNvSpPr>
          <p:nvPr/>
        </p:nvSpPr>
        <p:spPr>
          <a:xfrm>
            <a:off x="933450" y="1676400"/>
            <a:ext cx="4191000" cy="495300"/>
          </a:xfrm>
          <a:prstGeom prst="rect">
            <a:avLst/>
          </a:prstGeom>
          <a:noFill/>
          <a:ln w="0">
            <a:noFill/>
            <a:prstDash val="solid"/>
          </a:ln>
        </p:spPr>
        <p:txBody>
          <a:bodyPr wrap="square" lIns="0" tIns="0" rIns="0" bIns="0" anchor="t">
            <a:normAutofit fontScale="77320" lnSpcReduction="20000"/>
          </a:bodyPr>
          <a:lstStyle/>
          <a:p>
            <a:pPr algn="l">
              <a:lnSpc>
                <a:spcPct val="105000"/>
              </a:lnSpc>
              <a:buNone/>
              <a:defRPr sz="2475" b="1" i="0">
                <a:solidFill>
                  <a:srgbClr val="113C52"/>
                </a:solidFill>
                <a:latin typeface="Arial"/>
                <a:ea typeface="Arial"/>
                <a:cs typeface="Arial"/>
              </a:defRPr>
            </a:pPr>
            <a:r>
              <a:rPr sz="2475" b="1" i="0" dirty="0">
                <a:solidFill>
                  <a:srgbClr val="113C52"/>
                </a:solidFill>
                <a:latin typeface="Arial"/>
                <a:ea typeface="Arial"/>
                <a:cs typeface="Arial"/>
              </a:rPr>
              <a:t>One dashboard for the full response</a:t>
            </a:r>
          </a:p>
        </p:txBody>
      </p:sp>
      <p:sp>
        <p:nvSpPr>
          <p:cNvPr id="6" name="overview-body">
            <a:extLst>
              <a:ext uri="{FF2B5EF4-FFF2-40B4-BE49-F238E27FC236}">
                <a16:creationId xmlns:a16="http://schemas.microsoft.com/office/drawing/2014/main" id="{19D1FEC7-8216-49B7-9FD2-F38776757304}"/>
              </a:ext>
            </a:extLst>
          </p:cNvPr>
          <p:cNvSpPr>
            <a:spLocks noGrp="1"/>
          </p:cNvSpPr>
          <p:nvPr/>
        </p:nvSpPr>
        <p:spPr>
          <a:xfrm>
            <a:off x="933450" y="2324100"/>
            <a:ext cx="4000500" cy="933450"/>
          </a:xfrm>
          <a:prstGeom prst="rect">
            <a:avLst/>
          </a:prstGeom>
          <a:noFill/>
          <a:ln w="0">
            <a:noFill/>
            <a:prstDash val="solid"/>
          </a:ln>
        </p:spPr>
        <p:txBody>
          <a:bodyPr wrap="square" lIns="0" tIns="0" rIns="0" bIns="0" anchor="t">
            <a:normAutofit fontScale="98793" lnSpcReduction="10000"/>
          </a:bodyPr>
          <a:lstStyle/>
          <a:p>
            <a:pPr algn="l">
              <a:lnSpc>
                <a:spcPct val="105000"/>
              </a:lnSpc>
              <a:buNone/>
              <a:defRPr sz="1650" b="0" i="0">
                <a:solidFill>
                  <a:srgbClr val="5C6A70"/>
                </a:solidFill>
                <a:latin typeface="Arial"/>
                <a:ea typeface="Arial"/>
                <a:cs typeface="Arial"/>
              </a:defRPr>
            </a:pPr>
            <a:r>
              <a:rPr sz="1650" b="0" i="0" dirty="0">
                <a:solidFill>
                  <a:srgbClr val="5C6A70"/>
                </a:solidFill>
                <a:latin typeface="Arial"/>
                <a:ea typeface="Arial"/>
                <a:cs typeface="Arial"/>
              </a:rPr>
              <a:t>The system keeps a live view of </a:t>
            </a:r>
            <a:r>
              <a:rPr lang="en-US" sz="1650" dirty="0">
                <a:solidFill>
                  <a:srgbClr val="5C6A70"/>
                </a:solidFill>
                <a:latin typeface="Arial"/>
                <a:ea typeface="Arial"/>
                <a:cs typeface="Arial"/>
              </a:rPr>
              <a:t>the server </a:t>
            </a:r>
            <a:r>
              <a:rPr sz="1650" b="0" i="0" dirty="0">
                <a:solidFill>
                  <a:srgbClr val="5C6A70"/>
                </a:solidFill>
                <a:latin typeface="Arial"/>
                <a:ea typeface="Arial"/>
                <a:cs typeface="Arial"/>
              </a:rPr>
              <a:t>room conditions and publishes a control message when an emergency threshold is reached.</a:t>
            </a:r>
          </a:p>
        </p:txBody>
      </p:sp>
      <p:sp>
        <p:nvSpPr>
          <p:cNvPr id="7" name="overview-tick-pill">
            <a:extLst>
              <a:ext uri="{FF2B5EF4-FFF2-40B4-BE49-F238E27FC236}">
                <a16:creationId xmlns:a16="http://schemas.microsoft.com/office/drawing/2014/main" id="{6152B8D8-A894-45D2-8038-D3ACB3177597}"/>
              </a:ext>
            </a:extLst>
          </p:cNvPr>
          <p:cNvSpPr>
            <a:spLocks noGrp="1"/>
          </p:cNvSpPr>
          <p:nvPr/>
        </p:nvSpPr>
        <p:spPr>
          <a:xfrm>
            <a:off x="933450" y="3581400"/>
            <a:ext cx="2465070" cy="381000"/>
          </a:xfrm>
          <a:prstGeom prst="roundRect">
            <a:avLst>
              <a:gd name="adj" fmla="val 50000"/>
            </a:avLst>
          </a:prstGeom>
          <a:solidFill>
            <a:srgbClr val="FFF6D7"/>
          </a:solidFill>
          <a:ln w="9525">
            <a:solidFill>
              <a:srgbClr val="F2C94C"/>
            </a:solidFill>
            <a:prstDash val="solid"/>
          </a:ln>
        </p:spPr>
        <p:txBody>
          <a:bodyPr wrap="square" lIns="76200" tIns="28575" rIns="76200" bIns="28575" anchor="ctr">
            <a:normAutofit fontScale="96280"/>
          </a:bodyPr>
          <a:lstStyle/>
          <a:p>
            <a:pPr algn="ctr">
              <a:lnSpc>
                <a:spcPct val="102000"/>
              </a:lnSpc>
              <a:buNone/>
              <a:defRPr sz="1050" b="1">
                <a:solidFill>
                  <a:srgbClr val="18252B"/>
                </a:solidFill>
                <a:latin typeface="Arial"/>
                <a:ea typeface="Arial"/>
                <a:cs typeface="Arial"/>
              </a:defRPr>
            </a:pPr>
            <a:r>
              <a:rPr sz="1200" b="1" dirty="0">
                <a:solidFill>
                  <a:srgbClr val="18252B"/>
                </a:solidFill>
                <a:latin typeface="Arial"/>
                <a:ea typeface="Arial"/>
                <a:cs typeface="Arial"/>
              </a:rPr>
              <a:t>9 SECOND SIMULATION TICK</a:t>
            </a:r>
          </a:p>
        </p:txBody>
      </p:sp>
      <p:sp>
        <p:nvSpPr>
          <p:cNvPr id="8" name="overview-tick-caption">
            <a:extLst>
              <a:ext uri="{FF2B5EF4-FFF2-40B4-BE49-F238E27FC236}">
                <a16:creationId xmlns:a16="http://schemas.microsoft.com/office/drawing/2014/main" id="{EF11CB67-024A-4DD6-A725-893A49D59645}"/>
              </a:ext>
            </a:extLst>
          </p:cNvPr>
          <p:cNvSpPr>
            <a:spLocks noGrp="1"/>
          </p:cNvSpPr>
          <p:nvPr/>
        </p:nvSpPr>
        <p:spPr>
          <a:xfrm>
            <a:off x="933450" y="4095750"/>
            <a:ext cx="4191000" cy="590550"/>
          </a:xfrm>
          <a:prstGeom prst="rect">
            <a:avLst/>
          </a:prstGeom>
          <a:noFill/>
          <a:ln w="0">
            <a:noFill/>
            <a:prstDash val="solid"/>
          </a:ln>
        </p:spPr>
        <p:txBody>
          <a:bodyPr wrap="square" lIns="0" tIns="0" rIns="0" bIns="0" anchor="t">
            <a:normAutofit/>
          </a:bodyPr>
          <a:lstStyle/>
          <a:p>
            <a:pPr algn="l">
              <a:lnSpc>
                <a:spcPct val="105000"/>
              </a:lnSpc>
              <a:buNone/>
              <a:defRPr sz="1350" b="0" i="0">
                <a:solidFill>
                  <a:srgbClr val="18252B"/>
                </a:solidFill>
                <a:latin typeface="Arial"/>
                <a:ea typeface="Arial"/>
                <a:cs typeface="Arial"/>
              </a:defRPr>
            </a:pPr>
            <a:r>
              <a:rPr sz="1350" b="0" i="0" dirty="0">
                <a:solidFill>
                  <a:srgbClr val="18252B"/>
                </a:solidFill>
                <a:latin typeface="Arial"/>
                <a:ea typeface="Arial"/>
                <a:cs typeface="Arial"/>
              </a:rPr>
              <a:t>dashboard starts a </a:t>
            </a:r>
            <a:r>
              <a:rPr lang="en-US" sz="1350" b="0" i="0" dirty="0">
                <a:solidFill>
                  <a:srgbClr val="18252B"/>
                </a:solidFill>
                <a:latin typeface="Arial"/>
                <a:ea typeface="Arial"/>
                <a:cs typeface="Arial"/>
              </a:rPr>
              <a:t>t</a:t>
            </a:r>
            <a:r>
              <a:rPr sz="1350" b="0" i="0" dirty="0">
                <a:solidFill>
                  <a:srgbClr val="18252B"/>
                </a:solidFill>
                <a:latin typeface="Arial"/>
                <a:ea typeface="Arial"/>
                <a:cs typeface="Arial"/>
              </a:rPr>
              <a:t>imer that publishes simulated DHT readings every </a:t>
            </a:r>
            <a:r>
              <a:rPr lang="he-IL" sz="1350" b="0" i="0" dirty="0">
                <a:solidFill>
                  <a:srgbClr val="18252B"/>
                </a:solidFill>
                <a:latin typeface="Arial"/>
                <a:ea typeface="Arial"/>
                <a:cs typeface="Arial"/>
              </a:rPr>
              <a:t>9</a:t>
            </a:r>
            <a:r>
              <a:rPr sz="1350" b="0" i="0" dirty="0">
                <a:solidFill>
                  <a:srgbClr val="18252B"/>
                </a:solidFill>
                <a:latin typeface="Arial"/>
                <a:ea typeface="Arial"/>
                <a:cs typeface="Arial"/>
              </a:rPr>
              <a:t> </a:t>
            </a:r>
            <a:r>
              <a:rPr lang="en-US" sz="1350" dirty="0">
                <a:solidFill>
                  <a:srgbClr val="18252B"/>
                </a:solidFill>
                <a:latin typeface="Arial"/>
                <a:ea typeface="Arial"/>
                <a:cs typeface="Arial"/>
              </a:rPr>
              <a:t>seconds</a:t>
            </a:r>
            <a:r>
              <a:rPr sz="1350" b="0" i="0" dirty="0">
                <a:solidFill>
                  <a:srgbClr val="18252B"/>
                </a:solidFill>
                <a:latin typeface="Arial"/>
                <a:ea typeface="Arial"/>
                <a:cs typeface="Arial"/>
              </a:rPr>
              <a:t>.</a:t>
            </a:r>
          </a:p>
        </p:txBody>
      </p:sp>
      <p:sp>
        <p:nvSpPr>
          <p:cNvPr id="9" name="overview-dht">
            <a:extLst>
              <a:ext uri="{FF2B5EF4-FFF2-40B4-BE49-F238E27FC236}">
                <a16:creationId xmlns:a16="http://schemas.microsoft.com/office/drawing/2014/main" id="{09A3D68D-3192-46D6-96F0-E2499C72EAE8}"/>
              </a:ext>
            </a:extLst>
          </p:cNvPr>
          <p:cNvSpPr>
            <a:spLocks noGrp="1"/>
          </p:cNvSpPr>
          <p:nvPr/>
        </p:nvSpPr>
        <p:spPr>
          <a:xfrm>
            <a:off x="6096000" y="1866900"/>
            <a:ext cx="1714500" cy="1219200"/>
          </a:xfrm>
          <a:prstGeom prst="roundRect">
            <a:avLst>
              <a:gd name="adj" fmla="val 14063"/>
            </a:avLst>
          </a:prstGeom>
          <a:solidFill>
            <a:srgbClr val="E7F4F8"/>
          </a:solidFill>
          <a:ln w="9525">
            <a:solidFill>
              <a:srgbClr val="8CC9DB"/>
            </a:solidFill>
            <a:prstDash val="solid"/>
          </a:ln>
        </p:spPr>
        <p:txBody>
          <a:bodyPr wrap="square" lIns="114300" tIns="114300" rIns="114300" bIns="114300" anchor="ctr">
            <a:normAutofit/>
          </a:bodyPr>
          <a:lstStyle/>
          <a:p>
            <a:pPr algn="ctr">
              <a:lnSpc>
                <a:spcPct val="104000"/>
              </a:lnSpc>
              <a:buNone/>
              <a:defRPr sz="1350">
                <a:solidFill>
                  <a:srgbClr val="18252B"/>
                </a:solidFill>
                <a:latin typeface="Arial"/>
                <a:ea typeface="Arial"/>
                <a:cs typeface="Arial"/>
              </a:defRPr>
            </a:pPr>
            <a:r>
              <a:rPr sz="1350" b="1">
                <a:solidFill>
                  <a:srgbClr val="18252B"/>
                </a:solidFill>
                <a:latin typeface="Arial"/>
                <a:ea typeface="Arial"/>
                <a:cs typeface="Arial"/>
              </a:rPr>
              <a:t>DHT feed</a:t>
            </a:r>
            <a:r>
              <a:rPr sz="1350">
                <a:solidFill>
                  <a:srgbClr val="18252B"/>
                </a:solidFill>
                <a:latin typeface="Arial"/>
                <a:ea typeface="Arial"/>
                <a:cs typeface="Arial"/>
              </a:rPr>
              <a:t>
Temperature + humidity</a:t>
            </a:r>
          </a:p>
        </p:txBody>
      </p:sp>
      <p:sp>
        <p:nvSpPr>
          <p:cNvPr id="10" name="overview-mqtt">
            <a:extLst>
              <a:ext uri="{FF2B5EF4-FFF2-40B4-BE49-F238E27FC236}">
                <a16:creationId xmlns:a16="http://schemas.microsoft.com/office/drawing/2014/main" id="{BB9DE675-BDBE-46AF-BF84-131686387002}"/>
              </a:ext>
            </a:extLst>
          </p:cNvPr>
          <p:cNvSpPr>
            <a:spLocks noGrp="1"/>
          </p:cNvSpPr>
          <p:nvPr/>
        </p:nvSpPr>
        <p:spPr>
          <a:xfrm>
            <a:off x="8305800" y="1866900"/>
            <a:ext cx="1714500" cy="1219200"/>
          </a:xfrm>
          <a:prstGeom prst="roundRect">
            <a:avLst>
              <a:gd name="adj" fmla="val 14063"/>
            </a:avLst>
          </a:prstGeom>
          <a:solidFill>
            <a:srgbClr val="1FA9D2"/>
          </a:solidFill>
          <a:ln w="9525">
            <a:solidFill>
              <a:srgbClr val="1FA9D2"/>
            </a:solidFill>
            <a:prstDash val="solid"/>
          </a:ln>
        </p:spPr>
        <p:txBody>
          <a:bodyPr wrap="square" lIns="114300" tIns="114300" rIns="114300" bIns="114300" anchor="ctr">
            <a:normAutofit/>
          </a:bodyPr>
          <a:lstStyle/>
          <a:p>
            <a:pPr algn="ctr">
              <a:lnSpc>
                <a:spcPct val="104000"/>
              </a:lnSpc>
              <a:buNone/>
              <a:defRPr sz="1350">
                <a:solidFill>
                  <a:srgbClr val="FFFFFF"/>
                </a:solidFill>
                <a:latin typeface="Arial"/>
                <a:ea typeface="Arial"/>
                <a:cs typeface="Arial"/>
              </a:defRPr>
            </a:pPr>
            <a:r>
              <a:rPr sz="1350" b="1">
                <a:solidFill>
                  <a:srgbClr val="FFFFFF"/>
                </a:solidFill>
                <a:latin typeface="Arial"/>
                <a:ea typeface="Arial"/>
                <a:cs typeface="Arial"/>
              </a:rPr>
              <a:t>MQTT</a:t>
            </a:r>
            <a:r>
              <a:rPr sz="1350">
                <a:solidFill>
                  <a:srgbClr val="FFFFFF"/>
                </a:solidFill>
                <a:latin typeface="Arial"/>
                <a:ea typeface="Arial"/>
                <a:cs typeface="Arial"/>
              </a:rPr>
              <a:t>
Topic-based transport</a:t>
            </a:r>
          </a:p>
        </p:txBody>
      </p:sp>
      <p:sp>
        <p:nvSpPr>
          <p:cNvPr id="11" name="overview-dashboard">
            <a:extLst>
              <a:ext uri="{FF2B5EF4-FFF2-40B4-BE49-F238E27FC236}">
                <a16:creationId xmlns:a16="http://schemas.microsoft.com/office/drawing/2014/main" id="{6F0C8DB4-1C17-4B4C-8A3F-1FCE018610B2}"/>
              </a:ext>
            </a:extLst>
          </p:cNvPr>
          <p:cNvSpPr>
            <a:spLocks noGrp="1"/>
          </p:cNvSpPr>
          <p:nvPr/>
        </p:nvSpPr>
        <p:spPr>
          <a:xfrm>
            <a:off x="7200900" y="3771900"/>
            <a:ext cx="1714500" cy="1219200"/>
          </a:xfrm>
          <a:prstGeom prst="roundRect">
            <a:avLst>
              <a:gd name="adj" fmla="val 14063"/>
            </a:avLst>
          </a:prstGeom>
          <a:solidFill>
            <a:srgbClr val="FFFFFF"/>
          </a:solidFill>
          <a:ln w="9525">
            <a:solidFill>
              <a:srgbClr val="8CC9DB"/>
            </a:solidFill>
            <a:prstDash val="solid"/>
          </a:ln>
        </p:spPr>
        <p:txBody>
          <a:bodyPr wrap="square" lIns="114300" tIns="114300" rIns="114300" bIns="114300" anchor="ctr">
            <a:normAutofit/>
          </a:bodyPr>
          <a:lstStyle/>
          <a:p>
            <a:pPr algn="ctr">
              <a:lnSpc>
                <a:spcPct val="104000"/>
              </a:lnSpc>
              <a:buNone/>
              <a:defRPr sz="1350">
                <a:solidFill>
                  <a:srgbClr val="18252B"/>
                </a:solidFill>
                <a:latin typeface="Arial"/>
                <a:ea typeface="Arial"/>
                <a:cs typeface="Arial"/>
              </a:defRPr>
            </a:pPr>
            <a:r>
              <a:rPr sz="1350" b="1" dirty="0">
                <a:solidFill>
                  <a:srgbClr val="18252B"/>
                </a:solidFill>
                <a:latin typeface="Arial"/>
                <a:ea typeface="Arial"/>
                <a:cs typeface="Arial"/>
              </a:rPr>
              <a:t>Dashboard</a:t>
            </a:r>
            <a:r>
              <a:rPr sz="1350" dirty="0">
                <a:solidFill>
                  <a:srgbClr val="18252B"/>
                </a:solidFill>
                <a:latin typeface="Arial"/>
                <a:ea typeface="Arial"/>
                <a:cs typeface="Arial"/>
              </a:rPr>
              <a:t>
Parse + evaluate</a:t>
            </a:r>
          </a:p>
        </p:txBody>
      </p:sp>
      <p:sp>
        <p:nvSpPr>
          <p:cNvPr id="12" name="overview-actions">
            <a:extLst>
              <a:ext uri="{FF2B5EF4-FFF2-40B4-BE49-F238E27FC236}">
                <a16:creationId xmlns:a16="http://schemas.microsoft.com/office/drawing/2014/main" id="{7257D403-C8C0-4ADA-858D-9B7665D1C026}"/>
              </a:ext>
            </a:extLst>
          </p:cNvPr>
          <p:cNvSpPr>
            <a:spLocks noGrp="1"/>
          </p:cNvSpPr>
          <p:nvPr/>
        </p:nvSpPr>
        <p:spPr>
          <a:xfrm>
            <a:off x="9410700" y="3771900"/>
            <a:ext cx="1714500" cy="1219200"/>
          </a:xfrm>
          <a:prstGeom prst="roundRect">
            <a:avLst>
              <a:gd name="adj" fmla="val 14063"/>
            </a:avLst>
          </a:prstGeom>
          <a:solidFill>
            <a:srgbClr val="4FB49A"/>
          </a:solidFill>
          <a:ln w="9525">
            <a:solidFill>
              <a:srgbClr val="4FB49A"/>
            </a:solidFill>
            <a:prstDash val="solid"/>
          </a:ln>
        </p:spPr>
        <p:txBody>
          <a:bodyPr wrap="square" lIns="114300" tIns="114300" rIns="114300" bIns="114300" anchor="ctr">
            <a:normAutofit/>
          </a:bodyPr>
          <a:lstStyle/>
          <a:p>
            <a:pPr algn="ctr">
              <a:lnSpc>
                <a:spcPct val="104000"/>
              </a:lnSpc>
              <a:buNone/>
              <a:defRPr sz="1350">
                <a:solidFill>
                  <a:srgbClr val="FFFFFF"/>
                </a:solidFill>
                <a:latin typeface="Arial"/>
                <a:ea typeface="Arial"/>
                <a:cs typeface="Arial"/>
              </a:defRPr>
            </a:pPr>
            <a:r>
              <a:rPr sz="1350" b="1">
                <a:solidFill>
                  <a:srgbClr val="FFFFFF"/>
                </a:solidFill>
                <a:latin typeface="Arial"/>
                <a:ea typeface="Arial"/>
                <a:cs typeface="Arial"/>
              </a:rPr>
              <a:t>Relay actions</a:t>
            </a:r>
            <a:r>
              <a:rPr sz="1350">
                <a:solidFill>
                  <a:srgbClr val="FFFFFF"/>
                </a:solidFill>
                <a:latin typeface="Arial"/>
                <a:ea typeface="Arial"/>
                <a:cs typeface="Arial"/>
              </a:rPr>
              <a:t>
A/C, pump, alarm</a:t>
            </a:r>
          </a:p>
        </p:txBody>
      </p:sp>
      <p:cxnSp>
        <p:nvCxnSpPr>
          <p:cNvPr id="31" name="Straight Arrow Connector 30"/>
          <p:cNvCxnSpPr>
            <a:stCxn id="9" idx="3"/>
            <a:endCxn id="10" idx="1"/>
          </p:cNvCxnSpPr>
          <p:nvPr/>
        </p:nvCxnSpPr>
        <p:spPr>
          <a:xfrm>
            <a:off x="7810500" y="2476500"/>
            <a:ext cx="495300" cy="0"/>
          </a:xfrm>
          <a:prstGeom prst="straightConnector1">
            <a:avLst/>
          </a:prstGeom>
          <a:ln w="19050">
            <a:solidFill>
              <a:srgbClr val="8CC9DB"/>
            </a:solidFill>
            <a:prstDash val="solid"/>
            <a:tailEnd type="triangle" w="sm" len="sm"/>
          </a:ln>
        </p:spPr>
      </p:cxnSp>
      <p:cxnSp>
        <p:nvCxnSpPr>
          <p:cNvPr id="32" name="Straight Arrow Connector 31"/>
          <p:cNvCxnSpPr>
            <a:stCxn id="10" idx="2"/>
            <a:endCxn id="11" idx="0"/>
          </p:cNvCxnSpPr>
          <p:nvPr/>
        </p:nvCxnSpPr>
        <p:spPr>
          <a:xfrm flipH="1">
            <a:off x="8058150" y="3086100"/>
            <a:ext cx="1104900" cy="685800"/>
          </a:xfrm>
          <a:prstGeom prst="straightConnector1">
            <a:avLst/>
          </a:prstGeom>
          <a:ln w="19050">
            <a:solidFill>
              <a:srgbClr val="8CC9DB"/>
            </a:solidFill>
            <a:prstDash val="solid"/>
            <a:tailEnd type="triangle" w="sm" len="sm"/>
          </a:ln>
        </p:spPr>
      </p:cxnSp>
      <p:cxnSp>
        <p:nvCxnSpPr>
          <p:cNvPr id="33" name="Straight Arrow Connector 32"/>
          <p:cNvCxnSpPr>
            <a:stCxn id="11" idx="3"/>
            <a:endCxn id="12" idx="1"/>
          </p:cNvCxnSpPr>
          <p:nvPr/>
        </p:nvCxnSpPr>
        <p:spPr>
          <a:xfrm>
            <a:off x="8915400" y="4381500"/>
            <a:ext cx="495300" cy="0"/>
          </a:xfrm>
          <a:prstGeom prst="straightConnector1">
            <a:avLst/>
          </a:prstGeom>
          <a:ln w="19050">
            <a:solidFill>
              <a:srgbClr val="8CC9DB"/>
            </a:solidFill>
            <a:prstDash val="solid"/>
            <a:tailEnd type="triangle" w="sm" len="sm"/>
          </a:ln>
        </p:spPr>
      </p:cxnSp>
      <p:sp>
        <p:nvSpPr>
          <p:cNvPr id="16" name="overview-caption">
            <a:extLst>
              <a:ext uri="{FF2B5EF4-FFF2-40B4-BE49-F238E27FC236}">
                <a16:creationId xmlns:a16="http://schemas.microsoft.com/office/drawing/2014/main" id="{9C85DFDB-0907-413E-9B82-14BD7D4D7D7F}"/>
              </a:ext>
            </a:extLst>
          </p:cNvPr>
          <p:cNvSpPr>
            <a:spLocks noGrp="1"/>
          </p:cNvSpPr>
          <p:nvPr/>
        </p:nvSpPr>
        <p:spPr>
          <a:xfrm>
            <a:off x="6096000" y="5429250"/>
            <a:ext cx="5048250" cy="419100"/>
          </a:xfrm>
          <a:prstGeom prst="rect">
            <a:avLst/>
          </a:prstGeom>
          <a:noFill/>
          <a:ln w="0">
            <a:noFill/>
            <a:prstDash val="solid"/>
          </a:ln>
        </p:spPr>
        <p:txBody>
          <a:bodyPr wrap="square" lIns="0" tIns="0" rIns="0" bIns="0" anchor="t">
            <a:normAutofit fontScale="97225"/>
          </a:bodyPr>
          <a:lstStyle/>
          <a:p>
            <a:pPr algn="ctr">
              <a:lnSpc>
                <a:spcPct val="105000"/>
              </a:lnSpc>
              <a:buNone/>
              <a:defRPr sz="1350" b="0" i="0">
                <a:solidFill>
                  <a:srgbClr val="5C6A70"/>
                </a:solidFill>
                <a:latin typeface="Arial"/>
                <a:ea typeface="Arial"/>
                <a:cs typeface="Arial"/>
              </a:defRPr>
            </a:pPr>
            <a:r>
              <a:rPr sz="1350" b="0" i="0" dirty="0">
                <a:solidFill>
                  <a:srgbClr val="5C6A70"/>
                </a:solidFill>
                <a:latin typeface="Arial"/>
                <a:ea typeface="Arial"/>
                <a:cs typeface="Arial"/>
              </a:rPr>
              <a:t>The same MQTT connection carries measurements and relay states.</a:t>
            </a:r>
          </a:p>
        </p:txBody>
      </p:sp>
      <p:sp>
        <p:nvSpPr>
          <p:cNvPr id="17" name="3-footer-left">
            <a:extLst>
              <a:ext uri="{FF2B5EF4-FFF2-40B4-BE49-F238E27FC236}">
                <a16:creationId xmlns:a16="http://schemas.microsoft.com/office/drawing/2014/main" id="{DF7D9F88-4D01-47C7-B63A-1C67314F2747}"/>
              </a:ext>
            </a:extLst>
          </p:cNvPr>
          <p:cNvSpPr>
            <a:spLocks noGrp="1"/>
          </p:cNvSpPr>
          <p:nvPr/>
        </p:nvSpPr>
        <p:spPr>
          <a:xfrm>
            <a:off x="685800" y="6534150"/>
            <a:ext cx="4762500" cy="190500"/>
          </a:xfrm>
          <a:prstGeom prst="rect">
            <a:avLst/>
          </a:prstGeom>
          <a:noFill/>
          <a:ln w="0">
            <a:noFill/>
            <a:prstDash val="solid"/>
          </a:ln>
        </p:spPr>
        <p:txBody>
          <a:bodyPr wrap="square" lIns="0" tIns="0" rIns="0" bIns="0" anchor="t">
            <a:normAutofit/>
          </a:bodyPr>
          <a:lstStyle/>
          <a:p>
            <a:pPr algn="l">
              <a:lnSpc>
                <a:spcPct val="105000"/>
              </a:lnSpc>
              <a:buNone/>
              <a:defRPr sz="900" b="0" i="0">
                <a:solidFill>
                  <a:srgbClr val="5C6A70"/>
                </a:solidFill>
                <a:latin typeface="Arial"/>
                <a:ea typeface="Arial"/>
                <a:cs typeface="Arial"/>
              </a:defRPr>
            </a:pPr>
            <a:r>
              <a:rPr sz="900" b="0" i="0">
                <a:solidFill>
                  <a:srgbClr val="5C6A70"/>
                </a:solidFill>
                <a:latin typeface="Arial"/>
                <a:ea typeface="Arial"/>
                <a:cs typeface="Arial"/>
              </a:rPr>
              <a:t>IOT SMART HOME / SERVER ROOM MONITOR</a:t>
            </a:r>
          </a:p>
        </p:txBody>
      </p:sp>
      <p:sp>
        <p:nvSpPr>
          <p:cNvPr id="18" name="3-footer-right">
            <a:extLst>
              <a:ext uri="{FF2B5EF4-FFF2-40B4-BE49-F238E27FC236}">
                <a16:creationId xmlns:a16="http://schemas.microsoft.com/office/drawing/2014/main" id="{84D594A8-88EF-4AF1-A27E-A0EB1930D86D}"/>
              </a:ext>
            </a:extLst>
          </p:cNvPr>
          <p:cNvSpPr>
            <a:spLocks noGrp="1"/>
          </p:cNvSpPr>
          <p:nvPr/>
        </p:nvSpPr>
        <p:spPr>
          <a:xfrm>
            <a:off x="7239000" y="6534150"/>
            <a:ext cx="4267200" cy="190500"/>
          </a:xfrm>
          <a:prstGeom prst="rect">
            <a:avLst/>
          </a:prstGeom>
          <a:noFill/>
          <a:ln w="0">
            <a:noFill/>
            <a:prstDash val="solid"/>
          </a:ln>
        </p:spPr>
        <p:txBody>
          <a:bodyPr wrap="square" lIns="0" tIns="0" rIns="0" bIns="0" anchor="t">
            <a:normAutofit/>
          </a:bodyPr>
          <a:lstStyle/>
          <a:p>
            <a:pPr algn="r">
              <a:lnSpc>
                <a:spcPct val="105000"/>
              </a:lnSpc>
              <a:buNone/>
              <a:defRPr sz="900" b="0" i="0">
                <a:solidFill>
                  <a:srgbClr val="5C6A70"/>
                </a:solidFill>
                <a:latin typeface="Arial"/>
                <a:ea typeface="Arial"/>
                <a:cs typeface="Arial"/>
              </a:defRPr>
            </a:pPr>
            <a:r>
              <a:rPr sz="900" b="0" i="0" dirty="0">
                <a:solidFill>
                  <a:srgbClr val="5C6A70"/>
                </a:solidFill>
                <a:latin typeface="Arial"/>
                <a:ea typeface="Arial"/>
                <a:cs typeface="Arial"/>
              </a:rPr>
              <a:t>github.com/</a:t>
            </a:r>
            <a:r>
              <a:rPr sz="900" b="0" i="0" dirty="0" err="1">
                <a:solidFill>
                  <a:srgbClr val="5C6A70"/>
                </a:solidFill>
                <a:latin typeface="Arial"/>
                <a:ea typeface="Arial"/>
                <a:cs typeface="Arial"/>
              </a:rPr>
              <a:t>aharoni-cohen</a:t>
            </a:r>
            <a:r>
              <a:rPr sz="900" b="0" i="0" dirty="0">
                <a:solidFill>
                  <a:srgbClr val="5C6A70"/>
                </a:solidFill>
                <a:latin typeface="Arial"/>
                <a:ea typeface="Arial"/>
                <a:cs typeface="Arial"/>
              </a:rPr>
              <a:t>/</a:t>
            </a:r>
            <a:r>
              <a:rPr sz="900" b="0" i="0" dirty="0" err="1">
                <a:solidFill>
                  <a:srgbClr val="5C6A70"/>
                </a:solidFill>
                <a:latin typeface="Arial"/>
                <a:ea typeface="Arial"/>
                <a:cs typeface="Arial"/>
              </a:rPr>
              <a:t>iot</a:t>
            </a:r>
            <a:r>
              <a:rPr sz="900" b="0" i="0" dirty="0">
                <a:solidFill>
                  <a:srgbClr val="5C6A70"/>
                </a:solidFill>
                <a:latin typeface="Arial"/>
                <a:ea typeface="Arial"/>
                <a:cs typeface="Arial"/>
              </a:rPr>
              <a:t>-smart-home</a:t>
            </a:r>
          </a:p>
        </p:txBody>
      </p:sp>
    </p:spTree>
    <p:extLst>
      <p:ext uri="{BB962C8B-B14F-4D97-AF65-F5344CB8AC3E}">
        <p14:creationId xmlns:p14="http://schemas.microsoft.com/office/powerpoint/2010/main" val="390023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5-title-rule">
            <a:extLst>
              <a:ext uri="{FF2B5EF4-FFF2-40B4-BE49-F238E27FC236}">
                <a16:creationId xmlns:a16="http://schemas.microsoft.com/office/drawing/2014/main" id="{41F3AB19-71D7-482F-AC4A-D7EB5E0AE1F3}"/>
              </a:ext>
            </a:extLst>
          </p:cNvPr>
          <p:cNvSpPr>
            <a:spLocks noGrp="1"/>
          </p:cNvSpPr>
          <p:nvPr/>
        </p:nvSpPr>
        <p:spPr>
          <a:xfrm>
            <a:off x="685800" y="552450"/>
            <a:ext cx="0" cy="400050"/>
          </a:xfrm>
          <a:prstGeom prst="line">
            <a:avLst/>
          </a:prstGeom>
          <a:noFill/>
          <a:ln w="19050">
            <a:solidFill>
              <a:srgbClr val="1FA9D2"/>
            </a:solidFill>
            <a:prstDash val="solid"/>
          </a:ln>
        </p:spPr>
        <p:txBody>
          <a:bodyPr/>
          <a:lstStyle/>
          <a:p>
            <a:endParaRPr lang="he-IL"/>
          </a:p>
        </p:txBody>
      </p:sp>
      <p:sp>
        <p:nvSpPr>
          <p:cNvPr id="2" name="5-title">
            <a:extLst>
              <a:ext uri="{FF2B5EF4-FFF2-40B4-BE49-F238E27FC236}">
                <a16:creationId xmlns:a16="http://schemas.microsoft.com/office/drawing/2014/main" id="{76046B5C-182C-4297-B0AE-0616B7713715}"/>
              </a:ext>
            </a:extLst>
          </p:cNvPr>
          <p:cNvSpPr>
            <a:spLocks noGrp="1"/>
          </p:cNvSpPr>
          <p:nvPr/>
        </p:nvSpPr>
        <p:spPr>
          <a:xfrm>
            <a:off x="914400" y="457200"/>
            <a:ext cx="9620250" cy="609600"/>
          </a:xfrm>
          <a:prstGeom prst="rect">
            <a:avLst/>
          </a:prstGeom>
          <a:noFill/>
          <a:ln w="0">
            <a:noFill/>
            <a:prstDash val="solid"/>
          </a:ln>
        </p:spPr>
        <p:txBody>
          <a:bodyPr wrap="square" lIns="0" tIns="0" rIns="0" bIns="0" anchor="t">
            <a:normAutofit/>
          </a:bodyPr>
          <a:lstStyle/>
          <a:p>
            <a:pPr>
              <a:lnSpc>
                <a:spcPct val="105000"/>
              </a:lnSpc>
              <a:defRPr sz="2925" b="0" i="0">
                <a:solidFill>
                  <a:srgbClr val="18252B"/>
                </a:solidFill>
                <a:latin typeface="Arial"/>
                <a:ea typeface="Arial"/>
                <a:cs typeface="Arial"/>
              </a:defRPr>
            </a:pPr>
            <a:r>
              <a:rPr sz="2925" b="0" i="0" dirty="0">
                <a:solidFill>
                  <a:srgbClr val="18252B"/>
                </a:solidFill>
                <a:latin typeface="Arial"/>
                <a:ea typeface="Arial"/>
                <a:cs typeface="Arial"/>
              </a:rPr>
              <a:t>System architecture</a:t>
            </a:r>
            <a:r>
              <a:rPr lang="he-IL" sz="2925" b="0" i="0" dirty="0">
                <a:solidFill>
                  <a:srgbClr val="18252B"/>
                </a:solidFill>
                <a:latin typeface="Arial"/>
                <a:ea typeface="Arial"/>
                <a:cs typeface="Arial"/>
              </a:rPr>
              <a:t> </a:t>
            </a:r>
            <a:r>
              <a:rPr lang="en-US" sz="2925" dirty="0">
                <a:solidFill>
                  <a:srgbClr val="18252B"/>
                </a:solidFill>
                <a:latin typeface="Arial"/>
                <a:ea typeface="Arial"/>
                <a:cs typeface="Arial"/>
              </a:rPr>
              <a:t>and components</a:t>
            </a:r>
            <a:endParaRPr sz="2925" b="0" i="0" dirty="0">
              <a:solidFill>
                <a:srgbClr val="18252B"/>
              </a:solidFill>
              <a:latin typeface="Arial"/>
              <a:ea typeface="Arial"/>
              <a:cs typeface="Arial"/>
            </a:endParaRPr>
          </a:p>
        </p:txBody>
      </p:sp>
      <p:sp>
        <p:nvSpPr>
          <p:cNvPr id="3" name="5-subtitle">
            <a:extLst>
              <a:ext uri="{FF2B5EF4-FFF2-40B4-BE49-F238E27FC236}">
                <a16:creationId xmlns:a16="http://schemas.microsoft.com/office/drawing/2014/main" id="{66CF37E2-0A84-4329-AA35-4ADDAB5F9E77}"/>
              </a:ext>
            </a:extLst>
          </p:cNvPr>
          <p:cNvSpPr>
            <a:spLocks noGrp="1"/>
          </p:cNvSpPr>
          <p:nvPr/>
        </p:nvSpPr>
        <p:spPr>
          <a:xfrm>
            <a:off x="933450" y="1066800"/>
            <a:ext cx="10001250" cy="342900"/>
          </a:xfrm>
          <a:prstGeom prst="rect">
            <a:avLst/>
          </a:prstGeom>
          <a:noFill/>
          <a:ln w="0">
            <a:noFill/>
            <a:prstDash val="solid"/>
          </a:ln>
        </p:spPr>
        <p:txBody>
          <a:bodyPr wrap="square" lIns="0" tIns="0" rIns="0" bIns="0" anchor="t">
            <a:normAutofit/>
          </a:bodyPr>
          <a:lstStyle/>
          <a:p>
            <a:pPr algn="l">
              <a:lnSpc>
                <a:spcPct val="105000"/>
              </a:lnSpc>
              <a:buNone/>
              <a:defRPr sz="1350" b="0" i="0">
                <a:solidFill>
                  <a:srgbClr val="5C6A70"/>
                </a:solidFill>
                <a:latin typeface="Arial"/>
                <a:ea typeface="Arial"/>
                <a:cs typeface="Arial"/>
              </a:defRPr>
            </a:pPr>
            <a:r>
              <a:rPr sz="1350" b="0" i="0">
                <a:solidFill>
                  <a:srgbClr val="5C6A70"/>
                </a:solidFill>
                <a:latin typeface="Arial"/>
                <a:ea typeface="Arial"/>
                <a:cs typeface="Arial"/>
              </a:rPr>
              <a:t>MQTT decouples the sensor feed, the controller, and the output processes</a:t>
            </a:r>
          </a:p>
        </p:txBody>
      </p:sp>
      <p:sp>
        <p:nvSpPr>
          <p:cNvPr id="4" name="5-folio">
            <a:extLst>
              <a:ext uri="{FF2B5EF4-FFF2-40B4-BE49-F238E27FC236}">
                <a16:creationId xmlns:a16="http://schemas.microsoft.com/office/drawing/2014/main" id="{DC671015-D01E-49E1-9FF9-A73A514B40FA}"/>
              </a:ext>
            </a:extLst>
          </p:cNvPr>
          <p:cNvSpPr>
            <a:spLocks noGrp="1"/>
          </p:cNvSpPr>
          <p:nvPr/>
        </p:nvSpPr>
        <p:spPr>
          <a:xfrm>
            <a:off x="11239500" y="438150"/>
            <a:ext cx="419100" cy="228600"/>
          </a:xfrm>
          <a:prstGeom prst="rect">
            <a:avLst/>
          </a:prstGeom>
          <a:noFill/>
          <a:ln w="0">
            <a:noFill/>
            <a:prstDash val="solid"/>
          </a:ln>
        </p:spPr>
        <p:txBody>
          <a:bodyPr wrap="square" lIns="0" tIns="0" rIns="0" bIns="0" anchor="t">
            <a:normAutofit/>
          </a:bodyPr>
          <a:lstStyle/>
          <a:p>
            <a:pPr algn="r">
              <a:lnSpc>
                <a:spcPct val="105000"/>
              </a:lnSpc>
              <a:buNone/>
              <a:defRPr sz="1200" b="0" i="0">
                <a:solidFill>
                  <a:srgbClr val="5C6A70"/>
                </a:solidFill>
                <a:latin typeface="Arial"/>
                <a:ea typeface="Arial"/>
                <a:cs typeface="Arial"/>
              </a:defRPr>
            </a:pPr>
            <a:r>
              <a:rPr sz="1200" b="0" i="0">
                <a:solidFill>
                  <a:srgbClr val="5C6A70"/>
                </a:solidFill>
                <a:latin typeface="Arial"/>
                <a:ea typeface="Arial"/>
                <a:cs typeface="Arial"/>
              </a:rPr>
              <a:t>05</a:t>
            </a:r>
          </a:p>
        </p:txBody>
      </p:sp>
      <p:sp>
        <p:nvSpPr>
          <p:cNvPr id="5" name="arch-publishers-label">
            <a:extLst>
              <a:ext uri="{FF2B5EF4-FFF2-40B4-BE49-F238E27FC236}">
                <a16:creationId xmlns:a16="http://schemas.microsoft.com/office/drawing/2014/main" id="{A76D9C91-FD57-4FAF-A5F3-BD380ADD1F3A}"/>
              </a:ext>
            </a:extLst>
          </p:cNvPr>
          <p:cNvSpPr>
            <a:spLocks noGrp="1"/>
          </p:cNvSpPr>
          <p:nvPr/>
        </p:nvSpPr>
        <p:spPr>
          <a:xfrm>
            <a:off x="1028700" y="1366838"/>
            <a:ext cx="1714500" cy="266700"/>
          </a:xfrm>
          <a:prstGeom prst="rect">
            <a:avLst/>
          </a:prstGeom>
          <a:noFill/>
          <a:ln w="0">
            <a:noFill/>
            <a:prstDash val="solid"/>
          </a:ln>
        </p:spPr>
        <p:txBody>
          <a:bodyPr wrap="square" lIns="0" tIns="0" rIns="0" bIns="0" anchor="t">
            <a:normAutofit/>
          </a:bodyPr>
          <a:lstStyle/>
          <a:p>
            <a:pPr algn="l">
              <a:lnSpc>
                <a:spcPct val="105000"/>
              </a:lnSpc>
              <a:buNone/>
              <a:defRPr sz="1350" b="1" i="0">
                <a:solidFill>
                  <a:srgbClr val="1FA9D2"/>
                </a:solidFill>
                <a:latin typeface="Arial"/>
                <a:ea typeface="Arial"/>
                <a:cs typeface="Arial"/>
              </a:defRPr>
            </a:pPr>
            <a:r>
              <a:rPr sz="1350" b="1" i="0">
                <a:solidFill>
                  <a:srgbClr val="1FA9D2"/>
                </a:solidFill>
                <a:latin typeface="Arial"/>
                <a:ea typeface="Arial"/>
                <a:cs typeface="Arial"/>
              </a:rPr>
              <a:t>Publishers</a:t>
            </a:r>
          </a:p>
        </p:txBody>
      </p:sp>
      <p:sp>
        <p:nvSpPr>
          <p:cNvPr id="6" name="arch-transport-label">
            <a:extLst>
              <a:ext uri="{FF2B5EF4-FFF2-40B4-BE49-F238E27FC236}">
                <a16:creationId xmlns:a16="http://schemas.microsoft.com/office/drawing/2014/main" id="{80D451D4-7B1C-4BDB-AFB2-20846847B890}"/>
              </a:ext>
            </a:extLst>
          </p:cNvPr>
          <p:cNvSpPr>
            <a:spLocks noGrp="1"/>
          </p:cNvSpPr>
          <p:nvPr/>
        </p:nvSpPr>
        <p:spPr>
          <a:xfrm>
            <a:off x="4838700" y="1366838"/>
            <a:ext cx="2286000" cy="266700"/>
          </a:xfrm>
          <a:prstGeom prst="rect">
            <a:avLst/>
          </a:prstGeom>
          <a:noFill/>
          <a:ln w="0">
            <a:noFill/>
            <a:prstDash val="solid"/>
          </a:ln>
        </p:spPr>
        <p:txBody>
          <a:bodyPr wrap="square" lIns="0" tIns="0" rIns="0" bIns="0" anchor="t">
            <a:normAutofit/>
          </a:bodyPr>
          <a:lstStyle/>
          <a:p>
            <a:pPr algn="ctr">
              <a:lnSpc>
                <a:spcPct val="105000"/>
              </a:lnSpc>
              <a:buNone/>
              <a:defRPr sz="1350" b="1" i="0">
                <a:solidFill>
                  <a:srgbClr val="1FA9D2"/>
                </a:solidFill>
                <a:latin typeface="Arial"/>
                <a:ea typeface="Arial"/>
                <a:cs typeface="Arial"/>
              </a:defRPr>
            </a:pPr>
            <a:r>
              <a:rPr sz="1350" b="1" i="0">
                <a:solidFill>
                  <a:srgbClr val="1FA9D2"/>
                </a:solidFill>
                <a:latin typeface="Arial"/>
                <a:ea typeface="Arial"/>
                <a:cs typeface="Arial"/>
              </a:rPr>
              <a:t>Message transport</a:t>
            </a:r>
          </a:p>
        </p:txBody>
      </p:sp>
      <p:sp>
        <p:nvSpPr>
          <p:cNvPr id="7" name="arch-outputs-label">
            <a:extLst>
              <a:ext uri="{FF2B5EF4-FFF2-40B4-BE49-F238E27FC236}">
                <a16:creationId xmlns:a16="http://schemas.microsoft.com/office/drawing/2014/main" id="{4370EC3C-7013-46A5-88F5-EFD3C260984D}"/>
              </a:ext>
            </a:extLst>
          </p:cNvPr>
          <p:cNvSpPr>
            <a:spLocks noGrp="1"/>
          </p:cNvSpPr>
          <p:nvPr/>
        </p:nvSpPr>
        <p:spPr>
          <a:xfrm>
            <a:off x="8077200" y="1366838"/>
            <a:ext cx="2857500" cy="266700"/>
          </a:xfrm>
          <a:prstGeom prst="rect">
            <a:avLst/>
          </a:prstGeom>
          <a:noFill/>
          <a:ln w="0">
            <a:noFill/>
            <a:prstDash val="solid"/>
          </a:ln>
        </p:spPr>
        <p:txBody>
          <a:bodyPr wrap="square" lIns="0" tIns="0" rIns="0" bIns="0" anchor="t">
            <a:normAutofit/>
          </a:bodyPr>
          <a:lstStyle/>
          <a:p>
            <a:pPr algn="ctr">
              <a:lnSpc>
                <a:spcPct val="105000"/>
              </a:lnSpc>
              <a:buNone/>
              <a:defRPr sz="1350" b="1" i="0">
                <a:solidFill>
                  <a:srgbClr val="1FA9D2"/>
                </a:solidFill>
                <a:latin typeface="Arial"/>
                <a:ea typeface="Arial"/>
                <a:cs typeface="Arial"/>
              </a:defRPr>
            </a:pPr>
            <a:r>
              <a:rPr sz="1350" b="1" i="0">
                <a:solidFill>
                  <a:srgbClr val="1FA9D2"/>
                </a:solidFill>
                <a:latin typeface="Arial"/>
                <a:ea typeface="Arial"/>
                <a:cs typeface="Arial"/>
              </a:rPr>
              <a:t>Controller and outputs</a:t>
            </a:r>
          </a:p>
        </p:txBody>
      </p:sp>
      <p:sp>
        <p:nvSpPr>
          <p:cNvPr id="8" name="arch-dht">
            <a:extLst>
              <a:ext uri="{FF2B5EF4-FFF2-40B4-BE49-F238E27FC236}">
                <a16:creationId xmlns:a16="http://schemas.microsoft.com/office/drawing/2014/main" id="{DAFDB6F2-76B2-4E04-97A7-D8DA08ED1645}"/>
              </a:ext>
            </a:extLst>
          </p:cNvPr>
          <p:cNvSpPr>
            <a:spLocks noGrp="1"/>
          </p:cNvSpPr>
          <p:nvPr/>
        </p:nvSpPr>
        <p:spPr>
          <a:xfrm>
            <a:off x="914400" y="1676400"/>
            <a:ext cx="2381250" cy="990600"/>
          </a:xfrm>
          <a:prstGeom prst="roundRect">
            <a:avLst>
              <a:gd name="adj" fmla="val 17308"/>
            </a:avLst>
          </a:prstGeom>
          <a:solidFill>
            <a:srgbClr val="E7F4F8"/>
          </a:solidFill>
          <a:ln w="9525">
            <a:solidFill>
              <a:srgbClr val="8CC9DB"/>
            </a:solidFill>
            <a:prstDash val="solid"/>
          </a:ln>
        </p:spPr>
        <p:txBody>
          <a:bodyPr wrap="square" lIns="114300" tIns="114300" rIns="114300" bIns="114300" anchor="ctr">
            <a:normAutofit/>
          </a:bodyPr>
          <a:lstStyle/>
          <a:p>
            <a:pPr algn="ctr">
              <a:lnSpc>
                <a:spcPct val="104000"/>
              </a:lnSpc>
              <a:buNone/>
              <a:defRPr sz="1350">
                <a:solidFill>
                  <a:srgbClr val="5C6A70"/>
                </a:solidFill>
                <a:latin typeface="Arial"/>
                <a:ea typeface="Arial"/>
                <a:cs typeface="Arial"/>
              </a:defRPr>
            </a:pPr>
            <a:r>
              <a:rPr sz="1350" b="1" dirty="0">
                <a:solidFill>
                  <a:srgbClr val="5C6A70"/>
                </a:solidFill>
                <a:latin typeface="Arial"/>
                <a:ea typeface="Arial"/>
                <a:cs typeface="Arial"/>
              </a:rPr>
              <a:t>DHT simulator</a:t>
            </a:r>
            <a:r>
              <a:rPr sz="1350" dirty="0">
                <a:solidFill>
                  <a:srgbClr val="5C6A70"/>
                </a:solidFill>
                <a:latin typeface="Arial"/>
                <a:ea typeface="Arial"/>
                <a:cs typeface="Arial"/>
              </a:rPr>
              <a:t>
</a:t>
            </a:r>
          </a:p>
        </p:txBody>
      </p:sp>
      <p:sp>
        <p:nvSpPr>
          <p:cNvPr id="9" name="arch-broker">
            <a:extLst>
              <a:ext uri="{FF2B5EF4-FFF2-40B4-BE49-F238E27FC236}">
                <a16:creationId xmlns:a16="http://schemas.microsoft.com/office/drawing/2014/main" id="{C3882783-D436-43FE-ACAB-705D35AE5D47}"/>
              </a:ext>
            </a:extLst>
          </p:cNvPr>
          <p:cNvSpPr>
            <a:spLocks noGrp="1"/>
          </p:cNvSpPr>
          <p:nvPr/>
        </p:nvSpPr>
        <p:spPr>
          <a:xfrm>
            <a:off x="4591050" y="1828800"/>
            <a:ext cx="2667000" cy="1257300"/>
          </a:xfrm>
          <a:prstGeom prst="roundRect">
            <a:avLst>
              <a:gd name="adj" fmla="val 13636"/>
            </a:avLst>
          </a:prstGeom>
          <a:solidFill>
            <a:srgbClr val="1FA9D2"/>
          </a:solidFill>
          <a:ln w="9525">
            <a:solidFill>
              <a:srgbClr val="1FA9D2"/>
            </a:solidFill>
            <a:prstDash val="solid"/>
          </a:ln>
        </p:spPr>
        <p:txBody>
          <a:bodyPr wrap="square" lIns="114300" tIns="114300" rIns="114300" bIns="114300" anchor="ctr">
            <a:normAutofit/>
          </a:bodyPr>
          <a:lstStyle/>
          <a:p>
            <a:pPr algn="ctr">
              <a:lnSpc>
                <a:spcPct val="104000"/>
              </a:lnSpc>
              <a:buNone/>
              <a:defRPr sz="1500">
                <a:solidFill>
                  <a:srgbClr val="FFFFFF"/>
                </a:solidFill>
                <a:latin typeface="Arial"/>
                <a:ea typeface="Arial"/>
                <a:cs typeface="Arial"/>
              </a:defRPr>
            </a:pPr>
            <a:r>
              <a:rPr sz="1500" b="1">
                <a:solidFill>
                  <a:srgbClr val="FFFFFF"/>
                </a:solidFill>
                <a:latin typeface="Arial"/>
                <a:ea typeface="Arial"/>
                <a:cs typeface="Arial"/>
              </a:rPr>
              <a:t>MQTT broker</a:t>
            </a:r>
            <a:r>
              <a:rPr sz="1500">
                <a:solidFill>
                  <a:srgbClr val="FFFFFF"/>
                </a:solidFill>
                <a:latin typeface="Arial"/>
                <a:ea typeface="Arial"/>
                <a:cs typeface="Arial"/>
              </a:rPr>
              <a:t>
Subscriptions and published state</a:t>
            </a:r>
          </a:p>
        </p:txBody>
      </p:sp>
      <p:sp>
        <p:nvSpPr>
          <p:cNvPr id="10" name="arch-dashboard">
            <a:extLst>
              <a:ext uri="{FF2B5EF4-FFF2-40B4-BE49-F238E27FC236}">
                <a16:creationId xmlns:a16="http://schemas.microsoft.com/office/drawing/2014/main" id="{C9FC657D-BE23-4537-A45E-F43C0B999291}"/>
              </a:ext>
            </a:extLst>
          </p:cNvPr>
          <p:cNvSpPr>
            <a:spLocks noGrp="1"/>
          </p:cNvSpPr>
          <p:nvPr/>
        </p:nvSpPr>
        <p:spPr>
          <a:xfrm>
            <a:off x="7962900" y="1676400"/>
            <a:ext cx="2952750" cy="990600"/>
          </a:xfrm>
          <a:prstGeom prst="roundRect">
            <a:avLst>
              <a:gd name="adj" fmla="val 17308"/>
            </a:avLst>
          </a:prstGeom>
          <a:solidFill>
            <a:srgbClr val="FFFFFF"/>
          </a:solidFill>
          <a:ln w="9525">
            <a:solidFill>
              <a:srgbClr val="8CC9DB"/>
            </a:solidFill>
            <a:prstDash val="solid"/>
          </a:ln>
        </p:spPr>
        <p:txBody>
          <a:bodyPr wrap="square" lIns="114300" tIns="114300" rIns="114300" bIns="114300" anchor="ctr">
            <a:normAutofit/>
          </a:bodyPr>
          <a:lstStyle/>
          <a:p>
            <a:pPr algn="ctr">
              <a:lnSpc>
                <a:spcPct val="104000"/>
              </a:lnSpc>
              <a:buNone/>
              <a:defRPr sz="1350">
                <a:solidFill>
                  <a:srgbClr val="5C6A70"/>
                </a:solidFill>
                <a:latin typeface="Arial"/>
                <a:ea typeface="Arial"/>
                <a:cs typeface="Arial"/>
              </a:defRPr>
            </a:pPr>
            <a:r>
              <a:rPr sz="1350" b="1">
                <a:solidFill>
                  <a:srgbClr val="5C6A70"/>
                </a:solidFill>
                <a:latin typeface="Arial"/>
                <a:ea typeface="Arial"/>
                <a:cs typeface="Arial"/>
              </a:rPr>
              <a:t>PyQt5 dashboard</a:t>
            </a:r>
            <a:r>
              <a:rPr sz="1350">
                <a:solidFill>
                  <a:srgbClr val="5C6A70"/>
                </a:solidFill>
                <a:latin typeface="Arial"/>
                <a:ea typeface="Arial"/>
                <a:cs typeface="Arial"/>
              </a:rPr>
              <a:t>
Parse, evaluate, visualize</a:t>
            </a:r>
          </a:p>
        </p:txBody>
      </p:sp>
      <p:sp>
        <p:nvSpPr>
          <p:cNvPr id="11" name="arch-ac">
            <a:extLst>
              <a:ext uri="{FF2B5EF4-FFF2-40B4-BE49-F238E27FC236}">
                <a16:creationId xmlns:a16="http://schemas.microsoft.com/office/drawing/2014/main" id="{8FE92978-94F1-44B2-AE27-D465E783C455}"/>
              </a:ext>
            </a:extLst>
          </p:cNvPr>
          <p:cNvSpPr>
            <a:spLocks noGrp="1"/>
          </p:cNvSpPr>
          <p:nvPr/>
        </p:nvSpPr>
        <p:spPr>
          <a:xfrm>
            <a:off x="7367588" y="2962275"/>
            <a:ext cx="1333500" cy="742950"/>
          </a:xfrm>
          <a:prstGeom prst="roundRect">
            <a:avLst>
              <a:gd name="adj" fmla="val 18367"/>
            </a:avLst>
          </a:prstGeom>
          <a:solidFill>
            <a:srgbClr val="FFF6D7"/>
          </a:solidFill>
          <a:ln w="9525">
            <a:solidFill>
              <a:srgbClr val="F2C94C"/>
            </a:solidFill>
            <a:prstDash val="solid"/>
          </a:ln>
        </p:spPr>
        <p:txBody>
          <a:bodyPr wrap="square" lIns="114300" tIns="114300" rIns="114300" bIns="114300" anchor="ctr">
            <a:normAutofit/>
          </a:bodyPr>
          <a:lstStyle/>
          <a:p>
            <a:pPr algn="ctr">
              <a:lnSpc>
                <a:spcPct val="104000"/>
              </a:lnSpc>
              <a:buNone/>
              <a:defRPr sz="1275">
                <a:solidFill>
                  <a:srgbClr val="5C6A70"/>
                </a:solidFill>
                <a:latin typeface="Arial"/>
                <a:ea typeface="Arial"/>
                <a:cs typeface="Arial"/>
              </a:defRPr>
            </a:pPr>
            <a:r>
              <a:rPr sz="1275" b="1" dirty="0">
                <a:solidFill>
                  <a:srgbClr val="5C6A70"/>
                </a:solidFill>
                <a:latin typeface="Arial"/>
                <a:ea typeface="Arial"/>
                <a:cs typeface="Arial"/>
              </a:rPr>
              <a:t>A/C</a:t>
            </a:r>
            <a:endParaRPr sz="1275" dirty="0">
              <a:solidFill>
                <a:srgbClr val="5C6A70"/>
              </a:solidFill>
              <a:latin typeface="Arial"/>
              <a:ea typeface="Arial"/>
              <a:cs typeface="Arial"/>
            </a:endParaRPr>
          </a:p>
        </p:txBody>
      </p:sp>
      <p:sp>
        <p:nvSpPr>
          <p:cNvPr id="12" name="arch-pump">
            <a:extLst>
              <a:ext uri="{FF2B5EF4-FFF2-40B4-BE49-F238E27FC236}">
                <a16:creationId xmlns:a16="http://schemas.microsoft.com/office/drawing/2014/main" id="{C243C7A8-6460-4091-8389-6EDF7BB57554}"/>
              </a:ext>
            </a:extLst>
          </p:cNvPr>
          <p:cNvSpPr>
            <a:spLocks noGrp="1"/>
          </p:cNvSpPr>
          <p:nvPr/>
        </p:nvSpPr>
        <p:spPr>
          <a:xfrm>
            <a:off x="10534650" y="2962275"/>
            <a:ext cx="1333500" cy="762000"/>
          </a:xfrm>
          <a:prstGeom prst="roundRect">
            <a:avLst>
              <a:gd name="adj" fmla="val 18367"/>
            </a:avLst>
          </a:prstGeom>
          <a:solidFill>
            <a:srgbClr val="E7F4F8"/>
          </a:solidFill>
          <a:ln w="9525">
            <a:solidFill>
              <a:srgbClr val="8CC9DB"/>
            </a:solidFill>
            <a:prstDash val="solid"/>
          </a:ln>
        </p:spPr>
        <p:txBody>
          <a:bodyPr wrap="square" lIns="114300" tIns="114300" rIns="114300" bIns="114300" anchor="ctr">
            <a:normAutofit/>
          </a:bodyPr>
          <a:lstStyle/>
          <a:p>
            <a:pPr algn="ctr">
              <a:lnSpc>
                <a:spcPct val="104000"/>
              </a:lnSpc>
              <a:buNone/>
              <a:defRPr sz="1275">
                <a:solidFill>
                  <a:srgbClr val="5C6A70"/>
                </a:solidFill>
                <a:latin typeface="Arial"/>
                <a:ea typeface="Arial"/>
                <a:cs typeface="Arial"/>
              </a:defRPr>
            </a:pPr>
            <a:r>
              <a:rPr sz="1275" b="1" dirty="0">
                <a:solidFill>
                  <a:srgbClr val="5C6A70"/>
                </a:solidFill>
                <a:latin typeface="Arial"/>
                <a:ea typeface="Arial"/>
                <a:cs typeface="Arial"/>
              </a:rPr>
              <a:t>Pump</a:t>
            </a:r>
            <a:endParaRPr sz="1275" dirty="0">
              <a:solidFill>
                <a:srgbClr val="5C6A70"/>
              </a:solidFill>
              <a:latin typeface="Arial"/>
              <a:ea typeface="Arial"/>
              <a:cs typeface="Arial"/>
            </a:endParaRPr>
          </a:p>
        </p:txBody>
      </p:sp>
      <p:sp>
        <p:nvSpPr>
          <p:cNvPr id="13" name="arch-alarm">
            <a:extLst>
              <a:ext uri="{FF2B5EF4-FFF2-40B4-BE49-F238E27FC236}">
                <a16:creationId xmlns:a16="http://schemas.microsoft.com/office/drawing/2014/main" id="{B65E6AE6-1723-4529-ABF3-B6524EE8DC33}"/>
              </a:ext>
            </a:extLst>
          </p:cNvPr>
          <p:cNvSpPr>
            <a:spLocks noGrp="1"/>
          </p:cNvSpPr>
          <p:nvPr/>
        </p:nvSpPr>
        <p:spPr>
          <a:xfrm>
            <a:off x="8951119" y="2957513"/>
            <a:ext cx="1333500" cy="742950"/>
          </a:xfrm>
          <a:prstGeom prst="roundRect">
            <a:avLst>
              <a:gd name="adj" fmla="val 22500"/>
            </a:avLst>
          </a:prstGeom>
          <a:solidFill>
            <a:srgbClr val="FBE8E9"/>
          </a:solidFill>
          <a:ln w="9525">
            <a:solidFill>
              <a:srgbClr val="E25A60"/>
            </a:solidFill>
            <a:prstDash val="solid"/>
          </a:ln>
        </p:spPr>
        <p:txBody>
          <a:bodyPr wrap="square" lIns="114300" tIns="114300" rIns="114300" bIns="114300" anchor="ctr">
            <a:normAutofit/>
          </a:bodyPr>
          <a:lstStyle/>
          <a:p>
            <a:pPr algn="ctr">
              <a:lnSpc>
                <a:spcPct val="104000"/>
              </a:lnSpc>
              <a:buNone/>
              <a:defRPr sz="1275">
                <a:solidFill>
                  <a:srgbClr val="5C6A70"/>
                </a:solidFill>
                <a:latin typeface="Arial"/>
                <a:ea typeface="Arial"/>
                <a:cs typeface="Arial"/>
              </a:defRPr>
            </a:pPr>
            <a:r>
              <a:rPr sz="1275" b="1" dirty="0">
                <a:solidFill>
                  <a:srgbClr val="5C6A70"/>
                </a:solidFill>
                <a:latin typeface="Arial"/>
                <a:ea typeface="Arial"/>
                <a:cs typeface="Arial"/>
              </a:rPr>
              <a:t>Alarm</a:t>
            </a:r>
            <a:endParaRPr sz="1275" dirty="0">
              <a:solidFill>
                <a:srgbClr val="5C6A70"/>
              </a:solidFill>
              <a:latin typeface="Arial"/>
              <a:ea typeface="Arial"/>
              <a:cs typeface="Arial"/>
            </a:endParaRPr>
          </a:p>
        </p:txBody>
      </p:sp>
      <p:cxnSp>
        <p:nvCxnSpPr>
          <p:cNvPr id="35" name="Straight Arrow Connector 34"/>
          <p:cNvCxnSpPr>
            <a:stCxn id="8" idx="3"/>
            <a:endCxn id="9" idx="1"/>
          </p:cNvCxnSpPr>
          <p:nvPr/>
        </p:nvCxnSpPr>
        <p:spPr>
          <a:xfrm>
            <a:off x="3295650" y="2171700"/>
            <a:ext cx="1295400" cy="285750"/>
          </a:xfrm>
          <a:prstGeom prst="straightConnector1">
            <a:avLst/>
          </a:prstGeom>
          <a:ln w="19050">
            <a:solidFill>
              <a:srgbClr val="8CC9DB"/>
            </a:solidFill>
            <a:prstDash val="solid"/>
            <a:tailEnd type="triangle" w="sm" len="sm"/>
          </a:ln>
        </p:spPr>
      </p:cxnSp>
      <p:cxnSp>
        <p:nvCxnSpPr>
          <p:cNvPr id="36" name="Straight Arrow Connector 35"/>
          <p:cNvCxnSpPr>
            <a:stCxn id="9" idx="3"/>
            <a:endCxn id="10" idx="1"/>
          </p:cNvCxnSpPr>
          <p:nvPr/>
        </p:nvCxnSpPr>
        <p:spPr>
          <a:xfrm flipV="1">
            <a:off x="7258050" y="2171700"/>
            <a:ext cx="704850" cy="285750"/>
          </a:xfrm>
          <a:prstGeom prst="straightConnector1">
            <a:avLst/>
          </a:prstGeom>
          <a:ln w="19050">
            <a:solidFill>
              <a:srgbClr val="8CC9DB"/>
            </a:solidFill>
            <a:prstDash val="solid"/>
            <a:tailEnd type="triangle" w="sm" len="sm"/>
          </a:ln>
        </p:spPr>
      </p:cxnSp>
      <p:cxnSp>
        <p:nvCxnSpPr>
          <p:cNvPr id="37" name="Straight Arrow Connector 36"/>
          <p:cNvCxnSpPr>
            <a:cxnSpLocks/>
            <a:stCxn id="10" idx="2"/>
            <a:endCxn id="11" idx="0"/>
          </p:cNvCxnSpPr>
          <p:nvPr/>
        </p:nvCxnSpPr>
        <p:spPr>
          <a:xfrm flipH="1">
            <a:off x="8034338" y="2667000"/>
            <a:ext cx="1404937" cy="295275"/>
          </a:xfrm>
          <a:prstGeom prst="straightConnector1">
            <a:avLst/>
          </a:prstGeom>
          <a:ln w="19050">
            <a:solidFill>
              <a:srgbClr val="F2C94C"/>
            </a:solidFill>
            <a:prstDash val="solid"/>
            <a:tailEnd type="triangle" w="sm" len="sm"/>
          </a:ln>
        </p:spPr>
      </p:cxnSp>
      <p:cxnSp>
        <p:nvCxnSpPr>
          <p:cNvPr id="38" name="Straight Arrow Connector 37"/>
          <p:cNvCxnSpPr>
            <a:cxnSpLocks/>
            <a:stCxn id="10" idx="2"/>
            <a:endCxn id="12" idx="0"/>
          </p:cNvCxnSpPr>
          <p:nvPr/>
        </p:nvCxnSpPr>
        <p:spPr>
          <a:xfrm>
            <a:off x="9439275" y="2667000"/>
            <a:ext cx="1762125" cy="295275"/>
          </a:xfrm>
          <a:prstGeom prst="straightConnector1">
            <a:avLst/>
          </a:prstGeom>
          <a:ln w="19050">
            <a:solidFill>
              <a:srgbClr val="8CC9DB"/>
            </a:solidFill>
            <a:prstDash val="solid"/>
            <a:tailEnd type="triangle" w="sm" len="sm"/>
          </a:ln>
        </p:spPr>
      </p:cxnSp>
      <p:cxnSp>
        <p:nvCxnSpPr>
          <p:cNvPr id="39" name="Straight Arrow Connector 38"/>
          <p:cNvCxnSpPr>
            <a:cxnSpLocks/>
            <a:stCxn id="10" idx="2"/>
            <a:endCxn id="13" idx="0"/>
          </p:cNvCxnSpPr>
          <p:nvPr/>
        </p:nvCxnSpPr>
        <p:spPr>
          <a:xfrm>
            <a:off x="9439275" y="2667000"/>
            <a:ext cx="178594" cy="290513"/>
          </a:xfrm>
          <a:prstGeom prst="straightConnector1">
            <a:avLst/>
          </a:prstGeom>
          <a:ln w="19050">
            <a:solidFill>
              <a:srgbClr val="E25A60"/>
            </a:solidFill>
            <a:prstDash val="solid"/>
            <a:tailEnd type="triangle" w="sm" len="sm"/>
          </a:ln>
        </p:spPr>
      </p:cxnSp>
      <p:sp>
        <p:nvSpPr>
          <p:cNvPr id="19" name="arch-dht-topic-label">
            <a:extLst>
              <a:ext uri="{FF2B5EF4-FFF2-40B4-BE49-F238E27FC236}">
                <a16:creationId xmlns:a16="http://schemas.microsoft.com/office/drawing/2014/main" id="{5DDC85AE-502E-49DF-B171-4B1174C75705}"/>
              </a:ext>
            </a:extLst>
          </p:cNvPr>
          <p:cNvSpPr>
            <a:spLocks noGrp="1"/>
          </p:cNvSpPr>
          <p:nvPr/>
        </p:nvSpPr>
        <p:spPr>
          <a:xfrm>
            <a:off x="3448050" y="2305050"/>
            <a:ext cx="952500" cy="209550"/>
          </a:xfrm>
          <a:prstGeom prst="rect">
            <a:avLst/>
          </a:prstGeom>
          <a:noFill/>
          <a:ln w="0">
            <a:noFill/>
            <a:prstDash val="solid"/>
          </a:ln>
        </p:spPr>
        <p:txBody>
          <a:bodyPr wrap="square" lIns="0" tIns="0" rIns="0" bIns="0" anchor="t">
            <a:normAutofit/>
          </a:bodyPr>
          <a:lstStyle/>
          <a:p>
            <a:pPr algn="ctr">
              <a:lnSpc>
                <a:spcPct val="105000"/>
              </a:lnSpc>
              <a:buNone/>
              <a:defRPr sz="1050" b="0" i="0">
                <a:solidFill>
                  <a:srgbClr val="5C6A70"/>
                </a:solidFill>
                <a:latin typeface="Arial"/>
                <a:ea typeface="Arial"/>
                <a:cs typeface="Arial"/>
              </a:defRPr>
            </a:pPr>
            <a:r>
              <a:rPr sz="1050" b="0" i="0">
                <a:solidFill>
                  <a:srgbClr val="5C6A70"/>
                </a:solidFill>
                <a:latin typeface="Arial"/>
                <a:ea typeface="Arial"/>
                <a:cs typeface="Arial"/>
              </a:rPr>
              <a:t>DHT_TOPIC</a:t>
            </a:r>
          </a:p>
        </p:txBody>
      </p:sp>
      <p:sp>
        <p:nvSpPr>
          <p:cNvPr id="20" name="5-footer-left">
            <a:extLst>
              <a:ext uri="{FF2B5EF4-FFF2-40B4-BE49-F238E27FC236}">
                <a16:creationId xmlns:a16="http://schemas.microsoft.com/office/drawing/2014/main" id="{8CE164BC-8B73-4F3E-A626-BE30A48F066C}"/>
              </a:ext>
            </a:extLst>
          </p:cNvPr>
          <p:cNvSpPr>
            <a:spLocks noGrp="1"/>
          </p:cNvSpPr>
          <p:nvPr/>
        </p:nvSpPr>
        <p:spPr>
          <a:xfrm>
            <a:off x="685800" y="6534150"/>
            <a:ext cx="4762500" cy="190500"/>
          </a:xfrm>
          <a:prstGeom prst="rect">
            <a:avLst/>
          </a:prstGeom>
          <a:noFill/>
          <a:ln w="0">
            <a:noFill/>
            <a:prstDash val="solid"/>
          </a:ln>
        </p:spPr>
        <p:txBody>
          <a:bodyPr wrap="square" lIns="0" tIns="0" rIns="0" bIns="0" anchor="t">
            <a:normAutofit/>
          </a:bodyPr>
          <a:lstStyle/>
          <a:p>
            <a:pPr algn="l">
              <a:lnSpc>
                <a:spcPct val="105000"/>
              </a:lnSpc>
              <a:buNone/>
              <a:defRPr sz="900" b="0" i="0">
                <a:solidFill>
                  <a:srgbClr val="5C6A70"/>
                </a:solidFill>
                <a:latin typeface="Arial"/>
                <a:ea typeface="Arial"/>
                <a:cs typeface="Arial"/>
              </a:defRPr>
            </a:pPr>
            <a:r>
              <a:rPr sz="900" b="0" i="0">
                <a:solidFill>
                  <a:srgbClr val="5C6A70"/>
                </a:solidFill>
                <a:latin typeface="Arial"/>
                <a:ea typeface="Arial"/>
                <a:cs typeface="Arial"/>
              </a:rPr>
              <a:t>IOT SMART HOME / SERVER ROOM MONITOR</a:t>
            </a:r>
          </a:p>
        </p:txBody>
      </p:sp>
      <p:sp>
        <p:nvSpPr>
          <p:cNvPr id="21" name="5-footer-right">
            <a:extLst>
              <a:ext uri="{FF2B5EF4-FFF2-40B4-BE49-F238E27FC236}">
                <a16:creationId xmlns:a16="http://schemas.microsoft.com/office/drawing/2014/main" id="{E634026D-9A52-4FFB-AC42-2A852E205AB5}"/>
              </a:ext>
            </a:extLst>
          </p:cNvPr>
          <p:cNvSpPr>
            <a:spLocks noGrp="1"/>
          </p:cNvSpPr>
          <p:nvPr/>
        </p:nvSpPr>
        <p:spPr>
          <a:xfrm>
            <a:off x="7239000" y="6534150"/>
            <a:ext cx="4267200" cy="190500"/>
          </a:xfrm>
          <a:prstGeom prst="rect">
            <a:avLst/>
          </a:prstGeom>
          <a:noFill/>
          <a:ln w="0">
            <a:noFill/>
            <a:prstDash val="solid"/>
          </a:ln>
        </p:spPr>
        <p:txBody>
          <a:bodyPr wrap="square" lIns="0" tIns="0" rIns="0" bIns="0" anchor="t">
            <a:normAutofit/>
          </a:bodyPr>
          <a:lstStyle/>
          <a:p>
            <a:pPr algn="r">
              <a:lnSpc>
                <a:spcPct val="105000"/>
              </a:lnSpc>
              <a:buNone/>
              <a:defRPr sz="900" b="0" i="0">
                <a:solidFill>
                  <a:srgbClr val="5C6A70"/>
                </a:solidFill>
                <a:latin typeface="Arial"/>
                <a:ea typeface="Arial"/>
                <a:cs typeface="Arial"/>
              </a:defRPr>
            </a:pPr>
            <a:r>
              <a:rPr sz="900" b="0" i="0">
                <a:solidFill>
                  <a:srgbClr val="5C6A70"/>
                </a:solidFill>
                <a:latin typeface="Arial"/>
                <a:ea typeface="Arial"/>
                <a:cs typeface="Arial"/>
              </a:rPr>
              <a:t>github.com/aharoni-cohen/iot-smart-home</a:t>
            </a:r>
          </a:p>
        </p:txBody>
      </p:sp>
      <p:sp>
        <p:nvSpPr>
          <p:cNvPr id="30" name="components-spine">
            <a:extLst>
              <a:ext uri="{FF2B5EF4-FFF2-40B4-BE49-F238E27FC236}">
                <a16:creationId xmlns:a16="http://schemas.microsoft.com/office/drawing/2014/main" id="{3EFEB087-D9D3-0634-900F-575DCC2B01D2}"/>
              </a:ext>
            </a:extLst>
          </p:cNvPr>
          <p:cNvSpPr>
            <a:spLocks noGrp="1"/>
          </p:cNvSpPr>
          <p:nvPr/>
        </p:nvSpPr>
        <p:spPr>
          <a:xfrm>
            <a:off x="1407319" y="4343400"/>
            <a:ext cx="9620250" cy="0"/>
          </a:xfrm>
          <a:prstGeom prst="line">
            <a:avLst/>
          </a:prstGeom>
          <a:noFill/>
          <a:ln w="28575">
            <a:solidFill>
              <a:srgbClr val="C7D9DF"/>
            </a:solidFill>
            <a:prstDash val="solid"/>
          </a:ln>
        </p:spPr>
        <p:txBody>
          <a:bodyPr/>
          <a:lstStyle/>
          <a:p>
            <a:endParaRPr lang="he-IL"/>
          </a:p>
        </p:txBody>
      </p:sp>
      <p:sp>
        <p:nvSpPr>
          <p:cNvPr id="32" name="component-1-number">
            <a:extLst>
              <a:ext uri="{FF2B5EF4-FFF2-40B4-BE49-F238E27FC236}">
                <a16:creationId xmlns:a16="http://schemas.microsoft.com/office/drawing/2014/main" id="{30C5BD4F-75E3-701B-4F78-FD6B84390C7F}"/>
              </a:ext>
            </a:extLst>
          </p:cNvPr>
          <p:cNvSpPr>
            <a:spLocks noGrp="1"/>
          </p:cNvSpPr>
          <p:nvPr/>
        </p:nvSpPr>
        <p:spPr>
          <a:xfrm>
            <a:off x="1597819" y="4076700"/>
            <a:ext cx="552450" cy="552450"/>
          </a:xfrm>
          <a:prstGeom prst="ellipse">
            <a:avLst/>
          </a:prstGeom>
          <a:solidFill>
            <a:srgbClr val="1FA9D2"/>
          </a:solidFill>
          <a:ln w="0">
            <a:noFill/>
            <a:prstDash val="solid"/>
          </a:ln>
        </p:spPr>
        <p:txBody>
          <a:bodyPr wrap="square" lIns="0" tIns="0" rIns="0" bIns="0" anchor="ctr">
            <a:normAutofit/>
          </a:bodyPr>
          <a:lstStyle/>
          <a:p>
            <a:pPr algn="ctr">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1</a:t>
            </a:r>
          </a:p>
        </p:txBody>
      </p:sp>
      <p:sp>
        <p:nvSpPr>
          <p:cNvPr id="34" name="component-1-surface">
            <a:extLst>
              <a:ext uri="{FF2B5EF4-FFF2-40B4-BE49-F238E27FC236}">
                <a16:creationId xmlns:a16="http://schemas.microsoft.com/office/drawing/2014/main" id="{A860441B-5523-635D-A60F-56E89C3A6C36}"/>
              </a:ext>
            </a:extLst>
          </p:cNvPr>
          <p:cNvSpPr>
            <a:spLocks noGrp="1"/>
          </p:cNvSpPr>
          <p:nvPr/>
        </p:nvSpPr>
        <p:spPr>
          <a:xfrm>
            <a:off x="1028700" y="4767263"/>
            <a:ext cx="1733550" cy="1371600"/>
          </a:xfrm>
          <a:prstGeom prst="roundRect">
            <a:avLst>
              <a:gd name="adj" fmla="val 9722"/>
            </a:avLst>
          </a:prstGeom>
          <a:solidFill>
            <a:srgbClr val="E7F4F8"/>
          </a:solidFill>
          <a:ln w="0">
            <a:solidFill>
              <a:srgbClr val="E7F4F8"/>
            </a:solidFill>
            <a:prstDash val="solid"/>
          </a:ln>
        </p:spPr>
        <p:txBody>
          <a:bodyPr/>
          <a:lstStyle/>
          <a:p>
            <a:endParaRPr lang="he-IL"/>
          </a:p>
        </p:txBody>
      </p:sp>
      <p:sp>
        <p:nvSpPr>
          <p:cNvPr id="41" name="component-1-title">
            <a:extLst>
              <a:ext uri="{FF2B5EF4-FFF2-40B4-BE49-F238E27FC236}">
                <a16:creationId xmlns:a16="http://schemas.microsoft.com/office/drawing/2014/main" id="{3B285EA4-CE83-6E12-01C7-1965A0611E3C}"/>
              </a:ext>
            </a:extLst>
          </p:cNvPr>
          <p:cNvSpPr>
            <a:spLocks noGrp="1"/>
          </p:cNvSpPr>
          <p:nvPr/>
        </p:nvSpPr>
        <p:spPr>
          <a:xfrm>
            <a:off x="1181100" y="4976813"/>
            <a:ext cx="1428750" cy="457200"/>
          </a:xfrm>
          <a:prstGeom prst="rect">
            <a:avLst/>
          </a:prstGeom>
          <a:noFill/>
          <a:ln w="0">
            <a:noFill/>
            <a:prstDash val="solid"/>
          </a:ln>
        </p:spPr>
        <p:txBody>
          <a:bodyPr wrap="square" lIns="0" tIns="0" rIns="0" bIns="0" anchor="t">
            <a:normAutofit/>
          </a:bodyPr>
          <a:lstStyle/>
          <a:p>
            <a:pPr algn="ctr">
              <a:lnSpc>
                <a:spcPct val="105000"/>
              </a:lnSpc>
              <a:buNone/>
              <a:defRPr sz="1500" b="1" i="0">
                <a:solidFill>
                  <a:srgbClr val="18252B"/>
                </a:solidFill>
                <a:latin typeface="Arial"/>
                <a:ea typeface="Arial"/>
                <a:cs typeface="Arial"/>
              </a:defRPr>
            </a:pPr>
            <a:r>
              <a:rPr sz="1500" b="1" i="0">
                <a:solidFill>
                  <a:srgbClr val="18252B"/>
                </a:solidFill>
                <a:latin typeface="Arial"/>
                <a:ea typeface="Arial"/>
                <a:cs typeface="Arial"/>
              </a:rPr>
              <a:t>DHT simulator</a:t>
            </a:r>
          </a:p>
        </p:txBody>
      </p:sp>
      <p:sp>
        <p:nvSpPr>
          <p:cNvPr id="43" name="component-1-detail">
            <a:extLst>
              <a:ext uri="{FF2B5EF4-FFF2-40B4-BE49-F238E27FC236}">
                <a16:creationId xmlns:a16="http://schemas.microsoft.com/office/drawing/2014/main" id="{FA0C955D-3449-67DE-0CC0-6CA14DEA7B09}"/>
              </a:ext>
            </a:extLst>
          </p:cNvPr>
          <p:cNvSpPr>
            <a:spLocks noGrp="1"/>
          </p:cNvSpPr>
          <p:nvPr/>
        </p:nvSpPr>
        <p:spPr>
          <a:xfrm>
            <a:off x="1181100" y="5510213"/>
            <a:ext cx="1428750" cy="514350"/>
          </a:xfrm>
          <a:prstGeom prst="rect">
            <a:avLst/>
          </a:prstGeom>
          <a:noFill/>
          <a:ln w="0">
            <a:noFill/>
            <a:prstDash val="solid"/>
          </a:ln>
        </p:spPr>
        <p:txBody>
          <a:bodyPr wrap="square" lIns="0" tIns="0" rIns="0" bIns="0" anchor="t">
            <a:normAutofit fontScale="87497"/>
          </a:bodyPr>
          <a:lstStyle/>
          <a:p>
            <a:pPr algn="ctr">
              <a:lnSpc>
                <a:spcPct val="105000"/>
              </a:lnSpc>
              <a:buNone/>
              <a:defRPr sz="1125" b="0" i="0">
                <a:solidFill>
                  <a:srgbClr val="5C6A70"/>
                </a:solidFill>
                <a:latin typeface="Arial"/>
                <a:ea typeface="Arial"/>
                <a:cs typeface="Arial"/>
              </a:defRPr>
            </a:pPr>
            <a:r>
              <a:rPr sz="1125" b="0" i="0">
                <a:solidFill>
                  <a:srgbClr val="5C6A70"/>
                </a:solidFill>
                <a:latin typeface="Arial"/>
                <a:ea typeface="Arial"/>
                <a:cs typeface="Arial"/>
              </a:rPr>
              <a:t>Generates temperature and humidity messages for the demo.</a:t>
            </a:r>
          </a:p>
        </p:txBody>
      </p:sp>
      <p:sp>
        <p:nvSpPr>
          <p:cNvPr id="45" name="component-2-number">
            <a:extLst>
              <a:ext uri="{FF2B5EF4-FFF2-40B4-BE49-F238E27FC236}">
                <a16:creationId xmlns:a16="http://schemas.microsoft.com/office/drawing/2014/main" id="{CE41C434-EC34-9A62-0C55-052875AFAD41}"/>
              </a:ext>
            </a:extLst>
          </p:cNvPr>
          <p:cNvSpPr>
            <a:spLocks noGrp="1"/>
          </p:cNvSpPr>
          <p:nvPr/>
        </p:nvSpPr>
        <p:spPr>
          <a:xfrm>
            <a:off x="3769519" y="4076700"/>
            <a:ext cx="552450" cy="552450"/>
          </a:xfrm>
          <a:prstGeom prst="ellipse">
            <a:avLst/>
          </a:prstGeom>
          <a:solidFill>
            <a:srgbClr val="113C52"/>
          </a:solidFill>
          <a:ln w="0">
            <a:noFill/>
            <a:prstDash val="solid"/>
          </a:ln>
        </p:spPr>
        <p:txBody>
          <a:bodyPr wrap="square" lIns="0" tIns="0" rIns="0" bIns="0" anchor="ctr">
            <a:normAutofit/>
          </a:bodyPr>
          <a:lstStyle/>
          <a:p>
            <a:pPr algn="ctr">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2</a:t>
            </a:r>
          </a:p>
        </p:txBody>
      </p:sp>
      <p:sp>
        <p:nvSpPr>
          <p:cNvPr id="47" name="component-2-surface">
            <a:extLst>
              <a:ext uri="{FF2B5EF4-FFF2-40B4-BE49-F238E27FC236}">
                <a16:creationId xmlns:a16="http://schemas.microsoft.com/office/drawing/2014/main" id="{ABB27B7B-B87C-E51B-5312-2848C6C4FB88}"/>
              </a:ext>
            </a:extLst>
          </p:cNvPr>
          <p:cNvSpPr>
            <a:spLocks noGrp="1"/>
          </p:cNvSpPr>
          <p:nvPr/>
        </p:nvSpPr>
        <p:spPr>
          <a:xfrm>
            <a:off x="3200400" y="4767263"/>
            <a:ext cx="1733550" cy="1371600"/>
          </a:xfrm>
          <a:prstGeom prst="roundRect">
            <a:avLst>
              <a:gd name="adj" fmla="val 9722"/>
            </a:avLst>
          </a:prstGeom>
          <a:solidFill>
            <a:srgbClr val="E9EEF0"/>
          </a:solidFill>
          <a:ln w="0">
            <a:solidFill>
              <a:srgbClr val="E9EEF0"/>
            </a:solidFill>
            <a:prstDash val="solid"/>
          </a:ln>
        </p:spPr>
        <p:txBody>
          <a:bodyPr/>
          <a:lstStyle/>
          <a:p>
            <a:endParaRPr lang="he-IL"/>
          </a:p>
        </p:txBody>
      </p:sp>
      <p:sp>
        <p:nvSpPr>
          <p:cNvPr id="49" name="component-2-title">
            <a:extLst>
              <a:ext uri="{FF2B5EF4-FFF2-40B4-BE49-F238E27FC236}">
                <a16:creationId xmlns:a16="http://schemas.microsoft.com/office/drawing/2014/main" id="{844132E0-7B29-A2F0-6A3A-382B13C34D88}"/>
              </a:ext>
            </a:extLst>
          </p:cNvPr>
          <p:cNvSpPr>
            <a:spLocks noGrp="1"/>
          </p:cNvSpPr>
          <p:nvPr/>
        </p:nvSpPr>
        <p:spPr>
          <a:xfrm>
            <a:off x="3352800" y="4976813"/>
            <a:ext cx="1428750" cy="457200"/>
          </a:xfrm>
          <a:prstGeom prst="rect">
            <a:avLst/>
          </a:prstGeom>
          <a:noFill/>
          <a:ln w="0">
            <a:noFill/>
            <a:prstDash val="solid"/>
          </a:ln>
        </p:spPr>
        <p:txBody>
          <a:bodyPr wrap="square" lIns="0" tIns="0" rIns="0" bIns="0" anchor="t">
            <a:normAutofit/>
          </a:bodyPr>
          <a:lstStyle/>
          <a:p>
            <a:pPr algn="ctr">
              <a:lnSpc>
                <a:spcPct val="105000"/>
              </a:lnSpc>
              <a:buNone/>
              <a:defRPr sz="1500" b="1" i="0">
                <a:solidFill>
                  <a:srgbClr val="18252B"/>
                </a:solidFill>
                <a:latin typeface="Arial"/>
                <a:ea typeface="Arial"/>
                <a:cs typeface="Arial"/>
              </a:defRPr>
            </a:pPr>
            <a:r>
              <a:rPr sz="1500" b="1" i="0">
                <a:solidFill>
                  <a:srgbClr val="18252B"/>
                </a:solidFill>
                <a:latin typeface="Arial"/>
                <a:ea typeface="Arial"/>
                <a:cs typeface="Arial"/>
              </a:rPr>
              <a:t>MQTT broker</a:t>
            </a:r>
          </a:p>
        </p:txBody>
      </p:sp>
      <p:sp>
        <p:nvSpPr>
          <p:cNvPr id="51" name="component-2-detail">
            <a:extLst>
              <a:ext uri="{FF2B5EF4-FFF2-40B4-BE49-F238E27FC236}">
                <a16:creationId xmlns:a16="http://schemas.microsoft.com/office/drawing/2014/main" id="{B3A8A9E8-705F-E7D6-83E7-4C2F0E1B7CC2}"/>
              </a:ext>
            </a:extLst>
          </p:cNvPr>
          <p:cNvSpPr>
            <a:spLocks noGrp="1"/>
          </p:cNvSpPr>
          <p:nvPr/>
        </p:nvSpPr>
        <p:spPr>
          <a:xfrm>
            <a:off x="3352800" y="5510213"/>
            <a:ext cx="1428750" cy="514350"/>
          </a:xfrm>
          <a:prstGeom prst="rect">
            <a:avLst/>
          </a:prstGeom>
          <a:noFill/>
          <a:ln w="0">
            <a:noFill/>
            <a:prstDash val="solid"/>
          </a:ln>
        </p:spPr>
        <p:txBody>
          <a:bodyPr wrap="square" lIns="0" tIns="0" rIns="0" bIns="0" anchor="t">
            <a:normAutofit fontScale="95238" lnSpcReduction="10000"/>
          </a:bodyPr>
          <a:lstStyle/>
          <a:p>
            <a:pPr algn="ctr">
              <a:lnSpc>
                <a:spcPct val="105000"/>
              </a:lnSpc>
              <a:buNone/>
              <a:defRPr sz="1125" b="0" i="0">
                <a:solidFill>
                  <a:srgbClr val="5C6A70"/>
                </a:solidFill>
                <a:latin typeface="Arial"/>
                <a:ea typeface="Arial"/>
                <a:cs typeface="Arial"/>
              </a:defRPr>
            </a:pPr>
            <a:r>
              <a:rPr sz="1125" b="0" i="0">
                <a:solidFill>
                  <a:srgbClr val="5C6A70"/>
                </a:solidFill>
                <a:latin typeface="Arial"/>
                <a:ea typeface="Arial"/>
                <a:cs typeface="Arial"/>
              </a:rPr>
              <a:t>Routes measurements and relay states between processes.</a:t>
            </a:r>
          </a:p>
        </p:txBody>
      </p:sp>
      <p:sp>
        <p:nvSpPr>
          <p:cNvPr id="53" name="component-3-number">
            <a:extLst>
              <a:ext uri="{FF2B5EF4-FFF2-40B4-BE49-F238E27FC236}">
                <a16:creationId xmlns:a16="http://schemas.microsoft.com/office/drawing/2014/main" id="{BD028EB2-D468-5DEE-D384-4210FA18CFDD}"/>
              </a:ext>
            </a:extLst>
          </p:cNvPr>
          <p:cNvSpPr>
            <a:spLocks noGrp="1"/>
          </p:cNvSpPr>
          <p:nvPr/>
        </p:nvSpPr>
        <p:spPr>
          <a:xfrm>
            <a:off x="5941219" y="4076700"/>
            <a:ext cx="552450" cy="552450"/>
          </a:xfrm>
          <a:prstGeom prst="ellipse">
            <a:avLst/>
          </a:prstGeom>
          <a:solidFill>
            <a:srgbClr val="4FB49A"/>
          </a:solidFill>
          <a:ln w="0">
            <a:noFill/>
            <a:prstDash val="solid"/>
          </a:ln>
        </p:spPr>
        <p:txBody>
          <a:bodyPr wrap="square" lIns="0" tIns="0" rIns="0" bIns="0" anchor="ctr">
            <a:normAutofit/>
          </a:bodyPr>
          <a:lstStyle/>
          <a:p>
            <a:pPr algn="ctr">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3</a:t>
            </a:r>
          </a:p>
        </p:txBody>
      </p:sp>
      <p:sp>
        <p:nvSpPr>
          <p:cNvPr id="55" name="component-3-surface">
            <a:extLst>
              <a:ext uri="{FF2B5EF4-FFF2-40B4-BE49-F238E27FC236}">
                <a16:creationId xmlns:a16="http://schemas.microsoft.com/office/drawing/2014/main" id="{2C30033A-7A40-B61C-2B57-3F0CED98AAE3}"/>
              </a:ext>
            </a:extLst>
          </p:cNvPr>
          <p:cNvSpPr>
            <a:spLocks noGrp="1"/>
          </p:cNvSpPr>
          <p:nvPr/>
        </p:nvSpPr>
        <p:spPr>
          <a:xfrm>
            <a:off x="5372100" y="4767263"/>
            <a:ext cx="1733550" cy="1371600"/>
          </a:xfrm>
          <a:prstGeom prst="roundRect">
            <a:avLst>
              <a:gd name="adj" fmla="val 9722"/>
            </a:avLst>
          </a:prstGeom>
          <a:solidFill>
            <a:srgbClr val="E4F2EE"/>
          </a:solidFill>
          <a:ln w="0">
            <a:solidFill>
              <a:srgbClr val="E4F2EE"/>
            </a:solidFill>
            <a:prstDash val="solid"/>
          </a:ln>
        </p:spPr>
        <p:txBody>
          <a:bodyPr/>
          <a:lstStyle/>
          <a:p>
            <a:endParaRPr lang="he-IL"/>
          </a:p>
        </p:txBody>
      </p:sp>
      <p:sp>
        <p:nvSpPr>
          <p:cNvPr id="57" name="component-3-title">
            <a:extLst>
              <a:ext uri="{FF2B5EF4-FFF2-40B4-BE49-F238E27FC236}">
                <a16:creationId xmlns:a16="http://schemas.microsoft.com/office/drawing/2014/main" id="{D70DEFFF-6747-2AA0-7FC9-69EB2D27317F}"/>
              </a:ext>
            </a:extLst>
          </p:cNvPr>
          <p:cNvSpPr>
            <a:spLocks noGrp="1"/>
          </p:cNvSpPr>
          <p:nvPr/>
        </p:nvSpPr>
        <p:spPr>
          <a:xfrm>
            <a:off x="5524500" y="4976813"/>
            <a:ext cx="1428750" cy="457200"/>
          </a:xfrm>
          <a:prstGeom prst="rect">
            <a:avLst/>
          </a:prstGeom>
          <a:noFill/>
          <a:ln w="0">
            <a:noFill/>
            <a:prstDash val="solid"/>
          </a:ln>
        </p:spPr>
        <p:txBody>
          <a:bodyPr wrap="square" lIns="0" tIns="0" rIns="0" bIns="0" anchor="t">
            <a:normAutofit fontScale="95238"/>
          </a:bodyPr>
          <a:lstStyle/>
          <a:p>
            <a:pPr algn="ctr">
              <a:lnSpc>
                <a:spcPct val="105000"/>
              </a:lnSpc>
              <a:buNone/>
              <a:defRPr sz="1500" b="1" i="0">
                <a:solidFill>
                  <a:srgbClr val="18252B"/>
                </a:solidFill>
                <a:latin typeface="Arial"/>
                <a:ea typeface="Arial"/>
                <a:cs typeface="Arial"/>
              </a:defRPr>
            </a:pPr>
            <a:r>
              <a:rPr sz="1500" b="1" i="0" dirty="0">
                <a:solidFill>
                  <a:srgbClr val="18252B"/>
                </a:solidFill>
                <a:latin typeface="Arial"/>
                <a:ea typeface="Arial"/>
                <a:cs typeface="Arial"/>
              </a:rPr>
              <a:t>dashboard</a:t>
            </a:r>
          </a:p>
        </p:txBody>
      </p:sp>
      <p:sp>
        <p:nvSpPr>
          <p:cNvPr id="59" name="component-3-detail">
            <a:extLst>
              <a:ext uri="{FF2B5EF4-FFF2-40B4-BE49-F238E27FC236}">
                <a16:creationId xmlns:a16="http://schemas.microsoft.com/office/drawing/2014/main" id="{AEE639C7-9FC1-C97D-24F4-04D063F1D85F}"/>
              </a:ext>
            </a:extLst>
          </p:cNvPr>
          <p:cNvSpPr>
            <a:spLocks noGrp="1"/>
          </p:cNvSpPr>
          <p:nvPr/>
        </p:nvSpPr>
        <p:spPr>
          <a:xfrm>
            <a:off x="5524500" y="5510213"/>
            <a:ext cx="1428750" cy="514350"/>
          </a:xfrm>
          <a:prstGeom prst="rect">
            <a:avLst/>
          </a:prstGeom>
          <a:noFill/>
          <a:ln w="0">
            <a:noFill/>
            <a:prstDash val="solid"/>
          </a:ln>
        </p:spPr>
        <p:txBody>
          <a:bodyPr wrap="square" lIns="0" tIns="0" rIns="0" bIns="0" anchor="t">
            <a:normAutofit fontScale="95238" lnSpcReduction="10000"/>
          </a:bodyPr>
          <a:lstStyle/>
          <a:p>
            <a:pPr algn="ctr">
              <a:lnSpc>
                <a:spcPct val="105000"/>
              </a:lnSpc>
              <a:buNone/>
              <a:defRPr sz="1125" b="0" i="0">
                <a:solidFill>
                  <a:srgbClr val="5C6A70"/>
                </a:solidFill>
                <a:latin typeface="Arial"/>
                <a:ea typeface="Arial"/>
                <a:cs typeface="Arial"/>
              </a:defRPr>
            </a:pPr>
            <a:r>
              <a:rPr sz="1125" b="0" i="0">
                <a:solidFill>
                  <a:srgbClr val="5C6A70"/>
                </a:solidFill>
                <a:latin typeface="Arial"/>
                <a:ea typeface="Arial"/>
                <a:cs typeface="Arial"/>
              </a:rPr>
              <a:t>Parses messages, evaluates thresholds, and shows status.</a:t>
            </a:r>
          </a:p>
        </p:txBody>
      </p:sp>
      <p:sp>
        <p:nvSpPr>
          <p:cNvPr id="61" name="component-4-number">
            <a:extLst>
              <a:ext uri="{FF2B5EF4-FFF2-40B4-BE49-F238E27FC236}">
                <a16:creationId xmlns:a16="http://schemas.microsoft.com/office/drawing/2014/main" id="{C6497B09-F2FF-AAA5-6E7E-527BDE81E5F5}"/>
              </a:ext>
            </a:extLst>
          </p:cNvPr>
          <p:cNvSpPr>
            <a:spLocks noGrp="1"/>
          </p:cNvSpPr>
          <p:nvPr/>
        </p:nvSpPr>
        <p:spPr>
          <a:xfrm>
            <a:off x="8112919" y="4076700"/>
            <a:ext cx="552450" cy="552450"/>
          </a:xfrm>
          <a:prstGeom prst="ellipse">
            <a:avLst/>
          </a:prstGeom>
          <a:solidFill>
            <a:srgbClr val="F2C94C"/>
          </a:solidFill>
          <a:ln w="0">
            <a:noFill/>
            <a:prstDash val="solid"/>
          </a:ln>
        </p:spPr>
        <p:txBody>
          <a:bodyPr wrap="square" lIns="0" tIns="0" rIns="0" bIns="0" anchor="ctr">
            <a:normAutofit/>
          </a:bodyPr>
          <a:lstStyle/>
          <a:p>
            <a:pPr algn="ctr">
              <a:lnSpc>
                <a:spcPct val="102000"/>
              </a:lnSpc>
              <a:buNone/>
              <a:defRPr sz="1500" b="1">
                <a:solidFill>
                  <a:srgbClr val="18252B"/>
                </a:solidFill>
                <a:latin typeface="Arial"/>
                <a:ea typeface="Arial"/>
                <a:cs typeface="Arial"/>
              </a:defRPr>
            </a:pPr>
            <a:r>
              <a:rPr sz="1500" b="1">
                <a:solidFill>
                  <a:srgbClr val="18252B"/>
                </a:solidFill>
                <a:latin typeface="Arial"/>
                <a:ea typeface="Arial"/>
                <a:cs typeface="Arial"/>
              </a:rPr>
              <a:t>4</a:t>
            </a:r>
          </a:p>
        </p:txBody>
      </p:sp>
      <p:sp>
        <p:nvSpPr>
          <p:cNvPr id="63" name="component-4-surface">
            <a:extLst>
              <a:ext uri="{FF2B5EF4-FFF2-40B4-BE49-F238E27FC236}">
                <a16:creationId xmlns:a16="http://schemas.microsoft.com/office/drawing/2014/main" id="{6FED02E3-C28A-3257-A55F-50EDFE112F61}"/>
              </a:ext>
            </a:extLst>
          </p:cNvPr>
          <p:cNvSpPr>
            <a:spLocks noGrp="1"/>
          </p:cNvSpPr>
          <p:nvPr/>
        </p:nvSpPr>
        <p:spPr>
          <a:xfrm>
            <a:off x="7543800" y="4767263"/>
            <a:ext cx="1733550" cy="1371600"/>
          </a:xfrm>
          <a:prstGeom prst="roundRect">
            <a:avLst>
              <a:gd name="adj" fmla="val 9722"/>
            </a:avLst>
          </a:prstGeom>
          <a:solidFill>
            <a:srgbClr val="FFF6D7"/>
          </a:solidFill>
          <a:ln w="0">
            <a:solidFill>
              <a:srgbClr val="FFF6D7"/>
            </a:solidFill>
            <a:prstDash val="solid"/>
          </a:ln>
        </p:spPr>
        <p:txBody>
          <a:bodyPr/>
          <a:lstStyle/>
          <a:p>
            <a:endParaRPr lang="he-IL"/>
          </a:p>
        </p:txBody>
      </p:sp>
      <p:sp>
        <p:nvSpPr>
          <p:cNvPr id="65" name="component-4-title">
            <a:extLst>
              <a:ext uri="{FF2B5EF4-FFF2-40B4-BE49-F238E27FC236}">
                <a16:creationId xmlns:a16="http://schemas.microsoft.com/office/drawing/2014/main" id="{9AB67BCB-555A-FBA7-3BF1-388002A1753E}"/>
              </a:ext>
            </a:extLst>
          </p:cNvPr>
          <p:cNvSpPr>
            <a:spLocks noGrp="1"/>
          </p:cNvSpPr>
          <p:nvPr/>
        </p:nvSpPr>
        <p:spPr>
          <a:xfrm>
            <a:off x="7696200" y="4976813"/>
            <a:ext cx="1428750" cy="457200"/>
          </a:xfrm>
          <a:prstGeom prst="rect">
            <a:avLst/>
          </a:prstGeom>
          <a:noFill/>
          <a:ln w="0">
            <a:noFill/>
            <a:prstDash val="solid"/>
          </a:ln>
        </p:spPr>
        <p:txBody>
          <a:bodyPr wrap="square" lIns="0" tIns="0" rIns="0" bIns="0" anchor="t">
            <a:normAutofit fontScale="95238"/>
          </a:bodyPr>
          <a:lstStyle/>
          <a:p>
            <a:pPr algn="ctr">
              <a:lnSpc>
                <a:spcPct val="105000"/>
              </a:lnSpc>
              <a:buNone/>
              <a:defRPr sz="1500" b="1" i="0">
                <a:solidFill>
                  <a:srgbClr val="18252B"/>
                </a:solidFill>
                <a:latin typeface="Arial"/>
                <a:ea typeface="Arial"/>
                <a:cs typeface="Arial"/>
              </a:defRPr>
            </a:pPr>
            <a:r>
              <a:rPr sz="1500" b="1" i="0">
                <a:solidFill>
                  <a:srgbClr val="18252B"/>
                </a:solidFill>
                <a:latin typeface="Arial"/>
                <a:ea typeface="Arial"/>
                <a:cs typeface="Arial"/>
              </a:rPr>
              <a:t>Relay processes</a:t>
            </a:r>
          </a:p>
        </p:txBody>
      </p:sp>
      <p:sp>
        <p:nvSpPr>
          <p:cNvPr id="67" name="component-4-detail">
            <a:extLst>
              <a:ext uri="{FF2B5EF4-FFF2-40B4-BE49-F238E27FC236}">
                <a16:creationId xmlns:a16="http://schemas.microsoft.com/office/drawing/2014/main" id="{48F643E5-9B9B-1792-508D-852EAB625E40}"/>
              </a:ext>
            </a:extLst>
          </p:cNvPr>
          <p:cNvSpPr>
            <a:spLocks noGrp="1"/>
          </p:cNvSpPr>
          <p:nvPr/>
        </p:nvSpPr>
        <p:spPr>
          <a:xfrm>
            <a:off x="7696200" y="5510213"/>
            <a:ext cx="1428750" cy="514350"/>
          </a:xfrm>
          <a:prstGeom prst="rect">
            <a:avLst/>
          </a:prstGeom>
          <a:noFill/>
          <a:ln w="0">
            <a:noFill/>
            <a:prstDash val="solid"/>
          </a:ln>
        </p:spPr>
        <p:txBody>
          <a:bodyPr wrap="square" lIns="0" tIns="0" rIns="0" bIns="0" anchor="t">
            <a:normAutofit fontScale="95238" lnSpcReduction="10000"/>
          </a:bodyPr>
          <a:lstStyle/>
          <a:p>
            <a:pPr algn="ctr">
              <a:lnSpc>
                <a:spcPct val="105000"/>
              </a:lnSpc>
              <a:buNone/>
              <a:defRPr sz="1125" b="0" i="0">
                <a:solidFill>
                  <a:srgbClr val="5C6A70"/>
                </a:solidFill>
                <a:latin typeface="Arial"/>
                <a:ea typeface="Arial"/>
                <a:cs typeface="Arial"/>
              </a:defRPr>
            </a:pPr>
            <a:r>
              <a:rPr sz="1125" b="0" i="0">
                <a:solidFill>
                  <a:srgbClr val="5C6A70"/>
                </a:solidFill>
                <a:latin typeface="Arial"/>
                <a:ea typeface="Arial"/>
                <a:cs typeface="Arial"/>
              </a:rPr>
              <a:t>Represent the emergency A/C and drain pump outputs.</a:t>
            </a:r>
          </a:p>
        </p:txBody>
      </p:sp>
      <p:sp>
        <p:nvSpPr>
          <p:cNvPr id="69" name="component-5-number">
            <a:extLst>
              <a:ext uri="{FF2B5EF4-FFF2-40B4-BE49-F238E27FC236}">
                <a16:creationId xmlns:a16="http://schemas.microsoft.com/office/drawing/2014/main" id="{CCCD9559-7C67-E4AA-4D1E-CE61B09B2FA7}"/>
              </a:ext>
            </a:extLst>
          </p:cNvPr>
          <p:cNvSpPr>
            <a:spLocks noGrp="1"/>
          </p:cNvSpPr>
          <p:nvPr/>
        </p:nvSpPr>
        <p:spPr>
          <a:xfrm>
            <a:off x="10284619" y="4076700"/>
            <a:ext cx="552450" cy="552450"/>
          </a:xfrm>
          <a:prstGeom prst="ellipse">
            <a:avLst/>
          </a:prstGeom>
          <a:solidFill>
            <a:srgbClr val="E25A60"/>
          </a:solidFill>
          <a:ln w="0">
            <a:noFill/>
            <a:prstDash val="solid"/>
          </a:ln>
        </p:spPr>
        <p:txBody>
          <a:bodyPr wrap="square" lIns="0" tIns="0" rIns="0" bIns="0" anchor="ctr">
            <a:normAutofit/>
          </a:bodyPr>
          <a:lstStyle/>
          <a:p>
            <a:pPr algn="ctr">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5</a:t>
            </a:r>
          </a:p>
        </p:txBody>
      </p:sp>
      <p:sp>
        <p:nvSpPr>
          <p:cNvPr id="71" name="component-5-surface">
            <a:extLst>
              <a:ext uri="{FF2B5EF4-FFF2-40B4-BE49-F238E27FC236}">
                <a16:creationId xmlns:a16="http://schemas.microsoft.com/office/drawing/2014/main" id="{0F9F77E7-937F-B2C3-341F-1A15D2CBBD1C}"/>
              </a:ext>
            </a:extLst>
          </p:cNvPr>
          <p:cNvSpPr>
            <a:spLocks noGrp="1"/>
          </p:cNvSpPr>
          <p:nvPr/>
        </p:nvSpPr>
        <p:spPr>
          <a:xfrm>
            <a:off x="9715500" y="4767263"/>
            <a:ext cx="1733550" cy="1371600"/>
          </a:xfrm>
          <a:prstGeom prst="roundRect">
            <a:avLst>
              <a:gd name="adj" fmla="val 9722"/>
            </a:avLst>
          </a:prstGeom>
          <a:solidFill>
            <a:srgbClr val="FBE8E9"/>
          </a:solidFill>
          <a:ln w="0">
            <a:solidFill>
              <a:srgbClr val="FBE8E9"/>
            </a:solidFill>
            <a:prstDash val="solid"/>
          </a:ln>
        </p:spPr>
        <p:txBody>
          <a:bodyPr/>
          <a:lstStyle/>
          <a:p>
            <a:endParaRPr lang="he-IL"/>
          </a:p>
        </p:txBody>
      </p:sp>
      <p:sp>
        <p:nvSpPr>
          <p:cNvPr id="73" name="component-5-title">
            <a:extLst>
              <a:ext uri="{FF2B5EF4-FFF2-40B4-BE49-F238E27FC236}">
                <a16:creationId xmlns:a16="http://schemas.microsoft.com/office/drawing/2014/main" id="{01ED060D-8A69-EADC-0B83-10DAC901A2A4}"/>
              </a:ext>
            </a:extLst>
          </p:cNvPr>
          <p:cNvSpPr>
            <a:spLocks noGrp="1"/>
          </p:cNvSpPr>
          <p:nvPr/>
        </p:nvSpPr>
        <p:spPr>
          <a:xfrm>
            <a:off x="9867900" y="4976813"/>
            <a:ext cx="1428750" cy="457200"/>
          </a:xfrm>
          <a:prstGeom prst="rect">
            <a:avLst/>
          </a:prstGeom>
          <a:noFill/>
          <a:ln w="0">
            <a:noFill/>
            <a:prstDash val="solid"/>
          </a:ln>
        </p:spPr>
        <p:txBody>
          <a:bodyPr wrap="square" lIns="0" tIns="0" rIns="0" bIns="0" anchor="t">
            <a:normAutofit/>
          </a:bodyPr>
          <a:lstStyle/>
          <a:p>
            <a:pPr algn="ctr">
              <a:lnSpc>
                <a:spcPct val="105000"/>
              </a:lnSpc>
              <a:buNone/>
              <a:defRPr sz="1500" b="1" i="0">
                <a:solidFill>
                  <a:srgbClr val="18252B"/>
                </a:solidFill>
                <a:latin typeface="Arial"/>
                <a:ea typeface="Arial"/>
                <a:cs typeface="Arial"/>
              </a:defRPr>
            </a:pPr>
            <a:r>
              <a:rPr sz="1500" b="1" i="0">
                <a:solidFill>
                  <a:srgbClr val="18252B"/>
                </a:solidFill>
                <a:latin typeface="Arial"/>
                <a:ea typeface="Arial"/>
                <a:cs typeface="Arial"/>
              </a:rPr>
              <a:t>Alarm process</a:t>
            </a:r>
          </a:p>
        </p:txBody>
      </p:sp>
      <p:sp>
        <p:nvSpPr>
          <p:cNvPr id="75" name="component-5-detail">
            <a:extLst>
              <a:ext uri="{FF2B5EF4-FFF2-40B4-BE49-F238E27FC236}">
                <a16:creationId xmlns:a16="http://schemas.microsoft.com/office/drawing/2014/main" id="{0703AADE-E30E-942A-9BFF-C8AAC7658A7A}"/>
              </a:ext>
            </a:extLst>
          </p:cNvPr>
          <p:cNvSpPr>
            <a:spLocks noGrp="1"/>
          </p:cNvSpPr>
          <p:nvPr/>
        </p:nvSpPr>
        <p:spPr>
          <a:xfrm>
            <a:off x="9867900" y="5510213"/>
            <a:ext cx="1428750" cy="514350"/>
          </a:xfrm>
          <a:prstGeom prst="rect">
            <a:avLst/>
          </a:prstGeom>
          <a:noFill/>
          <a:ln w="0">
            <a:noFill/>
            <a:prstDash val="solid"/>
          </a:ln>
        </p:spPr>
        <p:txBody>
          <a:bodyPr wrap="square" lIns="0" tIns="0" rIns="0" bIns="0" anchor="t">
            <a:normAutofit fontScale="95238" lnSpcReduction="10000"/>
          </a:bodyPr>
          <a:lstStyle/>
          <a:p>
            <a:pPr algn="ctr">
              <a:lnSpc>
                <a:spcPct val="105000"/>
              </a:lnSpc>
              <a:buNone/>
              <a:defRPr sz="1125" b="0" i="0">
                <a:solidFill>
                  <a:srgbClr val="5C6A70"/>
                </a:solidFill>
                <a:latin typeface="Arial"/>
                <a:ea typeface="Arial"/>
                <a:cs typeface="Arial"/>
              </a:defRPr>
            </a:pPr>
            <a:r>
              <a:rPr sz="1125" b="0" i="0">
                <a:solidFill>
                  <a:srgbClr val="5C6A70"/>
                </a:solidFill>
                <a:latin typeface="Arial"/>
                <a:ea typeface="Arial"/>
                <a:cs typeface="Arial"/>
              </a:rPr>
              <a:t>Makes emergency state visible and audible.</a:t>
            </a:r>
          </a:p>
        </p:txBody>
      </p:sp>
    </p:spTree>
    <p:extLst>
      <p:ext uri="{BB962C8B-B14F-4D97-AF65-F5344CB8AC3E}">
        <p14:creationId xmlns:p14="http://schemas.microsoft.com/office/powerpoint/2010/main" val="1213230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7"/>
        </a:solidFill>
        <a:effectLst/>
      </p:bgPr>
    </p:bg>
    <p:spTree>
      <p:nvGrpSpPr>
        <p:cNvPr id="1" name=""/>
        <p:cNvGrpSpPr/>
        <p:nvPr/>
      </p:nvGrpSpPr>
      <p:grpSpPr>
        <a:xfrm>
          <a:off x="0" y="0"/>
          <a:ext cx="0" cy="0"/>
          <a:chOff x="0" y="0"/>
          <a:chExt cx="0" cy="0"/>
        </a:xfrm>
      </p:grpSpPr>
      <p:sp>
        <p:nvSpPr>
          <p:cNvPr id="36" name="6-title-rule">
            <a:extLst>
              <a:ext uri="{FF2B5EF4-FFF2-40B4-BE49-F238E27FC236}">
                <a16:creationId xmlns:a16="http://schemas.microsoft.com/office/drawing/2014/main" id="{4C9A93F4-18AF-41EE-9A25-CF56746DCDDA}"/>
              </a:ext>
            </a:extLst>
          </p:cNvPr>
          <p:cNvSpPr>
            <a:spLocks noGrp="1"/>
          </p:cNvSpPr>
          <p:nvPr/>
        </p:nvSpPr>
        <p:spPr>
          <a:xfrm>
            <a:off x="685800" y="552450"/>
            <a:ext cx="0" cy="400050"/>
          </a:xfrm>
          <a:prstGeom prst="line">
            <a:avLst/>
          </a:prstGeom>
          <a:noFill/>
          <a:ln w="19050">
            <a:solidFill>
              <a:srgbClr val="1FA9D2"/>
            </a:solidFill>
            <a:prstDash val="solid"/>
          </a:ln>
        </p:spPr>
        <p:txBody>
          <a:bodyPr/>
          <a:lstStyle/>
          <a:p>
            <a:endParaRPr lang="he-IL"/>
          </a:p>
        </p:txBody>
      </p:sp>
      <p:sp>
        <p:nvSpPr>
          <p:cNvPr id="2" name="6-title">
            <a:extLst>
              <a:ext uri="{FF2B5EF4-FFF2-40B4-BE49-F238E27FC236}">
                <a16:creationId xmlns:a16="http://schemas.microsoft.com/office/drawing/2014/main" id="{54ADAC51-6011-4ACB-8080-683F1B05CDFC}"/>
              </a:ext>
            </a:extLst>
          </p:cNvPr>
          <p:cNvSpPr>
            <a:spLocks noGrp="1"/>
          </p:cNvSpPr>
          <p:nvPr/>
        </p:nvSpPr>
        <p:spPr>
          <a:xfrm>
            <a:off x="914400" y="457200"/>
            <a:ext cx="9620250" cy="609600"/>
          </a:xfrm>
          <a:prstGeom prst="rect">
            <a:avLst/>
          </a:prstGeom>
          <a:noFill/>
          <a:ln w="0">
            <a:noFill/>
            <a:prstDash val="solid"/>
          </a:ln>
        </p:spPr>
        <p:txBody>
          <a:bodyPr wrap="square" lIns="0" tIns="0" rIns="0" bIns="0" anchor="t">
            <a:normAutofit/>
          </a:bodyPr>
          <a:lstStyle/>
          <a:p>
            <a:pPr algn="l">
              <a:lnSpc>
                <a:spcPct val="105000"/>
              </a:lnSpc>
              <a:buNone/>
              <a:defRPr sz="2925" b="0" i="0">
                <a:solidFill>
                  <a:srgbClr val="18252B"/>
                </a:solidFill>
                <a:latin typeface="Arial"/>
                <a:ea typeface="Arial"/>
                <a:cs typeface="Arial"/>
              </a:defRPr>
            </a:pPr>
            <a:r>
              <a:rPr sz="2925" b="0" i="0">
                <a:solidFill>
                  <a:srgbClr val="18252B"/>
                </a:solidFill>
                <a:latin typeface="Arial"/>
                <a:ea typeface="Arial"/>
                <a:cs typeface="Arial"/>
              </a:rPr>
              <a:t>Emergency response sequence</a:t>
            </a:r>
          </a:p>
        </p:txBody>
      </p:sp>
      <p:sp>
        <p:nvSpPr>
          <p:cNvPr id="3" name="6-subtitle">
            <a:extLst>
              <a:ext uri="{FF2B5EF4-FFF2-40B4-BE49-F238E27FC236}">
                <a16:creationId xmlns:a16="http://schemas.microsoft.com/office/drawing/2014/main" id="{78A56B87-80D1-4DDA-A94A-AAE8BA6DAC20}"/>
              </a:ext>
            </a:extLst>
          </p:cNvPr>
          <p:cNvSpPr>
            <a:spLocks noGrp="1"/>
          </p:cNvSpPr>
          <p:nvPr/>
        </p:nvSpPr>
        <p:spPr>
          <a:xfrm>
            <a:off x="933450" y="1066800"/>
            <a:ext cx="10001250" cy="342900"/>
          </a:xfrm>
          <a:prstGeom prst="rect">
            <a:avLst/>
          </a:prstGeom>
          <a:noFill/>
          <a:ln w="0">
            <a:noFill/>
            <a:prstDash val="solid"/>
          </a:ln>
        </p:spPr>
        <p:txBody>
          <a:bodyPr wrap="square" lIns="0" tIns="0" rIns="0" bIns="0" anchor="t">
            <a:normAutofit/>
          </a:bodyPr>
          <a:lstStyle/>
          <a:p>
            <a:pPr algn="l">
              <a:lnSpc>
                <a:spcPct val="105000"/>
              </a:lnSpc>
              <a:buNone/>
              <a:defRPr sz="1350" b="0" i="0">
                <a:solidFill>
                  <a:srgbClr val="5C6A70"/>
                </a:solidFill>
                <a:latin typeface="Arial"/>
                <a:ea typeface="Arial"/>
                <a:cs typeface="Arial"/>
              </a:defRPr>
            </a:pPr>
            <a:r>
              <a:rPr sz="1350" b="0" i="0">
                <a:solidFill>
                  <a:srgbClr val="5C6A70"/>
                </a:solidFill>
                <a:latin typeface="Arial"/>
                <a:ea typeface="Arial"/>
                <a:cs typeface="Arial"/>
              </a:rPr>
              <a:t>The control path is short enough to follow from one reading to one visible action</a:t>
            </a:r>
          </a:p>
        </p:txBody>
      </p:sp>
      <p:sp>
        <p:nvSpPr>
          <p:cNvPr id="4" name="6-folio">
            <a:extLst>
              <a:ext uri="{FF2B5EF4-FFF2-40B4-BE49-F238E27FC236}">
                <a16:creationId xmlns:a16="http://schemas.microsoft.com/office/drawing/2014/main" id="{F83C6B21-8E83-4C94-9524-386AFA033D7E}"/>
              </a:ext>
            </a:extLst>
          </p:cNvPr>
          <p:cNvSpPr>
            <a:spLocks noGrp="1"/>
          </p:cNvSpPr>
          <p:nvPr/>
        </p:nvSpPr>
        <p:spPr>
          <a:xfrm>
            <a:off x="11239500" y="438150"/>
            <a:ext cx="419100" cy="228600"/>
          </a:xfrm>
          <a:prstGeom prst="rect">
            <a:avLst/>
          </a:prstGeom>
          <a:noFill/>
          <a:ln w="0">
            <a:noFill/>
            <a:prstDash val="solid"/>
          </a:ln>
        </p:spPr>
        <p:txBody>
          <a:bodyPr wrap="square" lIns="0" tIns="0" rIns="0" bIns="0" anchor="t">
            <a:normAutofit/>
          </a:bodyPr>
          <a:lstStyle/>
          <a:p>
            <a:pPr algn="r">
              <a:lnSpc>
                <a:spcPct val="105000"/>
              </a:lnSpc>
              <a:buNone/>
              <a:defRPr sz="1200" b="0" i="0">
                <a:solidFill>
                  <a:srgbClr val="5C6A70"/>
                </a:solidFill>
                <a:latin typeface="Arial"/>
                <a:ea typeface="Arial"/>
                <a:cs typeface="Arial"/>
              </a:defRPr>
            </a:pPr>
            <a:r>
              <a:rPr sz="1200" b="0" i="0">
                <a:solidFill>
                  <a:srgbClr val="5C6A70"/>
                </a:solidFill>
                <a:latin typeface="Arial"/>
                <a:ea typeface="Arial"/>
                <a:cs typeface="Arial"/>
              </a:rPr>
              <a:t>06</a:t>
            </a:r>
          </a:p>
        </p:txBody>
      </p:sp>
      <p:sp>
        <p:nvSpPr>
          <p:cNvPr id="5" name="sequence-spine">
            <a:extLst>
              <a:ext uri="{FF2B5EF4-FFF2-40B4-BE49-F238E27FC236}">
                <a16:creationId xmlns:a16="http://schemas.microsoft.com/office/drawing/2014/main" id="{2CDF83E0-4C9A-44CC-A0F7-47560DD4D89B}"/>
              </a:ext>
            </a:extLst>
          </p:cNvPr>
          <p:cNvSpPr>
            <a:spLocks noGrp="1"/>
          </p:cNvSpPr>
          <p:nvPr/>
        </p:nvSpPr>
        <p:spPr>
          <a:xfrm>
            <a:off x="1371600" y="1790700"/>
            <a:ext cx="0" cy="3676650"/>
          </a:xfrm>
          <a:prstGeom prst="line">
            <a:avLst/>
          </a:prstGeom>
          <a:noFill/>
          <a:ln w="28575">
            <a:solidFill>
              <a:srgbClr val="8CC9DB"/>
            </a:solidFill>
            <a:prstDash val="solid"/>
          </a:ln>
        </p:spPr>
        <p:txBody>
          <a:bodyPr/>
          <a:lstStyle/>
          <a:p>
            <a:endParaRPr lang="he-IL"/>
          </a:p>
        </p:txBody>
      </p:sp>
      <p:sp>
        <p:nvSpPr>
          <p:cNvPr id="6" name="sequence-1-number">
            <a:extLst>
              <a:ext uri="{FF2B5EF4-FFF2-40B4-BE49-F238E27FC236}">
                <a16:creationId xmlns:a16="http://schemas.microsoft.com/office/drawing/2014/main" id="{65F347AD-2CE7-47DD-95F0-B28FBFF4010D}"/>
              </a:ext>
            </a:extLst>
          </p:cNvPr>
          <p:cNvSpPr>
            <a:spLocks noGrp="1"/>
          </p:cNvSpPr>
          <p:nvPr/>
        </p:nvSpPr>
        <p:spPr>
          <a:xfrm>
            <a:off x="1104900" y="1714500"/>
            <a:ext cx="533400" cy="533400"/>
          </a:xfrm>
          <a:prstGeom prst="ellipse">
            <a:avLst/>
          </a:prstGeom>
          <a:solidFill>
            <a:srgbClr val="1FA9D2"/>
          </a:solidFill>
          <a:ln w="0">
            <a:noFill/>
            <a:prstDash val="solid"/>
          </a:ln>
        </p:spPr>
        <p:txBody>
          <a:bodyPr wrap="square" lIns="0" tIns="0" rIns="0" bIns="0" anchor="ctr">
            <a:normAutofit/>
          </a:bodyPr>
          <a:lstStyle/>
          <a:p>
            <a:pPr algn="ctr">
              <a:lnSpc>
                <a:spcPct val="102000"/>
              </a:lnSpc>
              <a:buNone/>
              <a:defRPr sz="1200" b="1">
                <a:solidFill>
                  <a:srgbClr val="FFFFFF"/>
                </a:solidFill>
                <a:latin typeface="Arial"/>
                <a:ea typeface="Arial"/>
                <a:cs typeface="Arial"/>
              </a:defRPr>
            </a:pPr>
            <a:r>
              <a:rPr sz="1200" b="1">
                <a:solidFill>
                  <a:srgbClr val="FFFFFF"/>
                </a:solidFill>
                <a:latin typeface="Arial"/>
                <a:ea typeface="Arial"/>
                <a:cs typeface="Arial"/>
              </a:rPr>
              <a:t>01</a:t>
            </a:r>
          </a:p>
        </p:txBody>
      </p:sp>
      <p:sp>
        <p:nvSpPr>
          <p:cNvPr id="7" name="sequence-1-title">
            <a:extLst>
              <a:ext uri="{FF2B5EF4-FFF2-40B4-BE49-F238E27FC236}">
                <a16:creationId xmlns:a16="http://schemas.microsoft.com/office/drawing/2014/main" id="{23383CB2-4678-4040-8921-C2B78A99FB95}"/>
              </a:ext>
            </a:extLst>
          </p:cNvPr>
          <p:cNvSpPr>
            <a:spLocks noGrp="1"/>
          </p:cNvSpPr>
          <p:nvPr/>
        </p:nvSpPr>
        <p:spPr>
          <a:xfrm>
            <a:off x="1866900" y="1733550"/>
            <a:ext cx="2000250" cy="266700"/>
          </a:xfrm>
          <a:prstGeom prst="rect">
            <a:avLst/>
          </a:prstGeom>
          <a:noFill/>
          <a:ln w="0">
            <a:noFill/>
            <a:prstDash val="solid"/>
          </a:ln>
        </p:spPr>
        <p:txBody>
          <a:bodyPr wrap="square" lIns="0" tIns="0" rIns="0" bIns="0" anchor="t">
            <a:normAutofit/>
          </a:bodyPr>
          <a:lstStyle/>
          <a:p>
            <a:pPr algn="l">
              <a:lnSpc>
                <a:spcPct val="105000"/>
              </a:lnSpc>
              <a:buNone/>
              <a:defRPr sz="1575" b="1" i="0">
                <a:solidFill>
                  <a:srgbClr val="18252B"/>
                </a:solidFill>
                <a:latin typeface="Arial"/>
                <a:ea typeface="Arial"/>
                <a:cs typeface="Arial"/>
              </a:defRPr>
            </a:pPr>
            <a:r>
              <a:rPr sz="1575" b="1" i="0">
                <a:solidFill>
                  <a:srgbClr val="18252B"/>
                </a:solidFill>
                <a:latin typeface="Arial"/>
                <a:ea typeface="Arial"/>
                <a:cs typeface="Arial"/>
              </a:rPr>
              <a:t>Timer tick</a:t>
            </a:r>
          </a:p>
        </p:txBody>
      </p:sp>
      <p:sp>
        <p:nvSpPr>
          <p:cNvPr id="8" name="sequence-1-body">
            <a:extLst>
              <a:ext uri="{FF2B5EF4-FFF2-40B4-BE49-F238E27FC236}">
                <a16:creationId xmlns:a16="http://schemas.microsoft.com/office/drawing/2014/main" id="{210126A2-3F66-4534-850B-135C4D1DC7C5}"/>
              </a:ext>
            </a:extLst>
          </p:cNvPr>
          <p:cNvSpPr>
            <a:spLocks noGrp="1"/>
          </p:cNvSpPr>
          <p:nvPr/>
        </p:nvSpPr>
        <p:spPr>
          <a:xfrm>
            <a:off x="4095750" y="1733550"/>
            <a:ext cx="4286250" cy="361950"/>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5C6A70"/>
                </a:solidFill>
                <a:latin typeface="Arial"/>
                <a:ea typeface="Arial"/>
                <a:cs typeface="Arial"/>
              </a:defRPr>
            </a:pPr>
            <a:r>
              <a:rPr sz="1275" b="0" i="0">
                <a:solidFill>
                  <a:srgbClr val="5C6A70"/>
                </a:solidFill>
                <a:latin typeface="Arial"/>
                <a:ea typeface="Arial"/>
                <a:cs typeface="Arial"/>
              </a:rPr>
              <a:t>The 9-second QTimer requests the next simulated reading.</a:t>
            </a:r>
          </a:p>
        </p:txBody>
      </p:sp>
      <p:sp>
        <p:nvSpPr>
          <p:cNvPr id="9" name="sequence-1-connector">
            <a:extLst>
              <a:ext uri="{FF2B5EF4-FFF2-40B4-BE49-F238E27FC236}">
                <a16:creationId xmlns:a16="http://schemas.microsoft.com/office/drawing/2014/main" id="{5FE992C7-E2DA-40C1-ACA1-0649FEE353BB}"/>
              </a:ext>
            </a:extLst>
          </p:cNvPr>
          <p:cNvSpPr>
            <a:spLocks noGrp="1"/>
          </p:cNvSpPr>
          <p:nvPr/>
        </p:nvSpPr>
        <p:spPr>
          <a:xfrm>
            <a:off x="1371600" y="2247900"/>
            <a:ext cx="0" cy="85725"/>
          </a:xfrm>
          <a:prstGeom prst="line">
            <a:avLst/>
          </a:prstGeom>
          <a:noFill/>
          <a:ln w="19050">
            <a:solidFill>
              <a:srgbClr val="8CC9DB"/>
            </a:solidFill>
            <a:prstDash val="solid"/>
          </a:ln>
        </p:spPr>
        <p:txBody>
          <a:bodyPr/>
          <a:lstStyle/>
          <a:p>
            <a:endParaRPr lang="he-IL"/>
          </a:p>
        </p:txBody>
      </p:sp>
      <p:sp>
        <p:nvSpPr>
          <p:cNvPr id="10" name="sequence-2-number">
            <a:extLst>
              <a:ext uri="{FF2B5EF4-FFF2-40B4-BE49-F238E27FC236}">
                <a16:creationId xmlns:a16="http://schemas.microsoft.com/office/drawing/2014/main" id="{2C4CB168-AB2C-467F-B5BC-CDBDC0BA96F8}"/>
              </a:ext>
            </a:extLst>
          </p:cNvPr>
          <p:cNvSpPr>
            <a:spLocks noGrp="1"/>
          </p:cNvSpPr>
          <p:nvPr/>
        </p:nvSpPr>
        <p:spPr>
          <a:xfrm>
            <a:off x="1104900" y="2333625"/>
            <a:ext cx="533400" cy="533400"/>
          </a:xfrm>
          <a:prstGeom prst="ellipse">
            <a:avLst/>
          </a:prstGeom>
          <a:solidFill>
            <a:srgbClr val="1FA9D2"/>
          </a:solidFill>
          <a:ln w="0">
            <a:noFill/>
            <a:prstDash val="solid"/>
          </a:ln>
        </p:spPr>
        <p:txBody>
          <a:bodyPr wrap="square" lIns="0" tIns="0" rIns="0" bIns="0" anchor="ctr">
            <a:normAutofit/>
          </a:bodyPr>
          <a:lstStyle/>
          <a:p>
            <a:pPr algn="ctr">
              <a:lnSpc>
                <a:spcPct val="102000"/>
              </a:lnSpc>
              <a:buNone/>
              <a:defRPr sz="1200" b="1">
                <a:solidFill>
                  <a:srgbClr val="FFFFFF"/>
                </a:solidFill>
                <a:latin typeface="Arial"/>
                <a:ea typeface="Arial"/>
                <a:cs typeface="Arial"/>
              </a:defRPr>
            </a:pPr>
            <a:r>
              <a:rPr sz="1200" b="1">
                <a:solidFill>
                  <a:srgbClr val="FFFFFF"/>
                </a:solidFill>
                <a:latin typeface="Arial"/>
                <a:ea typeface="Arial"/>
                <a:cs typeface="Arial"/>
              </a:rPr>
              <a:t>02</a:t>
            </a:r>
          </a:p>
        </p:txBody>
      </p:sp>
      <p:sp>
        <p:nvSpPr>
          <p:cNvPr id="11" name="sequence-2-title">
            <a:extLst>
              <a:ext uri="{FF2B5EF4-FFF2-40B4-BE49-F238E27FC236}">
                <a16:creationId xmlns:a16="http://schemas.microsoft.com/office/drawing/2014/main" id="{632576D2-B03C-41CA-9806-EA4D6B352199}"/>
              </a:ext>
            </a:extLst>
          </p:cNvPr>
          <p:cNvSpPr>
            <a:spLocks noGrp="1"/>
          </p:cNvSpPr>
          <p:nvPr/>
        </p:nvSpPr>
        <p:spPr>
          <a:xfrm>
            <a:off x="1866900" y="2352675"/>
            <a:ext cx="2000250" cy="266700"/>
          </a:xfrm>
          <a:prstGeom prst="rect">
            <a:avLst/>
          </a:prstGeom>
          <a:noFill/>
          <a:ln w="0">
            <a:noFill/>
            <a:prstDash val="solid"/>
          </a:ln>
        </p:spPr>
        <p:txBody>
          <a:bodyPr wrap="square" lIns="0" tIns="0" rIns="0" bIns="0" anchor="t">
            <a:normAutofit/>
          </a:bodyPr>
          <a:lstStyle/>
          <a:p>
            <a:pPr algn="l">
              <a:lnSpc>
                <a:spcPct val="105000"/>
              </a:lnSpc>
              <a:buNone/>
              <a:defRPr sz="1575" b="1" i="0">
                <a:solidFill>
                  <a:srgbClr val="18252B"/>
                </a:solidFill>
                <a:latin typeface="Arial"/>
                <a:ea typeface="Arial"/>
                <a:cs typeface="Arial"/>
              </a:defRPr>
            </a:pPr>
            <a:r>
              <a:rPr sz="1575" b="1" i="0">
                <a:solidFill>
                  <a:srgbClr val="18252B"/>
                </a:solidFill>
                <a:latin typeface="Arial"/>
                <a:ea typeface="Arial"/>
                <a:cs typeface="Arial"/>
              </a:rPr>
              <a:t>DHT publish</a:t>
            </a:r>
          </a:p>
        </p:txBody>
      </p:sp>
      <p:sp>
        <p:nvSpPr>
          <p:cNvPr id="12" name="sequence-2-body">
            <a:extLst>
              <a:ext uri="{FF2B5EF4-FFF2-40B4-BE49-F238E27FC236}">
                <a16:creationId xmlns:a16="http://schemas.microsoft.com/office/drawing/2014/main" id="{31C20DD9-0416-4561-8AA0-D43EE8DF548C}"/>
              </a:ext>
            </a:extLst>
          </p:cNvPr>
          <p:cNvSpPr>
            <a:spLocks noGrp="1"/>
          </p:cNvSpPr>
          <p:nvPr/>
        </p:nvSpPr>
        <p:spPr>
          <a:xfrm>
            <a:off x="4095750" y="2352675"/>
            <a:ext cx="4286250" cy="361950"/>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5C6A70"/>
                </a:solidFill>
                <a:latin typeface="Arial"/>
                <a:ea typeface="Arial"/>
                <a:cs typeface="Arial"/>
              </a:defRPr>
            </a:pPr>
            <a:r>
              <a:rPr sz="1275" b="0" i="0">
                <a:solidFill>
                  <a:srgbClr val="5C6A70"/>
                </a:solidFill>
                <a:latin typeface="Arial"/>
                <a:ea typeface="Arial"/>
                <a:cs typeface="Arial"/>
              </a:rPr>
              <a:t>A text payload carries temperature and humidity values.</a:t>
            </a:r>
          </a:p>
        </p:txBody>
      </p:sp>
      <p:sp>
        <p:nvSpPr>
          <p:cNvPr id="13" name="sequence-2-connector">
            <a:extLst>
              <a:ext uri="{FF2B5EF4-FFF2-40B4-BE49-F238E27FC236}">
                <a16:creationId xmlns:a16="http://schemas.microsoft.com/office/drawing/2014/main" id="{DD58AAD2-B90C-49D0-8AF1-A44A27E8A31C}"/>
              </a:ext>
            </a:extLst>
          </p:cNvPr>
          <p:cNvSpPr>
            <a:spLocks noGrp="1"/>
          </p:cNvSpPr>
          <p:nvPr/>
        </p:nvSpPr>
        <p:spPr>
          <a:xfrm>
            <a:off x="1371600" y="2867025"/>
            <a:ext cx="0" cy="85725"/>
          </a:xfrm>
          <a:prstGeom prst="line">
            <a:avLst/>
          </a:prstGeom>
          <a:noFill/>
          <a:ln w="19050">
            <a:solidFill>
              <a:srgbClr val="8CC9DB"/>
            </a:solidFill>
            <a:prstDash val="solid"/>
          </a:ln>
        </p:spPr>
        <p:txBody>
          <a:bodyPr/>
          <a:lstStyle/>
          <a:p>
            <a:endParaRPr lang="he-IL"/>
          </a:p>
        </p:txBody>
      </p:sp>
      <p:sp>
        <p:nvSpPr>
          <p:cNvPr id="14" name="sequence-3-number">
            <a:extLst>
              <a:ext uri="{FF2B5EF4-FFF2-40B4-BE49-F238E27FC236}">
                <a16:creationId xmlns:a16="http://schemas.microsoft.com/office/drawing/2014/main" id="{18EB5D58-99B6-4412-B8CC-720A34BC0761}"/>
              </a:ext>
            </a:extLst>
          </p:cNvPr>
          <p:cNvSpPr>
            <a:spLocks noGrp="1"/>
          </p:cNvSpPr>
          <p:nvPr/>
        </p:nvSpPr>
        <p:spPr>
          <a:xfrm>
            <a:off x="1104900" y="2952750"/>
            <a:ext cx="533400" cy="533400"/>
          </a:xfrm>
          <a:prstGeom prst="ellipse">
            <a:avLst/>
          </a:prstGeom>
          <a:solidFill>
            <a:srgbClr val="1FA9D2"/>
          </a:solidFill>
          <a:ln w="0">
            <a:noFill/>
            <a:prstDash val="solid"/>
          </a:ln>
        </p:spPr>
        <p:txBody>
          <a:bodyPr wrap="square" lIns="0" tIns="0" rIns="0" bIns="0" anchor="ctr">
            <a:normAutofit/>
          </a:bodyPr>
          <a:lstStyle/>
          <a:p>
            <a:pPr algn="ctr">
              <a:lnSpc>
                <a:spcPct val="102000"/>
              </a:lnSpc>
              <a:buNone/>
              <a:defRPr sz="1200" b="1">
                <a:solidFill>
                  <a:srgbClr val="FFFFFF"/>
                </a:solidFill>
                <a:latin typeface="Arial"/>
                <a:ea typeface="Arial"/>
                <a:cs typeface="Arial"/>
              </a:defRPr>
            </a:pPr>
            <a:r>
              <a:rPr sz="1200" b="1">
                <a:solidFill>
                  <a:srgbClr val="FFFFFF"/>
                </a:solidFill>
                <a:latin typeface="Arial"/>
                <a:ea typeface="Arial"/>
                <a:cs typeface="Arial"/>
              </a:rPr>
              <a:t>03</a:t>
            </a:r>
          </a:p>
        </p:txBody>
      </p:sp>
      <p:sp>
        <p:nvSpPr>
          <p:cNvPr id="15" name="sequence-3-title">
            <a:extLst>
              <a:ext uri="{FF2B5EF4-FFF2-40B4-BE49-F238E27FC236}">
                <a16:creationId xmlns:a16="http://schemas.microsoft.com/office/drawing/2014/main" id="{985EFBBE-6154-43BA-8FD7-D1757EE8E446}"/>
              </a:ext>
            </a:extLst>
          </p:cNvPr>
          <p:cNvSpPr>
            <a:spLocks noGrp="1"/>
          </p:cNvSpPr>
          <p:nvPr/>
        </p:nvSpPr>
        <p:spPr>
          <a:xfrm>
            <a:off x="1866900" y="2971800"/>
            <a:ext cx="2000250" cy="266700"/>
          </a:xfrm>
          <a:prstGeom prst="rect">
            <a:avLst/>
          </a:prstGeom>
          <a:noFill/>
          <a:ln w="0">
            <a:noFill/>
            <a:prstDash val="solid"/>
          </a:ln>
        </p:spPr>
        <p:txBody>
          <a:bodyPr wrap="square" lIns="0" tIns="0" rIns="0" bIns="0" anchor="t">
            <a:normAutofit/>
          </a:bodyPr>
          <a:lstStyle/>
          <a:p>
            <a:pPr algn="l">
              <a:lnSpc>
                <a:spcPct val="105000"/>
              </a:lnSpc>
              <a:buNone/>
              <a:defRPr sz="1575" b="1" i="0">
                <a:solidFill>
                  <a:srgbClr val="18252B"/>
                </a:solidFill>
                <a:latin typeface="Arial"/>
                <a:ea typeface="Arial"/>
                <a:cs typeface="Arial"/>
              </a:defRPr>
            </a:pPr>
            <a:r>
              <a:rPr sz="1575" b="1" i="0">
                <a:solidFill>
                  <a:srgbClr val="18252B"/>
                </a:solidFill>
                <a:latin typeface="Arial"/>
                <a:ea typeface="Arial"/>
                <a:cs typeface="Arial"/>
              </a:rPr>
              <a:t>Regex parse</a:t>
            </a:r>
          </a:p>
        </p:txBody>
      </p:sp>
      <p:sp>
        <p:nvSpPr>
          <p:cNvPr id="16" name="sequence-3-body">
            <a:extLst>
              <a:ext uri="{FF2B5EF4-FFF2-40B4-BE49-F238E27FC236}">
                <a16:creationId xmlns:a16="http://schemas.microsoft.com/office/drawing/2014/main" id="{E2830A5D-7B21-4B87-A38F-594D07101E6F}"/>
              </a:ext>
            </a:extLst>
          </p:cNvPr>
          <p:cNvSpPr>
            <a:spLocks noGrp="1"/>
          </p:cNvSpPr>
          <p:nvPr/>
        </p:nvSpPr>
        <p:spPr>
          <a:xfrm>
            <a:off x="4095750" y="2971800"/>
            <a:ext cx="4286250" cy="361950"/>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5C6A70"/>
                </a:solidFill>
                <a:latin typeface="Arial"/>
                <a:ea typeface="Arial"/>
                <a:cs typeface="Arial"/>
              </a:defRPr>
            </a:pPr>
            <a:r>
              <a:rPr sz="1275" b="0" i="0">
                <a:solidFill>
                  <a:srgbClr val="5C6A70"/>
                </a:solidFill>
                <a:latin typeface="Arial"/>
                <a:ea typeface="Arial"/>
                <a:cs typeface="Arial"/>
              </a:rPr>
              <a:t>The dashboard extracts both numbers from the payload.</a:t>
            </a:r>
          </a:p>
        </p:txBody>
      </p:sp>
      <p:sp>
        <p:nvSpPr>
          <p:cNvPr id="17" name="sequence-3-connector">
            <a:extLst>
              <a:ext uri="{FF2B5EF4-FFF2-40B4-BE49-F238E27FC236}">
                <a16:creationId xmlns:a16="http://schemas.microsoft.com/office/drawing/2014/main" id="{365904FB-256C-4D18-98D3-18CA829297E6}"/>
              </a:ext>
            </a:extLst>
          </p:cNvPr>
          <p:cNvSpPr>
            <a:spLocks noGrp="1"/>
          </p:cNvSpPr>
          <p:nvPr/>
        </p:nvSpPr>
        <p:spPr>
          <a:xfrm>
            <a:off x="1371600" y="3486150"/>
            <a:ext cx="0" cy="85725"/>
          </a:xfrm>
          <a:prstGeom prst="line">
            <a:avLst/>
          </a:prstGeom>
          <a:noFill/>
          <a:ln w="19050">
            <a:solidFill>
              <a:srgbClr val="8CC9DB"/>
            </a:solidFill>
            <a:prstDash val="solid"/>
          </a:ln>
        </p:spPr>
        <p:txBody>
          <a:bodyPr/>
          <a:lstStyle/>
          <a:p>
            <a:endParaRPr lang="he-IL"/>
          </a:p>
        </p:txBody>
      </p:sp>
      <p:sp>
        <p:nvSpPr>
          <p:cNvPr id="18" name="sequence-4-number">
            <a:extLst>
              <a:ext uri="{FF2B5EF4-FFF2-40B4-BE49-F238E27FC236}">
                <a16:creationId xmlns:a16="http://schemas.microsoft.com/office/drawing/2014/main" id="{E8C8EC5A-70B5-400C-A163-27C9D5921CA4}"/>
              </a:ext>
            </a:extLst>
          </p:cNvPr>
          <p:cNvSpPr>
            <a:spLocks noGrp="1"/>
          </p:cNvSpPr>
          <p:nvPr/>
        </p:nvSpPr>
        <p:spPr>
          <a:xfrm>
            <a:off x="1104900" y="3571875"/>
            <a:ext cx="533400" cy="533400"/>
          </a:xfrm>
          <a:prstGeom prst="ellipse">
            <a:avLst/>
          </a:prstGeom>
          <a:solidFill>
            <a:srgbClr val="1FA9D2"/>
          </a:solidFill>
          <a:ln w="0">
            <a:noFill/>
            <a:prstDash val="solid"/>
          </a:ln>
        </p:spPr>
        <p:txBody>
          <a:bodyPr wrap="square" lIns="0" tIns="0" rIns="0" bIns="0" anchor="ctr">
            <a:normAutofit/>
          </a:bodyPr>
          <a:lstStyle/>
          <a:p>
            <a:pPr algn="ctr">
              <a:lnSpc>
                <a:spcPct val="102000"/>
              </a:lnSpc>
              <a:buNone/>
              <a:defRPr sz="1200" b="1">
                <a:solidFill>
                  <a:srgbClr val="FFFFFF"/>
                </a:solidFill>
                <a:latin typeface="Arial"/>
                <a:ea typeface="Arial"/>
                <a:cs typeface="Arial"/>
              </a:defRPr>
            </a:pPr>
            <a:r>
              <a:rPr sz="1200" b="1">
                <a:solidFill>
                  <a:srgbClr val="FFFFFF"/>
                </a:solidFill>
                <a:latin typeface="Arial"/>
                <a:ea typeface="Arial"/>
                <a:cs typeface="Arial"/>
              </a:rPr>
              <a:t>04</a:t>
            </a:r>
          </a:p>
        </p:txBody>
      </p:sp>
      <p:sp>
        <p:nvSpPr>
          <p:cNvPr id="19" name="sequence-4-title">
            <a:extLst>
              <a:ext uri="{FF2B5EF4-FFF2-40B4-BE49-F238E27FC236}">
                <a16:creationId xmlns:a16="http://schemas.microsoft.com/office/drawing/2014/main" id="{8C0BBB90-79A8-4F61-A489-343924E822FD}"/>
              </a:ext>
            </a:extLst>
          </p:cNvPr>
          <p:cNvSpPr>
            <a:spLocks noGrp="1"/>
          </p:cNvSpPr>
          <p:nvPr/>
        </p:nvSpPr>
        <p:spPr>
          <a:xfrm>
            <a:off x="1866900" y="3590925"/>
            <a:ext cx="2000250" cy="266700"/>
          </a:xfrm>
          <a:prstGeom prst="rect">
            <a:avLst/>
          </a:prstGeom>
          <a:noFill/>
          <a:ln w="0">
            <a:noFill/>
            <a:prstDash val="solid"/>
          </a:ln>
        </p:spPr>
        <p:txBody>
          <a:bodyPr wrap="square" lIns="0" tIns="0" rIns="0" bIns="0" anchor="t">
            <a:normAutofit/>
          </a:bodyPr>
          <a:lstStyle/>
          <a:p>
            <a:pPr algn="l">
              <a:lnSpc>
                <a:spcPct val="105000"/>
              </a:lnSpc>
              <a:buNone/>
              <a:defRPr sz="1575" b="1" i="0">
                <a:solidFill>
                  <a:srgbClr val="18252B"/>
                </a:solidFill>
                <a:latin typeface="Arial"/>
                <a:ea typeface="Arial"/>
                <a:cs typeface="Arial"/>
              </a:defRPr>
            </a:pPr>
            <a:r>
              <a:rPr sz="1575" b="1" i="0" dirty="0">
                <a:solidFill>
                  <a:srgbClr val="18252B"/>
                </a:solidFill>
                <a:latin typeface="Arial"/>
                <a:ea typeface="Arial"/>
                <a:cs typeface="Arial"/>
              </a:rPr>
              <a:t>Threshold check</a:t>
            </a:r>
          </a:p>
        </p:txBody>
      </p:sp>
      <p:sp>
        <p:nvSpPr>
          <p:cNvPr id="20" name="sequence-4-body">
            <a:extLst>
              <a:ext uri="{FF2B5EF4-FFF2-40B4-BE49-F238E27FC236}">
                <a16:creationId xmlns:a16="http://schemas.microsoft.com/office/drawing/2014/main" id="{C5A404D3-B656-4D34-8FC0-BE5F6C45DCCB}"/>
              </a:ext>
            </a:extLst>
          </p:cNvPr>
          <p:cNvSpPr>
            <a:spLocks noGrp="1"/>
          </p:cNvSpPr>
          <p:nvPr/>
        </p:nvSpPr>
        <p:spPr>
          <a:xfrm>
            <a:off x="4095750" y="3590925"/>
            <a:ext cx="4286250" cy="361950"/>
          </a:xfrm>
          <a:prstGeom prst="rect">
            <a:avLst/>
          </a:prstGeom>
          <a:noFill/>
          <a:ln w="0">
            <a:noFill/>
            <a:prstDash val="solid"/>
          </a:ln>
        </p:spPr>
        <p:txBody>
          <a:bodyPr wrap="square" lIns="0" tIns="0" rIns="0" bIns="0" anchor="t">
            <a:normAutofit fontScale="98709"/>
          </a:bodyPr>
          <a:lstStyle/>
          <a:p>
            <a:pPr algn="l">
              <a:lnSpc>
                <a:spcPct val="105000"/>
              </a:lnSpc>
              <a:buNone/>
              <a:defRPr sz="1275" b="0" i="0">
                <a:solidFill>
                  <a:srgbClr val="5C6A70"/>
                </a:solidFill>
                <a:latin typeface="Arial"/>
                <a:ea typeface="Arial"/>
                <a:cs typeface="Arial"/>
              </a:defRPr>
            </a:pPr>
            <a:r>
              <a:rPr sz="1275" b="0" i="0" dirty="0">
                <a:solidFill>
                  <a:srgbClr val="5C6A70"/>
                </a:solidFill>
                <a:latin typeface="Arial"/>
                <a:ea typeface="Arial"/>
                <a:cs typeface="Arial"/>
              </a:rPr>
              <a:t>Normal, warning </a:t>
            </a:r>
            <a:r>
              <a:rPr lang="en-US" sz="1275" dirty="0">
                <a:solidFill>
                  <a:srgbClr val="5C6A70"/>
                </a:solidFill>
                <a:latin typeface="Arial"/>
                <a:ea typeface="Arial"/>
                <a:cs typeface="Arial"/>
              </a:rPr>
              <a:t>or</a:t>
            </a:r>
            <a:r>
              <a:rPr sz="1275" b="0" i="0" dirty="0">
                <a:solidFill>
                  <a:srgbClr val="5C6A70"/>
                </a:solidFill>
                <a:latin typeface="Arial"/>
                <a:ea typeface="Arial"/>
                <a:cs typeface="Arial"/>
              </a:rPr>
              <a:t> emergency states use code constants.</a:t>
            </a:r>
          </a:p>
        </p:txBody>
      </p:sp>
      <p:sp>
        <p:nvSpPr>
          <p:cNvPr id="21" name="sequence-4-connector">
            <a:extLst>
              <a:ext uri="{FF2B5EF4-FFF2-40B4-BE49-F238E27FC236}">
                <a16:creationId xmlns:a16="http://schemas.microsoft.com/office/drawing/2014/main" id="{D3F704E1-B11F-42F2-A256-D64606D76536}"/>
              </a:ext>
            </a:extLst>
          </p:cNvPr>
          <p:cNvSpPr>
            <a:spLocks noGrp="1"/>
          </p:cNvSpPr>
          <p:nvPr/>
        </p:nvSpPr>
        <p:spPr>
          <a:xfrm>
            <a:off x="1371600" y="4105275"/>
            <a:ext cx="0" cy="85725"/>
          </a:xfrm>
          <a:prstGeom prst="line">
            <a:avLst/>
          </a:prstGeom>
          <a:noFill/>
          <a:ln w="19050">
            <a:solidFill>
              <a:srgbClr val="8CC9DB"/>
            </a:solidFill>
            <a:prstDash val="solid"/>
          </a:ln>
        </p:spPr>
        <p:txBody>
          <a:bodyPr/>
          <a:lstStyle/>
          <a:p>
            <a:endParaRPr lang="he-IL"/>
          </a:p>
        </p:txBody>
      </p:sp>
      <p:sp>
        <p:nvSpPr>
          <p:cNvPr id="22" name="sequence-5-number">
            <a:extLst>
              <a:ext uri="{FF2B5EF4-FFF2-40B4-BE49-F238E27FC236}">
                <a16:creationId xmlns:a16="http://schemas.microsoft.com/office/drawing/2014/main" id="{20F752A8-6306-4C09-978C-573DE44397CA}"/>
              </a:ext>
            </a:extLst>
          </p:cNvPr>
          <p:cNvSpPr>
            <a:spLocks noGrp="1"/>
          </p:cNvSpPr>
          <p:nvPr/>
        </p:nvSpPr>
        <p:spPr>
          <a:xfrm>
            <a:off x="1104900" y="4191000"/>
            <a:ext cx="533400" cy="533400"/>
          </a:xfrm>
          <a:prstGeom prst="ellipse">
            <a:avLst/>
          </a:prstGeom>
          <a:solidFill>
            <a:srgbClr val="E25A60"/>
          </a:solidFill>
          <a:ln w="0">
            <a:noFill/>
            <a:prstDash val="solid"/>
          </a:ln>
        </p:spPr>
        <p:txBody>
          <a:bodyPr wrap="square" lIns="0" tIns="0" rIns="0" bIns="0" anchor="ctr">
            <a:normAutofit/>
          </a:bodyPr>
          <a:lstStyle/>
          <a:p>
            <a:pPr algn="ctr">
              <a:lnSpc>
                <a:spcPct val="102000"/>
              </a:lnSpc>
              <a:buNone/>
              <a:defRPr sz="1200" b="1">
                <a:solidFill>
                  <a:srgbClr val="FFFFFF"/>
                </a:solidFill>
                <a:latin typeface="Arial"/>
                <a:ea typeface="Arial"/>
                <a:cs typeface="Arial"/>
              </a:defRPr>
            </a:pPr>
            <a:r>
              <a:rPr sz="1200" b="1">
                <a:solidFill>
                  <a:srgbClr val="FFFFFF"/>
                </a:solidFill>
                <a:latin typeface="Arial"/>
                <a:ea typeface="Arial"/>
                <a:cs typeface="Arial"/>
              </a:rPr>
              <a:t>05</a:t>
            </a:r>
          </a:p>
        </p:txBody>
      </p:sp>
      <p:sp>
        <p:nvSpPr>
          <p:cNvPr id="23" name="sequence-5-title">
            <a:extLst>
              <a:ext uri="{FF2B5EF4-FFF2-40B4-BE49-F238E27FC236}">
                <a16:creationId xmlns:a16="http://schemas.microsoft.com/office/drawing/2014/main" id="{E734051B-7FF5-4C78-BED3-B67EE030129C}"/>
              </a:ext>
            </a:extLst>
          </p:cNvPr>
          <p:cNvSpPr>
            <a:spLocks noGrp="1"/>
          </p:cNvSpPr>
          <p:nvPr/>
        </p:nvSpPr>
        <p:spPr>
          <a:xfrm>
            <a:off x="1866900" y="4210050"/>
            <a:ext cx="2000250" cy="266700"/>
          </a:xfrm>
          <a:prstGeom prst="rect">
            <a:avLst/>
          </a:prstGeom>
          <a:noFill/>
          <a:ln w="0">
            <a:noFill/>
            <a:prstDash val="solid"/>
          </a:ln>
        </p:spPr>
        <p:txBody>
          <a:bodyPr wrap="square" lIns="0" tIns="0" rIns="0" bIns="0" anchor="t">
            <a:normAutofit/>
          </a:bodyPr>
          <a:lstStyle/>
          <a:p>
            <a:pPr algn="l">
              <a:lnSpc>
                <a:spcPct val="105000"/>
              </a:lnSpc>
              <a:buNone/>
              <a:defRPr sz="1575" b="1" i="0">
                <a:solidFill>
                  <a:srgbClr val="18252B"/>
                </a:solidFill>
                <a:latin typeface="Arial"/>
                <a:ea typeface="Arial"/>
                <a:cs typeface="Arial"/>
              </a:defRPr>
            </a:pPr>
            <a:r>
              <a:rPr sz="1575" b="1" i="0">
                <a:solidFill>
                  <a:srgbClr val="18252B"/>
                </a:solidFill>
                <a:latin typeface="Arial"/>
                <a:ea typeface="Arial"/>
                <a:cs typeface="Arial"/>
              </a:rPr>
              <a:t>Relay publish</a:t>
            </a:r>
          </a:p>
        </p:txBody>
      </p:sp>
      <p:sp>
        <p:nvSpPr>
          <p:cNvPr id="24" name="sequence-5-body">
            <a:extLst>
              <a:ext uri="{FF2B5EF4-FFF2-40B4-BE49-F238E27FC236}">
                <a16:creationId xmlns:a16="http://schemas.microsoft.com/office/drawing/2014/main" id="{DE52BC1A-7358-4528-B935-61C047A5BE29}"/>
              </a:ext>
            </a:extLst>
          </p:cNvPr>
          <p:cNvSpPr>
            <a:spLocks noGrp="1"/>
          </p:cNvSpPr>
          <p:nvPr/>
        </p:nvSpPr>
        <p:spPr>
          <a:xfrm>
            <a:off x="4095750" y="4210050"/>
            <a:ext cx="4286250" cy="361950"/>
          </a:xfrm>
          <a:prstGeom prst="rect">
            <a:avLst/>
          </a:prstGeom>
          <a:noFill/>
          <a:ln w="0">
            <a:noFill/>
            <a:prstDash val="solid"/>
          </a:ln>
        </p:spPr>
        <p:txBody>
          <a:bodyPr wrap="square" lIns="0" tIns="0" rIns="0" bIns="0" anchor="t">
            <a:normAutofit fontScale="97797"/>
          </a:bodyPr>
          <a:lstStyle/>
          <a:p>
            <a:pPr algn="l">
              <a:lnSpc>
                <a:spcPct val="105000"/>
              </a:lnSpc>
              <a:buNone/>
              <a:defRPr sz="1275" b="0" i="0">
                <a:solidFill>
                  <a:srgbClr val="5C6A70"/>
                </a:solidFill>
                <a:latin typeface="Arial"/>
                <a:ea typeface="Arial"/>
                <a:cs typeface="Arial"/>
              </a:defRPr>
            </a:pPr>
            <a:r>
              <a:rPr sz="1275" b="0" i="0" dirty="0">
                <a:solidFill>
                  <a:srgbClr val="5C6A70"/>
                </a:solidFill>
                <a:latin typeface="Arial"/>
                <a:ea typeface="Arial"/>
                <a:cs typeface="Arial"/>
              </a:rPr>
              <a:t>The controller sends JSON state messages.</a:t>
            </a:r>
          </a:p>
        </p:txBody>
      </p:sp>
      <p:sp>
        <p:nvSpPr>
          <p:cNvPr id="25" name="sequence-5-connector">
            <a:extLst>
              <a:ext uri="{FF2B5EF4-FFF2-40B4-BE49-F238E27FC236}">
                <a16:creationId xmlns:a16="http://schemas.microsoft.com/office/drawing/2014/main" id="{E3F19680-44C3-42B2-87AC-009EC2086B77}"/>
              </a:ext>
            </a:extLst>
          </p:cNvPr>
          <p:cNvSpPr>
            <a:spLocks noGrp="1"/>
          </p:cNvSpPr>
          <p:nvPr/>
        </p:nvSpPr>
        <p:spPr>
          <a:xfrm>
            <a:off x="1371600" y="4724400"/>
            <a:ext cx="0" cy="85725"/>
          </a:xfrm>
          <a:prstGeom prst="line">
            <a:avLst/>
          </a:prstGeom>
          <a:noFill/>
          <a:ln w="19050">
            <a:solidFill>
              <a:srgbClr val="8CC9DB"/>
            </a:solidFill>
            <a:prstDash val="solid"/>
          </a:ln>
        </p:spPr>
        <p:txBody>
          <a:bodyPr/>
          <a:lstStyle/>
          <a:p>
            <a:endParaRPr lang="he-IL"/>
          </a:p>
        </p:txBody>
      </p:sp>
      <p:sp>
        <p:nvSpPr>
          <p:cNvPr id="26" name="sequence-6-number">
            <a:extLst>
              <a:ext uri="{FF2B5EF4-FFF2-40B4-BE49-F238E27FC236}">
                <a16:creationId xmlns:a16="http://schemas.microsoft.com/office/drawing/2014/main" id="{C1E5114A-5C49-4B06-9BBB-AC4113321A0C}"/>
              </a:ext>
            </a:extLst>
          </p:cNvPr>
          <p:cNvSpPr>
            <a:spLocks noGrp="1"/>
          </p:cNvSpPr>
          <p:nvPr/>
        </p:nvSpPr>
        <p:spPr>
          <a:xfrm>
            <a:off x="1104900" y="4810125"/>
            <a:ext cx="533400" cy="533400"/>
          </a:xfrm>
          <a:prstGeom prst="ellipse">
            <a:avLst/>
          </a:prstGeom>
          <a:solidFill>
            <a:srgbClr val="1FA9D2"/>
          </a:solidFill>
          <a:ln w="0">
            <a:noFill/>
            <a:prstDash val="solid"/>
          </a:ln>
        </p:spPr>
        <p:txBody>
          <a:bodyPr wrap="square" lIns="0" tIns="0" rIns="0" bIns="0" anchor="ctr">
            <a:normAutofit/>
          </a:bodyPr>
          <a:lstStyle/>
          <a:p>
            <a:pPr algn="ctr">
              <a:lnSpc>
                <a:spcPct val="102000"/>
              </a:lnSpc>
              <a:buNone/>
              <a:defRPr sz="1200" b="1">
                <a:solidFill>
                  <a:srgbClr val="FFFFFF"/>
                </a:solidFill>
                <a:latin typeface="Arial"/>
                <a:ea typeface="Arial"/>
                <a:cs typeface="Arial"/>
              </a:defRPr>
            </a:pPr>
            <a:r>
              <a:rPr sz="1200" b="1">
                <a:solidFill>
                  <a:srgbClr val="FFFFFF"/>
                </a:solidFill>
                <a:latin typeface="Arial"/>
                <a:ea typeface="Arial"/>
                <a:cs typeface="Arial"/>
              </a:rPr>
              <a:t>06</a:t>
            </a:r>
          </a:p>
        </p:txBody>
      </p:sp>
      <p:sp>
        <p:nvSpPr>
          <p:cNvPr id="27" name="sequence-6-title">
            <a:extLst>
              <a:ext uri="{FF2B5EF4-FFF2-40B4-BE49-F238E27FC236}">
                <a16:creationId xmlns:a16="http://schemas.microsoft.com/office/drawing/2014/main" id="{CA6A8AD7-D9F6-41FF-901C-102E54C8FEBD}"/>
              </a:ext>
            </a:extLst>
          </p:cNvPr>
          <p:cNvSpPr>
            <a:spLocks noGrp="1"/>
          </p:cNvSpPr>
          <p:nvPr/>
        </p:nvSpPr>
        <p:spPr>
          <a:xfrm>
            <a:off x="1866900" y="4829175"/>
            <a:ext cx="2000250" cy="266700"/>
          </a:xfrm>
          <a:prstGeom prst="rect">
            <a:avLst/>
          </a:prstGeom>
          <a:noFill/>
          <a:ln w="0">
            <a:noFill/>
            <a:prstDash val="solid"/>
          </a:ln>
        </p:spPr>
        <p:txBody>
          <a:bodyPr wrap="square" lIns="0" tIns="0" rIns="0" bIns="0" anchor="t">
            <a:normAutofit/>
          </a:bodyPr>
          <a:lstStyle/>
          <a:p>
            <a:pPr algn="l">
              <a:lnSpc>
                <a:spcPct val="105000"/>
              </a:lnSpc>
              <a:buNone/>
              <a:defRPr sz="1575" b="1" i="0">
                <a:solidFill>
                  <a:srgbClr val="18252B"/>
                </a:solidFill>
                <a:latin typeface="Arial"/>
                <a:ea typeface="Arial"/>
                <a:cs typeface="Arial"/>
              </a:defRPr>
            </a:pPr>
            <a:r>
              <a:rPr sz="1575" b="1" i="0">
                <a:solidFill>
                  <a:srgbClr val="18252B"/>
                </a:solidFill>
                <a:latin typeface="Arial"/>
                <a:ea typeface="Arial"/>
                <a:cs typeface="Arial"/>
              </a:rPr>
              <a:t>Event log</a:t>
            </a:r>
          </a:p>
        </p:txBody>
      </p:sp>
      <p:sp>
        <p:nvSpPr>
          <p:cNvPr id="28" name="sequence-6-body">
            <a:extLst>
              <a:ext uri="{FF2B5EF4-FFF2-40B4-BE49-F238E27FC236}">
                <a16:creationId xmlns:a16="http://schemas.microsoft.com/office/drawing/2014/main" id="{001F293C-C1A7-4B51-BF28-77E6D362DAFC}"/>
              </a:ext>
            </a:extLst>
          </p:cNvPr>
          <p:cNvSpPr>
            <a:spLocks noGrp="1"/>
          </p:cNvSpPr>
          <p:nvPr/>
        </p:nvSpPr>
        <p:spPr>
          <a:xfrm>
            <a:off x="4095750" y="4829175"/>
            <a:ext cx="4286250" cy="361950"/>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5C6A70"/>
                </a:solidFill>
                <a:latin typeface="Arial"/>
                <a:ea typeface="Arial"/>
                <a:cs typeface="Arial"/>
              </a:defRPr>
            </a:pPr>
            <a:r>
              <a:rPr sz="1275" b="0" i="0">
                <a:solidFill>
                  <a:srgbClr val="5C6A70"/>
                </a:solidFill>
                <a:latin typeface="Arial"/>
                <a:ea typeface="Arial"/>
                <a:cs typeface="Arial"/>
              </a:rPr>
              <a:t>The GUI records readings and the action taken.</a:t>
            </a:r>
          </a:p>
        </p:txBody>
      </p:sp>
      <p:sp>
        <p:nvSpPr>
          <p:cNvPr id="29" name="sequence-recovery-panel">
            <a:extLst>
              <a:ext uri="{FF2B5EF4-FFF2-40B4-BE49-F238E27FC236}">
                <a16:creationId xmlns:a16="http://schemas.microsoft.com/office/drawing/2014/main" id="{DF106F0E-4018-46DE-8F7A-785E684BF1E3}"/>
              </a:ext>
            </a:extLst>
          </p:cNvPr>
          <p:cNvSpPr>
            <a:spLocks noGrp="1"/>
          </p:cNvSpPr>
          <p:nvPr/>
        </p:nvSpPr>
        <p:spPr>
          <a:xfrm>
            <a:off x="8858250" y="1828800"/>
            <a:ext cx="2647950" cy="2838450"/>
          </a:xfrm>
          <a:prstGeom prst="roundRect">
            <a:avLst>
              <a:gd name="adj" fmla="val 6475"/>
            </a:avLst>
          </a:prstGeom>
          <a:solidFill>
            <a:srgbClr val="113C52"/>
          </a:solidFill>
          <a:ln w="0">
            <a:solidFill>
              <a:srgbClr val="113C52"/>
            </a:solidFill>
            <a:prstDash val="solid"/>
          </a:ln>
        </p:spPr>
        <p:txBody>
          <a:bodyPr/>
          <a:lstStyle/>
          <a:p>
            <a:endParaRPr lang="he-IL"/>
          </a:p>
        </p:txBody>
      </p:sp>
      <p:sp>
        <p:nvSpPr>
          <p:cNvPr id="30" name="sequence-recovery-title">
            <a:extLst>
              <a:ext uri="{FF2B5EF4-FFF2-40B4-BE49-F238E27FC236}">
                <a16:creationId xmlns:a16="http://schemas.microsoft.com/office/drawing/2014/main" id="{9DB1F5F7-7EB3-48E9-84D4-4F9F91B34555}"/>
              </a:ext>
            </a:extLst>
          </p:cNvPr>
          <p:cNvSpPr>
            <a:spLocks noGrp="1"/>
          </p:cNvSpPr>
          <p:nvPr/>
        </p:nvSpPr>
        <p:spPr>
          <a:xfrm>
            <a:off x="9201150" y="2152650"/>
            <a:ext cx="1905000" cy="342900"/>
          </a:xfrm>
          <a:prstGeom prst="rect">
            <a:avLst/>
          </a:prstGeom>
          <a:noFill/>
          <a:ln w="0">
            <a:noFill/>
            <a:prstDash val="solid"/>
          </a:ln>
        </p:spPr>
        <p:txBody>
          <a:bodyPr wrap="square" lIns="0" tIns="0" rIns="0" bIns="0" anchor="t">
            <a:normAutofit/>
          </a:bodyPr>
          <a:lstStyle/>
          <a:p>
            <a:pPr algn="ctr">
              <a:lnSpc>
                <a:spcPct val="105000"/>
              </a:lnSpc>
              <a:buNone/>
              <a:defRPr sz="1875" b="1" i="0">
                <a:solidFill>
                  <a:srgbClr val="FFFFFF"/>
                </a:solidFill>
                <a:latin typeface="Arial"/>
                <a:ea typeface="Arial"/>
                <a:cs typeface="Arial"/>
              </a:defRPr>
            </a:pPr>
            <a:r>
              <a:rPr sz="1875" b="1" i="0">
                <a:solidFill>
                  <a:srgbClr val="FFFFFF"/>
                </a:solidFill>
                <a:latin typeface="Arial"/>
                <a:ea typeface="Arial"/>
                <a:cs typeface="Arial"/>
              </a:rPr>
              <a:t>Recovery</a:t>
            </a:r>
          </a:p>
        </p:txBody>
      </p:sp>
      <p:sp>
        <p:nvSpPr>
          <p:cNvPr id="31" name="sequence-recovery-body">
            <a:extLst>
              <a:ext uri="{FF2B5EF4-FFF2-40B4-BE49-F238E27FC236}">
                <a16:creationId xmlns:a16="http://schemas.microsoft.com/office/drawing/2014/main" id="{9D7FB217-1C0F-4FA7-9E93-B83E30E3B1B9}"/>
              </a:ext>
            </a:extLst>
          </p:cNvPr>
          <p:cNvSpPr>
            <a:spLocks noGrp="1"/>
          </p:cNvSpPr>
          <p:nvPr/>
        </p:nvSpPr>
        <p:spPr>
          <a:xfrm>
            <a:off x="9163050" y="2743200"/>
            <a:ext cx="2047875" cy="1257300"/>
          </a:xfrm>
          <a:prstGeom prst="rect">
            <a:avLst/>
          </a:prstGeom>
          <a:noFill/>
          <a:ln w="0">
            <a:noFill/>
            <a:prstDash val="solid"/>
          </a:ln>
        </p:spPr>
        <p:txBody>
          <a:bodyPr wrap="square" lIns="0" tIns="0" rIns="0" bIns="0" anchor="t">
            <a:normAutofit fontScale="97002"/>
          </a:bodyPr>
          <a:lstStyle/>
          <a:p>
            <a:pPr algn="ctr">
              <a:lnSpc>
                <a:spcPct val="105000"/>
              </a:lnSpc>
              <a:buNone/>
              <a:defRPr sz="1350" b="0" i="0">
                <a:solidFill>
                  <a:srgbClr val="FFFFFF"/>
                </a:solidFill>
                <a:latin typeface="Arial"/>
                <a:ea typeface="Arial"/>
                <a:cs typeface="Arial"/>
              </a:defRPr>
            </a:pPr>
            <a:r>
              <a:rPr sz="1350" b="0" i="0">
                <a:solidFill>
                  <a:srgbClr val="FFFFFF"/>
                </a:solidFill>
                <a:latin typeface="Arial"/>
                <a:ea typeface="Arial"/>
                <a:cs typeface="Arial"/>
              </a:rPr>
              <a:t>When the readings return below the emergency thresholds, the application clears the alert flags and publishes 0 to the relevant relay topics.</a:t>
            </a:r>
          </a:p>
        </p:txBody>
      </p:sp>
      <p:sp>
        <p:nvSpPr>
          <p:cNvPr id="32" name="sequence-state-pill">
            <a:extLst>
              <a:ext uri="{FF2B5EF4-FFF2-40B4-BE49-F238E27FC236}">
                <a16:creationId xmlns:a16="http://schemas.microsoft.com/office/drawing/2014/main" id="{111F7492-4231-4120-9547-663032CB4272}"/>
              </a:ext>
            </a:extLst>
          </p:cNvPr>
          <p:cNvSpPr>
            <a:spLocks noGrp="1"/>
          </p:cNvSpPr>
          <p:nvPr/>
        </p:nvSpPr>
        <p:spPr>
          <a:xfrm>
            <a:off x="9315450" y="4229100"/>
            <a:ext cx="1714500" cy="285750"/>
          </a:xfrm>
          <a:prstGeom prst="roundRect">
            <a:avLst>
              <a:gd name="adj" fmla="val 50000"/>
            </a:avLst>
          </a:prstGeom>
          <a:solidFill>
            <a:srgbClr val="4FB49A"/>
          </a:solidFill>
          <a:ln w="0">
            <a:solidFill>
              <a:srgbClr val="4FB49A"/>
            </a:solidFill>
            <a:prstDash val="solid"/>
          </a:ln>
        </p:spPr>
        <p:txBody>
          <a:bodyPr wrap="square" lIns="76200" tIns="28575" rIns="76200" bIns="28575" anchor="ctr">
            <a:normAutofit fontScale="96280" lnSpcReduction="10000"/>
          </a:bodyPr>
          <a:lstStyle/>
          <a:p>
            <a:pPr algn="ctr">
              <a:lnSpc>
                <a:spcPct val="102000"/>
              </a:lnSpc>
              <a:buNone/>
              <a:defRPr sz="1050" b="1">
                <a:solidFill>
                  <a:srgbClr val="FFFFFF"/>
                </a:solidFill>
                <a:latin typeface="Arial"/>
                <a:ea typeface="Arial"/>
                <a:cs typeface="Arial"/>
              </a:defRPr>
            </a:pPr>
            <a:r>
              <a:rPr sz="1050" b="1">
                <a:solidFill>
                  <a:srgbClr val="FFFFFF"/>
                </a:solidFill>
                <a:latin typeface="Arial"/>
                <a:ea typeface="Arial"/>
                <a:cs typeface="Arial"/>
              </a:rPr>
              <a:t>STATEFUL ALERTS</a:t>
            </a:r>
          </a:p>
        </p:txBody>
      </p:sp>
      <p:sp>
        <p:nvSpPr>
          <p:cNvPr id="33" name="sequence-state-caption">
            <a:extLst>
              <a:ext uri="{FF2B5EF4-FFF2-40B4-BE49-F238E27FC236}">
                <a16:creationId xmlns:a16="http://schemas.microsoft.com/office/drawing/2014/main" id="{8E2BBE9A-A301-47DD-960A-212FE4FA4EF8}"/>
              </a:ext>
            </a:extLst>
          </p:cNvPr>
          <p:cNvSpPr>
            <a:spLocks noGrp="1"/>
          </p:cNvSpPr>
          <p:nvPr/>
        </p:nvSpPr>
        <p:spPr>
          <a:xfrm>
            <a:off x="9010650" y="4895850"/>
            <a:ext cx="2362200" cy="552450"/>
          </a:xfrm>
          <a:prstGeom prst="rect">
            <a:avLst/>
          </a:prstGeom>
          <a:noFill/>
          <a:ln w="0">
            <a:noFill/>
            <a:prstDash val="solid"/>
          </a:ln>
        </p:spPr>
        <p:txBody>
          <a:bodyPr wrap="square" lIns="0" tIns="0" rIns="0" bIns="0" anchor="t">
            <a:normAutofit/>
          </a:bodyPr>
          <a:lstStyle/>
          <a:p>
            <a:pPr algn="ctr">
              <a:lnSpc>
                <a:spcPct val="105000"/>
              </a:lnSpc>
              <a:buNone/>
              <a:defRPr sz="1200" b="0" i="0">
                <a:solidFill>
                  <a:srgbClr val="5C6A70"/>
                </a:solidFill>
                <a:latin typeface="Arial"/>
                <a:ea typeface="Arial"/>
                <a:cs typeface="Arial"/>
              </a:defRPr>
            </a:pPr>
            <a:r>
              <a:rPr sz="1200" b="0" i="0">
                <a:solidFill>
                  <a:srgbClr val="5C6A70"/>
                </a:solidFill>
                <a:latin typeface="Arial"/>
                <a:ea typeface="Arial"/>
                <a:cs typeface="Arial"/>
              </a:rPr>
              <a:t>Flags keep a condition active until the sensor feed returns to normal.</a:t>
            </a:r>
          </a:p>
        </p:txBody>
      </p:sp>
      <p:sp>
        <p:nvSpPr>
          <p:cNvPr id="34" name="6-footer-left">
            <a:extLst>
              <a:ext uri="{FF2B5EF4-FFF2-40B4-BE49-F238E27FC236}">
                <a16:creationId xmlns:a16="http://schemas.microsoft.com/office/drawing/2014/main" id="{0AE41980-0814-4114-B54A-0CE5BE7A2B30}"/>
              </a:ext>
            </a:extLst>
          </p:cNvPr>
          <p:cNvSpPr>
            <a:spLocks noGrp="1"/>
          </p:cNvSpPr>
          <p:nvPr/>
        </p:nvSpPr>
        <p:spPr>
          <a:xfrm>
            <a:off x="685800" y="6534150"/>
            <a:ext cx="4762500" cy="190500"/>
          </a:xfrm>
          <a:prstGeom prst="rect">
            <a:avLst/>
          </a:prstGeom>
          <a:noFill/>
          <a:ln w="0">
            <a:noFill/>
            <a:prstDash val="solid"/>
          </a:ln>
        </p:spPr>
        <p:txBody>
          <a:bodyPr wrap="square" lIns="0" tIns="0" rIns="0" bIns="0" anchor="t">
            <a:normAutofit/>
          </a:bodyPr>
          <a:lstStyle/>
          <a:p>
            <a:pPr algn="l">
              <a:lnSpc>
                <a:spcPct val="105000"/>
              </a:lnSpc>
              <a:buNone/>
              <a:defRPr sz="900" b="0" i="0">
                <a:solidFill>
                  <a:srgbClr val="5C6A70"/>
                </a:solidFill>
                <a:latin typeface="Arial"/>
                <a:ea typeface="Arial"/>
                <a:cs typeface="Arial"/>
              </a:defRPr>
            </a:pPr>
            <a:r>
              <a:rPr sz="900" b="0" i="0">
                <a:solidFill>
                  <a:srgbClr val="5C6A70"/>
                </a:solidFill>
                <a:latin typeface="Arial"/>
                <a:ea typeface="Arial"/>
                <a:cs typeface="Arial"/>
              </a:rPr>
              <a:t>IOT SMART HOME / SERVER ROOM MONITOR</a:t>
            </a:r>
          </a:p>
        </p:txBody>
      </p:sp>
      <p:sp>
        <p:nvSpPr>
          <p:cNvPr id="35" name="6-footer-right">
            <a:extLst>
              <a:ext uri="{FF2B5EF4-FFF2-40B4-BE49-F238E27FC236}">
                <a16:creationId xmlns:a16="http://schemas.microsoft.com/office/drawing/2014/main" id="{E325E667-6FFA-47D9-8B04-6787FA2D852E}"/>
              </a:ext>
            </a:extLst>
          </p:cNvPr>
          <p:cNvSpPr>
            <a:spLocks noGrp="1"/>
          </p:cNvSpPr>
          <p:nvPr/>
        </p:nvSpPr>
        <p:spPr>
          <a:xfrm>
            <a:off x="7239000" y="6534150"/>
            <a:ext cx="4267200" cy="190500"/>
          </a:xfrm>
          <a:prstGeom prst="rect">
            <a:avLst/>
          </a:prstGeom>
          <a:noFill/>
          <a:ln w="0">
            <a:noFill/>
            <a:prstDash val="solid"/>
          </a:ln>
        </p:spPr>
        <p:txBody>
          <a:bodyPr wrap="square" lIns="0" tIns="0" rIns="0" bIns="0" anchor="t">
            <a:normAutofit/>
          </a:bodyPr>
          <a:lstStyle/>
          <a:p>
            <a:pPr algn="r">
              <a:lnSpc>
                <a:spcPct val="105000"/>
              </a:lnSpc>
              <a:buNone/>
              <a:defRPr sz="900" b="0" i="0">
                <a:solidFill>
                  <a:srgbClr val="5C6A70"/>
                </a:solidFill>
                <a:latin typeface="Arial"/>
                <a:ea typeface="Arial"/>
                <a:cs typeface="Arial"/>
              </a:defRPr>
            </a:pPr>
            <a:r>
              <a:rPr sz="900" b="0" i="0">
                <a:solidFill>
                  <a:srgbClr val="5C6A70"/>
                </a:solidFill>
                <a:latin typeface="Arial"/>
                <a:ea typeface="Arial"/>
                <a:cs typeface="Arial"/>
              </a:rPr>
              <a:t>github.com/aharoni-cohen/iot-smart-home</a:t>
            </a:r>
          </a:p>
        </p:txBody>
      </p:sp>
    </p:spTree>
    <p:extLst>
      <p:ext uri="{BB962C8B-B14F-4D97-AF65-F5344CB8AC3E}">
        <p14:creationId xmlns:p14="http://schemas.microsoft.com/office/powerpoint/2010/main" val="3555299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7-title-rule">
            <a:extLst>
              <a:ext uri="{FF2B5EF4-FFF2-40B4-BE49-F238E27FC236}">
                <a16:creationId xmlns:a16="http://schemas.microsoft.com/office/drawing/2014/main" id="{E30EAFCE-9AD3-414E-A358-14DC828DDF3D}"/>
              </a:ext>
            </a:extLst>
          </p:cNvPr>
          <p:cNvSpPr>
            <a:spLocks noGrp="1"/>
          </p:cNvSpPr>
          <p:nvPr/>
        </p:nvSpPr>
        <p:spPr>
          <a:xfrm>
            <a:off x="685800" y="552450"/>
            <a:ext cx="0" cy="400050"/>
          </a:xfrm>
          <a:prstGeom prst="line">
            <a:avLst/>
          </a:prstGeom>
          <a:noFill/>
          <a:ln w="19050">
            <a:solidFill>
              <a:srgbClr val="1FA9D2"/>
            </a:solidFill>
            <a:prstDash val="solid"/>
          </a:ln>
        </p:spPr>
        <p:txBody>
          <a:bodyPr/>
          <a:lstStyle/>
          <a:p>
            <a:endParaRPr lang="he-IL"/>
          </a:p>
        </p:txBody>
      </p:sp>
      <p:sp>
        <p:nvSpPr>
          <p:cNvPr id="2" name="7-title">
            <a:extLst>
              <a:ext uri="{FF2B5EF4-FFF2-40B4-BE49-F238E27FC236}">
                <a16:creationId xmlns:a16="http://schemas.microsoft.com/office/drawing/2014/main" id="{E8B5FA49-BE54-4A2F-ABA8-2267EFB38946}"/>
              </a:ext>
            </a:extLst>
          </p:cNvPr>
          <p:cNvSpPr>
            <a:spLocks noGrp="1"/>
          </p:cNvSpPr>
          <p:nvPr/>
        </p:nvSpPr>
        <p:spPr>
          <a:xfrm>
            <a:off x="914400" y="457200"/>
            <a:ext cx="9620250" cy="609600"/>
          </a:xfrm>
          <a:prstGeom prst="rect">
            <a:avLst/>
          </a:prstGeom>
          <a:noFill/>
          <a:ln w="0">
            <a:noFill/>
            <a:prstDash val="solid"/>
          </a:ln>
        </p:spPr>
        <p:txBody>
          <a:bodyPr wrap="square" lIns="0" tIns="0" rIns="0" bIns="0" anchor="t">
            <a:normAutofit/>
          </a:bodyPr>
          <a:lstStyle/>
          <a:p>
            <a:pPr algn="l">
              <a:lnSpc>
                <a:spcPct val="105000"/>
              </a:lnSpc>
              <a:buNone/>
              <a:defRPr sz="2925" b="0" i="0">
                <a:solidFill>
                  <a:srgbClr val="18252B"/>
                </a:solidFill>
                <a:latin typeface="Arial"/>
                <a:ea typeface="Arial"/>
                <a:cs typeface="Arial"/>
              </a:defRPr>
            </a:pPr>
            <a:r>
              <a:rPr sz="2925" b="0" i="0">
                <a:solidFill>
                  <a:srgbClr val="18252B"/>
                </a:solidFill>
                <a:latin typeface="Arial"/>
                <a:ea typeface="Arial"/>
                <a:cs typeface="Arial"/>
              </a:rPr>
              <a:t>MQTT topics and message format</a:t>
            </a:r>
          </a:p>
        </p:txBody>
      </p:sp>
      <p:sp>
        <p:nvSpPr>
          <p:cNvPr id="3" name="7-subtitle">
            <a:extLst>
              <a:ext uri="{FF2B5EF4-FFF2-40B4-BE49-F238E27FC236}">
                <a16:creationId xmlns:a16="http://schemas.microsoft.com/office/drawing/2014/main" id="{EDAD1DEE-E893-42EE-ACB4-D770967E0F4A}"/>
              </a:ext>
            </a:extLst>
          </p:cNvPr>
          <p:cNvSpPr>
            <a:spLocks noGrp="1"/>
          </p:cNvSpPr>
          <p:nvPr/>
        </p:nvSpPr>
        <p:spPr>
          <a:xfrm>
            <a:off x="933450" y="1066800"/>
            <a:ext cx="10001250" cy="342900"/>
          </a:xfrm>
          <a:prstGeom prst="rect">
            <a:avLst/>
          </a:prstGeom>
          <a:noFill/>
          <a:ln w="0">
            <a:noFill/>
            <a:prstDash val="solid"/>
          </a:ln>
        </p:spPr>
        <p:txBody>
          <a:bodyPr wrap="square" lIns="0" tIns="0" rIns="0" bIns="0" anchor="t">
            <a:normAutofit/>
          </a:bodyPr>
          <a:lstStyle/>
          <a:p>
            <a:pPr algn="l">
              <a:lnSpc>
                <a:spcPct val="105000"/>
              </a:lnSpc>
              <a:buNone/>
              <a:defRPr sz="1350" b="0" i="0">
                <a:solidFill>
                  <a:srgbClr val="5C6A70"/>
                </a:solidFill>
                <a:latin typeface="Arial"/>
                <a:ea typeface="Arial"/>
                <a:cs typeface="Arial"/>
              </a:defRPr>
            </a:pPr>
            <a:r>
              <a:rPr sz="1350" b="0" i="0">
                <a:solidFill>
                  <a:srgbClr val="5C6A70"/>
                </a:solidFill>
                <a:latin typeface="Arial"/>
                <a:ea typeface="Arial"/>
                <a:cs typeface="Arial"/>
              </a:rPr>
              <a:t>The topic names and payload shapes come directly from dashboard.py</a:t>
            </a:r>
          </a:p>
        </p:txBody>
      </p:sp>
      <p:sp>
        <p:nvSpPr>
          <p:cNvPr id="4" name="7-folio">
            <a:extLst>
              <a:ext uri="{FF2B5EF4-FFF2-40B4-BE49-F238E27FC236}">
                <a16:creationId xmlns:a16="http://schemas.microsoft.com/office/drawing/2014/main" id="{10BB78C6-E52A-46E0-9C58-E0F7A6485452}"/>
              </a:ext>
            </a:extLst>
          </p:cNvPr>
          <p:cNvSpPr>
            <a:spLocks noGrp="1"/>
          </p:cNvSpPr>
          <p:nvPr/>
        </p:nvSpPr>
        <p:spPr>
          <a:xfrm>
            <a:off x="11239500" y="438150"/>
            <a:ext cx="419100" cy="228600"/>
          </a:xfrm>
          <a:prstGeom prst="rect">
            <a:avLst/>
          </a:prstGeom>
          <a:noFill/>
          <a:ln w="0">
            <a:noFill/>
            <a:prstDash val="solid"/>
          </a:ln>
        </p:spPr>
        <p:txBody>
          <a:bodyPr wrap="square" lIns="0" tIns="0" rIns="0" bIns="0" anchor="t">
            <a:normAutofit/>
          </a:bodyPr>
          <a:lstStyle/>
          <a:p>
            <a:pPr algn="r">
              <a:lnSpc>
                <a:spcPct val="105000"/>
              </a:lnSpc>
              <a:buNone/>
              <a:defRPr sz="1200" b="0" i="0">
                <a:solidFill>
                  <a:srgbClr val="5C6A70"/>
                </a:solidFill>
                <a:latin typeface="Arial"/>
                <a:ea typeface="Arial"/>
                <a:cs typeface="Arial"/>
              </a:defRPr>
            </a:pPr>
            <a:r>
              <a:rPr sz="1200" b="0" i="0">
                <a:solidFill>
                  <a:srgbClr val="5C6A70"/>
                </a:solidFill>
                <a:latin typeface="Arial"/>
                <a:ea typeface="Arial"/>
                <a:cs typeface="Arial"/>
              </a:rPr>
              <a:t>07</a:t>
            </a:r>
          </a:p>
        </p:txBody>
      </p:sp>
      <p:graphicFrame>
        <p:nvGraphicFramePr>
          <p:cNvPr id="15" name="Table 14"/>
          <p:cNvGraphicFramePr/>
          <p:nvPr>
            <p:extLst>
              <p:ext uri="{D42A27DB-BD31-4B8C-83A1-F6EECF244321}">
                <p14:modId xmlns:p14="http://schemas.microsoft.com/office/powerpoint/2010/main" val="1911666375"/>
              </p:ext>
            </p:extLst>
          </p:nvPr>
        </p:nvGraphicFramePr>
        <p:xfrm>
          <a:off x="838200" y="1695450"/>
          <a:ext cx="10515600" cy="3638550"/>
        </p:xfrm>
        <a:graphic>
          <a:graphicData uri="http://schemas.openxmlformats.org/drawingml/2006/table">
            <a:tbl>
              <a:tblPr firstRow="1" bandRow="1"/>
              <a:tblGrid>
                <a:gridCol w="3695700">
                  <a:extLst>
                    <a:ext uri="{9D8B030D-6E8A-4147-A177-3AD203B41FA5}">
                      <a16:colId xmlns:a16="http://schemas.microsoft.com/office/drawing/2014/main" val="20000"/>
                    </a:ext>
                  </a:extLst>
                </a:gridCol>
                <a:gridCol w="3143250">
                  <a:extLst>
                    <a:ext uri="{9D8B030D-6E8A-4147-A177-3AD203B41FA5}">
                      <a16:colId xmlns:a16="http://schemas.microsoft.com/office/drawing/2014/main" val="20001"/>
                    </a:ext>
                  </a:extLst>
                </a:gridCol>
                <a:gridCol w="3676650">
                  <a:extLst>
                    <a:ext uri="{9D8B030D-6E8A-4147-A177-3AD203B41FA5}">
                      <a16:colId xmlns:a16="http://schemas.microsoft.com/office/drawing/2014/main" val="20002"/>
                    </a:ext>
                  </a:extLst>
                </a:gridCol>
              </a:tblGrid>
              <a:tr h="727710">
                <a:tc>
                  <a:txBody>
                    <a:bodyPr/>
                    <a:lstStyle/>
                    <a:p>
                      <a:r>
                        <a:rPr sz="1350" b="1">
                          <a:solidFill>
                            <a:srgbClr val="FFFFFF"/>
                          </a:solidFill>
                          <a:latin typeface="Arial"/>
                          <a:ea typeface="Arial"/>
                          <a:cs typeface="Arial"/>
                        </a:rPr>
                        <a:t>Topic</a:t>
                      </a:r>
                    </a:p>
                  </a:txBody>
                  <a:tcPr anchor="ctr">
                    <a:solidFill>
                      <a:srgbClr val="113C52"/>
                    </a:solidFill>
                  </a:tcPr>
                </a:tc>
                <a:tc>
                  <a:txBody>
                    <a:bodyPr/>
                    <a:lstStyle/>
                    <a:p>
                      <a:r>
                        <a:rPr sz="1350" b="1">
                          <a:solidFill>
                            <a:srgbClr val="FFFFFF"/>
                          </a:solidFill>
                          <a:latin typeface="Arial"/>
                          <a:ea typeface="Arial"/>
                          <a:cs typeface="Arial"/>
                        </a:rPr>
                        <a:t>Payload</a:t>
                      </a:r>
                    </a:p>
                  </a:txBody>
                  <a:tcPr anchor="ctr">
                    <a:solidFill>
                      <a:srgbClr val="113C52"/>
                    </a:solidFill>
                  </a:tcPr>
                </a:tc>
                <a:tc>
                  <a:txBody>
                    <a:bodyPr/>
                    <a:lstStyle/>
                    <a:p>
                      <a:r>
                        <a:rPr sz="1350" b="1">
                          <a:solidFill>
                            <a:srgbClr val="FFFFFF"/>
                          </a:solidFill>
                          <a:latin typeface="Arial"/>
                          <a:ea typeface="Arial"/>
                          <a:cs typeface="Arial"/>
                        </a:rPr>
                        <a:t>Meaning</a:t>
                      </a:r>
                    </a:p>
                  </a:txBody>
                  <a:tcPr anchor="ctr">
                    <a:solidFill>
                      <a:srgbClr val="113C52"/>
                    </a:solidFill>
                  </a:tcPr>
                </a:tc>
                <a:extLst>
                  <a:ext uri="{0D108BD9-81ED-4DB2-BD59-A6C34878D82A}">
                    <a16:rowId xmlns:a16="http://schemas.microsoft.com/office/drawing/2014/main" val="10000"/>
                  </a:ext>
                </a:extLst>
              </a:tr>
              <a:tr h="727710">
                <a:tc>
                  <a:txBody>
                    <a:bodyPr/>
                    <a:lstStyle/>
                    <a:p>
                      <a:r>
                        <a:rPr sz="1275" b="1">
                          <a:solidFill>
                            <a:srgbClr val="113C52"/>
                          </a:solidFill>
                          <a:latin typeface="Arial"/>
                          <a:ea typeface="Arial"/>
                          <a:cs typeface="Arial"/>
                        </a:rPr>
                        <a:t>pr/home/5976397/sts</a:t>
                      </a:r>
                    </a:p>
                  </a:txBody>
                  <a:tcPr anchor="ctr">
                    <a:solidFill>
                      <a:srgbClr val="E7F4F8"/>
                    </a:solidFill>
                  </a:tcPr>
                </a:tc>
                <a:tc>
                  <a:txBody>
                    <a:bodyPr/>
                    <a:lstStyle/>
                    <a:p>
                      <a:r>
                        <a:rPr sz="1275" b="0">
                          <a:solidFill>
                            <a:srgbClr val="18252B"/>
                          </a:solidFill>
                          <a:latin typeface="Arial"/>
                          <a:ea typeface="Arial"/>
                          <a:cs typeface="Arial"/>
                        </a:rPr>
                        <a:t>Temperature: 31.2 Humidity: 78.4</a:t>
                      </a:r>
                    </a:p>
                  </a:txBody>
                  <a:tcPr anchor="ctr">
                    <a:solidFill>
                      <a:srgbClr val="E7F4F8"/>
                    </a:solidFill>
                  </a:tcPr>
                </a:tc>
                <a:tc>
                  <a:txBody>
                    <a:bodyPr/>
                    <a:lstStyle/>
                    <a:p>
                      <a:r>
                        <a:rPr sz="1275" b="0">
                          <a:solidFill>
                            <a:srgbClr val="18252B"/>
                          </a:solidFill>
                          <a:latin typeface="Arial"/>
                          <a:ea typeface="Arial"/>
                          <a:cs typeface="Arial"/>
                        </a:rPr>
                        <a:t>Simulated DHT reading</a:t>
                      </a:r>
                    </a:p>
                  </a:txBody>
                  <a:tcPr anchor="ctr">
                    <a:solidFill>
                      <a:srgbClr val="E7F4F8"/>
                    </a:solidFill>
                  </a:tcPr>
                </a:tc>
                <a:extLst>
                  <a:ext uri="{0D108BD9-81ED-4DB2-BD59-A6C34878D82A}">
                    <a16:rowId xmlns:a16="http://schemas.microsoft.com/office/drawing/2014/main" val="10001"/>
                  </a:ext>
                </a:extLst>
              </a:tr>
              <a:tr h="727710">
                <a:tc>
                  <a:txBody>
                    <a:bodyPr/>
                    <a:lstStyle/>
                    <a:p>
                      <a:r>
                        <a:rPr sz="1275" b="1">
                          <a:solidFill>
                            <a:srgbClr val="113C52"/>
                          </a:solidFill>
                          <a:latin typeface="Arial"/>
                          <a:ea typeface="Arial"/>
                          <a:cs typeface="Arial"/>
                        </a:rPr>
                        <a:t>pr/home/conditioner/sts</a:t>
                      </a:r>
                    </a:p>
                  </a:txBody>
                  <a:tcPr anchor="ctr">
                    <a:solidFill>
                      <a:srgbClr val="FFFFFF"/>
                    </a:solidFill>
                  </a:tcPr>
                </a:tc>
                <a:tc>
                  <a:txBody>
                    <a:bodyPr/>
                    <a:lstStyle/>
                    <a:p>
                      <a:r>
                        <a:rPr sz="1275" b="0" dirty="0">
                          <a:solidFill>
                            <a:srgbClr val="18252B"/>
                          </a:solidFill>
                          <a:latin typeface="Arial"/>
                          <a:ea typeface="Arial"/>
                          <a:cs typeface="Arial"/>
                        </a:rPr>
                        <a:t>value: 1 or 0</a:t>
                      </a:r>
                    </a:p>
                  </a:txBody>
                  <a:tcPr anchor="ctr">
                    <a:solidFill>
                      <a:srgbClr val="FFFFFF"/>
                    </a:solidFill>
                  </a:tcPr>
                </a:tc>
                <a:tc>
                  <a:txBody>
                    <a:bodyPr/>
                    <a:lstStyle/>
                    <a:p>
                      <a:r>
                        <a:rPr sz="1275" b="0">
                          <a:solidFill>
                            <a:srgbClr val="18252B"/>
                          </a:solidFill>
                          <a:latin typeface="Arial"/>
                          <a:ea typeface="Arial"/>
                          <a:cs typeface="Arial"/>
                        </a:rPr>
                        <a:t>Engage or release emergency A/C</a:t>
                      </a:r>
                    </a:p>
                  </a:txBody>
                  <a:tcPr anchor="ctr">
                    <a:solidFill>
                      <a:srgbClr val="FFFFFF"/>
                    </a:solidFill>
                  </a:tcPr>
                </a:tc>
                <a:extLst>
                  <a:ext uri="{0D108BD9-81ED-4DB2-BD59-A6C34878D82A}">
                    <a16:rowId xmlns:a16="http://schemas.microsoft.com/office/drawing/2014/main" val="10002"/>
                  </a:ext>
                </a:extLst>
              </a:tr>
              <a:tr h="727710">
                <a:tc>
                  <a:txBody>
                    <a:bodyPr/>
                    <a:lstStyle/>
                    <a:p>
                      <a:r>
                        <a:rPr sz="1275" b="1">
                          <a:solidFill>
                            <a:srgbClr val="113C52"/>
                          </a:solidFill>
                          <a:latin typeface="Arial"/>
                          <a:ea typeface="Arial"/>
                          <a:cs typeface="Arial"/>
                        </a:rPr>
                        <a:t>pr/home/pump/sts</a:t>
                      </a:r>
                    </a:p>
                  </a:txBody>
                  <a:tcPr anchor="ctr">
                    <a:solidFill>
                      <a:srgbClr val="E7F4F8"/>
                    </a:solidFill>
                  </a:tcPr>
                </a:tc>
                <a:tc>
                  <a:txBody>
                    <a:bodyPr/>
                    <a:lstStyle/>
                    <a:p>
                      <a:r>
                        <a:rPr lang="en-US" sz="1275" b="0" dirty="0">
                          <a:solidFill>
                            <a:srgbClr val="18252B"/>
                          </a:solidFill>
                          <a:latin typeface="Arial"/>
                          <a:ea typeface="Arial"/>
                          <a:cs typeface="Arial"/>
                        </a:rPr>
                        <a:t>value: 1 or 0</a:t>
                      </a:r>
                    </a:p>
                  </a:txBody>
                  <a:tcPr anchor="ctr">
                    <a:solidFill>
                      <a:srgbClr val="E7F4F8"/>
                    </a:solidFill>
                  </a:tcPr>
                </a:tc>
                <a:tc>
                  <a:txBody>
                    <a:bodyPr/>
                    <a:lstStyle/>
                    <a:p>
                      <a:r>
                        <a:rPr sz="1275" b="0">
                          <a:solidFill>
                            <a:srgbClr val="18252B"/>
                          </a:solidFill>
                          <a:latin typeface="Arial"/>
                          <a:ea typeface="Arial"/>
                          <a:cs typeface="Arial"/>
                        </a:rPr>
                        <a:t>Start or stop the drain pump</a:t>
                      </a:r>
                    </a:p>
                  </a:txBody>
                  <a:tcPr anchor="ctr">
                    <a:solidFill>
                      <a:srgbClr val="E7F4F8"/>
                    </a:solidFill>
                  </a:tcPr>
                </a:tc>
                <a:extLst>
                  <a:ext uri="{0D108BD9-81ED-4DB2-BD59-A6C34878D82A}">
                    <a16:rowId xmlns:a16="http://schemas.microsoft.com/office/drawing/2014/main" val="10003"/>
                  </a:ext>
                </a:extLst>
              </a:tr>
              <a:tr h="727710">
                <a:tc>
                  <a:txBody>
                    <a:bodyPr/>
                    <a:lstStyle/>
                    <a:p>
                      <a:r>
                        <a:rPr sz="1275" b="1">
                          <a:solidFill>
                            <a:srgbClr val="113C52"/>
                          </a:solidFill>
                          <a:latin typeface="Arial"/>
                          <a:ea typeface="Arial"/>
                          <a:cs typeface="Arial"/>
                        </a:rPr>
                        <a:t>pr/home/alarm/sts</a:t>
                      </a:r>
                    </a:p>
                  </a:txBody>
                  <a:tcPr anchor="ctr">
                    <a:solidFill>
                      <a:srgbClr val="FFFFFF"/>
                    </a:solidFill>
                  </a:tcPr>
                </a:tc>
                <a:tc>
                  <a:txBody>
                    <a:bodyPr/>
                    <a:lstStyle/>
                    <a:p>
                      <a:r>
                        <a:rPr lang="en-US" sz="1275" b="0" dirty="0">
                          <a:solidFill>
                            <a:srgbClr val="18252B"/>
                          </a:solidFill>
                          <a:latin typeface="Arial"/>
                          <a:ea typeface="Arial"/>
                          <a:cs typeface="Arial"/>
                        </a:rPr>
                        <a:t>value: 1 or 0</a:t>
                      </a:r>
                    </a:p>
                  </a:txBody>
                  <a:tcPr anchor="ctr">
                    <a:solidFill>
                      <a:srgbClr val="FFFFFF"/>
                    </a:solidFill>
                  </a:tcPr>
                </a:tc>
                <a:tc>
                  <a:txBody>
                    <a:bodyPr/>
                    <a:lstStyle/>
                    <a:p>
                      <a:r>
                        <a:rPr sz="1275" b="0" dirty="0">
                          <a:solidFill>
                            <a:srgbClr val="18252B"/>
                          </a:solidFill>
                          <a:latin typeface="Arial"/>
                          <a:ea typeface="Arial"/>
                          <a:cs typeface="Arial"/>
                        </a:rPr>
                        <a:t>Sound or silence the alarm</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6" name="mqtt-active-pill">
            <a:extLst>
              <a:ext uri="{FF2B5EF4-FFF2-40B4-BE49-F238E27FC236}">
                <a16:creationId xmlns:a16="http://schemas.microsoft.com/office/drawing/2014/main" id="{BC8BD5D4-EC41-4D28-8A79-637D31B556EF}"/>
              </a:ext>
            </a:extLst>
          </p:cNvPr>
          <p:cNvSpPr>
            <a:spLocks noGrp="1"/>
          </p:cNvSpPr>
          <p:nvPr/>
        </p:nvSpPr>
        <p:spPr>
          <a:xfrm>
            <a:off x="952500" y="5753100"/>
            <a:ext cx="1333500" cy="285750"/>
          </a:xfrm>
          <a:prstGeom prst="roundRect">
            <a:avLst>
              <a:gd name="adj" fmla="val 50000"/>
            </a:avLst>
          </a:prstGeom>
          <a:solidFill>
            <a:srgbClr val="FBE8E9"/>
          </a:solidFill>
          <a:ln w="9525">
            <a:solidFill>
              <a:srgbClr val="E25A60"/>
            </a:solidFill>
            <a:prstDash val="solid"/>
          </a:ln>
        </p:spPr>
        <p:txBody>
          <a:bodyPr wrap="square" lIns="76200" tIns="28575" rIns="76200" bIns="28575" anchor="ctr">
            <a:normAutofit fontScale="96280" lnSpcReduction="10000"/>
          </a:bodyPr>
          <a:lstStyle/>
          <a:p>
            <a:pPr algn="ctr">
              <a:lnSpc>
                <a:spcPct val="102000"/>
              </a:lnSpc>
              <a:buNone/>
              <a:defRPr sz="1050" b="1">
                <a:solidFill>
                  <a:srgbClr val="E25A60"/>
                </a:solidFill>
                <a:latin typeface="Arial"/>
                <a:ea typeface="Arial"/>
                <a:cs typeface="Arial"/>
              </a:defRPr>
            </a:pPr>
            <a:r>
              <a:rPr sz="1050" b="1">
                <a:solidFill>
                  <a:srgbClr val="E25A60"/>
                </a:solidFill>
                <a:latin typeface="Arial"/>
                <a:ea typeface="Arial"/>
                <a:cs typeface="Arial"/>
              </a:rPr>
              <a:t>1 = ACTIVE</a:t>
            </a:r>
          </a:p>
        </p:txBody>
      </p:sp>
      <p:sp>
        <p:nvSpPr>
          <p:cNvPr id="7" name="mqtt-idle-pill">
            <a:extLst>
              <a:ext uri="{FF2B5EF4-FFF2-40B4-BE49-F238E27FC236}">
                <a16:creationId xmlns:a16="http://schemas.microsoft.com/office/drawing/2014/main" id="{AD6E363F-0BA7-4ACB-92D5-46A108DE54CC}"/>
              </a:ext>
            </a:extLst>
          </p:cNvPr>
          <p:cNvSpPr>
            <a:spLocks noGrp="1"/>
          </p:cNvSpPr>
          <p:nvPr/>
        </p:nvSpPr>
        <p:spPr>
          <a:xfrm>
            <a:off x="2457450" y="5753100"/>
            <a:ext cx="1181100" cy="285750"/>
          </a:xfrm>
          <a:prstGeom prst="roundRect">
            <a:avLst>
              <a:gd name="adj" fmla="val 50000"/>
            </a:avLst>
          </a:prstGeom>
          <a:solidFill>
            <a:srgbClr val="E4F2EE"/>
          </a:solidFill>
          <a:ln w="9525">
            <a:solidFill>
              <a:srgbClr val="4FB49A"/>
            </a:solidFill>
            <a:prstDash val="solid"/>
          </a:ln>
        </p:spPr>
        <p:txBody>
          <a:bodyPr wrap="square" lIns="76200" tIns="28575" rIns="76200" bIns="28575" anchor="ctr">
            <a:normAutofit fontScale="96280" lnSpcReduction="10000"/>
          </a:bodyPr>
          <a:lstStyle/>
          <a:p>
            <a:pPr algn="ctr">
              <a:lnSpc>
                <a:spcPct val="102000"/>
              </a:lnSpc>
              <a:buNone/>
              <a:defRPr sz="1050" b="1">
                <a:solidFill>
                  <a:srgbClr val="4FB49A"/>
                </a:solidFill>
                <a:latin typeface="Arial"/>
                <a:ea typeface="Arial"/>
                <a:cs typeface="Arial"/>
              </a:defRPr>
            </a:pPr>
            <a:r>
              <a:rPr sz="1050" b="1">
                <a:solidFill>
                  <a:srgbClr val="4FB49A"/>
                </a:solidFill>
                <a:latin typeface="Arial"/>
                <a:ea typeface="Arial"/>
                <a:cs typeface="Arial"/>
              </a:rPr>
              <a:t>0 = IDLE</a:t>
            </a:r>
          </a:p>
        </p:txBody>
      </p:sp>
      <p:sp>
        <p:nvSpPr>
          <p:cNvPr id="8" name="mqtt-caption">
            <a:extLst>
              <a:ext uri="{FF2B5EF4-FFF2-40B4-BE49-F238E27FC236}">
                <a16:creationId xmlns:a16="http://schemas.microsoft.com/office/drawing/2014/main" id="{AF1E307C-8B86-4B48-8321-57018F340895}"/>
              </a:ext>
            </a:extLst>
          </p:cNvPr>
          <p:cNvSpPr>
            <a:spLocks noGrp="1"/>
          </p:cNvSpPr>
          <p:nvPr/>
        </p:nvSpPr>
        <p:spPr>
          <a:xfrm>
            <a:off x="4000500" y="5734050"/>
            <a:ext cx="6667500" cy="323850"/>
          </a:xfrm>
          <a:prstGeom prst="rect">
            <a:avLst/>
          </a:prstGeom>
          <a:noFill/>
          <a:ln w="0">
            <a:noFill/>
            <a:prstDash val="solid"/>
          </a:ln>
        </p:spPr>
        <p:txBody>
          <a:bodyPr wrap="square" lIns="0" tIns="0" rIns="0" bIns="0" anchor="t">
            <a:normAutofit fontScale="89147"/>
          </a:bodyPr>
          <a:lstStyle/>
          <a:p>
            <a:pPr algn="r">
              <a:lnSpc>
                <a:spcPct val="105000"/>
              </a:lnSpc>
              <a:buNone/>
              <a:defRPr sz="1350" b="0" i="0">
                <a:solidFill>
                  <a:srgbClr val="5C6A70"/>
                </a:solidFill>
                <a:latin typeface="Arial"/>
                <a:ea typeface="Arial"/>
                <a:cs typeface="Arial"/>
              </a:defRPr>
            </a:pPr>
            <a:r>
              <a:rPr sz="1350" b="0" i="0">
                <a:solidFill>
                  <a:srgbClr val="5C6A70"/>
                </a:solidFill>
                <a:latin typeface="Arial"/>
                <a:ea typeface="Arial"/>
                <a:cs typeface="Arial"/>
              </a:rPr>
              <a:t>The dashboard subscribes to all four topics and publishes control state when a threshold changes.</a:t>
            </a:r>
          </a:p>
        </p:txBody>
      </p:sp>
      <p:sp>
        <p:nvSpPr>
          <p:cNvPr id="9" name="7-footer-left">
            <a:extLst>
              <a:ext uri="{FF2B5EF4-FFF2-40B4-BE49-F238E27FC236}">
                <a16:creationId xmlns:a16="http://schemas.microsoft.com/office/drawing/2014/main" id="{4B3EFB28-F03C-42A0-94D1-0DBE2ECD463C}"/>
              </a:ext>
            </a:extLst>
          </p:cNvPr>
          <p:cNvSpPr>
            <a:spLocks noGrp="1"/>
          </p:cNvSpPr>
          <p:nvPr/>
        </p:nvSpPr>
        <p:spPr>
          <a:xfrm>
            <a:off x="685800" y="6534150"/>
            <a:ext cx="4762500" cy="190500"/>
          </a:xfrm>
          <a:prstGeom prst="rect">
            <a:avLst/>
          </a:prstGeom>
          <a:noFill/>
          <a:ln w="0">
            <a:noFill/>
            <a:prstDash val="solid"/>
          </a:ln>
        </p:spPr>
        <p:txBody>
          <a:bodyPr wrap="square" lIns="0" tIns="0" rIns="0" bIns="0" anchor="t">
            <a:normAutofit/>
          </a:bodyPr>
          <a:lstStyle/>
          <a:p>
            <a:pPr algn="l">
              <a:lnSpc>
                <a:spcPct val="105000"/>
              </a:lnSpc>
              <a:buNone/>
              <a:defRPr sz="900" b="0" i="0">
                <a:solidFill>
                  <a:srgbClr val="5C6A70"/>
                </a:solidFill>
                <a:latin typeface="Arial"/>
                <a:ea typeface="Arial"/>
                <a:cs typeface="Arial"/>
              </a:defRPr>
            </a:pPr>
            <a:r>
              <a:rPr sz="900" b="0" i="0">
                <a:solidFill>
                  <a:srgbClr val="5C6A70"/>
                </a:solidFill>
                <a:latin typeface="Arial"/>
                <a:ea typeface="Arial"/>
                <a:cs typeface="Arial"/>
              </a:rPr>
              <a:t>IOT SMART HOME / SERVER ROOM MONITOR</a:t>
            </a:r>
          </a:p>
        </p:txBody>
      </p:sp>
      <p:sp>
        <p:nvSpPr>
          <p:cNvPr id="10" name="7-footer-right">
            <a:extLst>
              <a:ext uri="{FF2B5EF4-FFF2-40B4-BE49-F238E27FC236}">
                <a16:creationId xmlns:a16="http://schemas.microsoft.com/office/drawing/2014/main" id="{96F755E2-80E4-4EC8-9C8F-461332F909DA}"/>
              </a:ext>
            </a:extLst>
          </p:cNvPr>
          <p:cNvSpPr>
            <a:spLocks noGrp="1"/>
          </p:cNvSpPr>
          <p:nvPr/>
        </p:nvSpPr>
        <p:spPr>
          <a:xfrm>
            <a:off x="7239000" y="6534150"/>
            <a:ext cx="4267200" cy="190500"/>
          </a:xfrm>
          <a:prstGeom prst="rect">
            <a:avLst/>
          </a:prstGeom>
          <a:noFill/>
          <a:ln w="0">
            <a:noFill/>
            <a:prstDash val="solid"/>
          </a:ln>
        </p:spPr>
        <p:txBody>
          <a:bodyPr wrap="square" lIns="0" tIns="0" rIns="0" bIns="0" anchor="t">
            <a:normAutofit/>
          </a:bodyPr>
          <a:lstStyle/>
          <a:p>
            <a:pPr algn="r">
              <a:lnSpc>
                <a:spcPct val="105000"/>
              </a:lnSpc>
              <a:buNone/>
              <a:defRPr sz="900" b="0" i="0">
                <a:solidFill>
                  <a:srgbClr val="5C6A70"/>
                </a:solidFill>
                <a:latin typeface="Arial"/>
                <a:ea typeface="Arial"/>
                <a:cs typeface="Arial"/>
              </a:defRPr>
            </a:pPr>
            <a:r>
              <a:rPr sz="900" b="0" i="0">
                <a:solidFill>
                  <a:srgbClr val="5C6A70"/>
                </a:solidFill>
                <a:latin typeface="Arial"/>
                <a:ea typeface="Arial"/>
                <a:cs typeface="Arial"/>
              </a:rPr>
              <a:t>github.com/aharoni-cohen/iot-smart-home</a:t>
            </a:r>
          </a:p>
        </p:txBody>
      </p:sp>
    </p:spTree>
    <p:extLst>
      <p:ext uri="{BB962C8B-B14F-4D97-AF65-F5344CB8AC3E}">
        <p14:creationId xmlns:p14="http://schemas.microsoft.com/office/powerpoint/2010/main" val="21358572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7"/>
        </a:solidFill>
        <a:effectLst/>
      </p:bgPr>
    </p:bg>
    <p:spTree>
      <p:nvGrpSpPr>
        <p:cNvPr id="1" name=""/>
        <p:cNvGrpSpPr/>
        <p:nvPr/>
      </p:nvGrpSpPr>
      <p:grpSpPr>
        <a:xfrm>
          <a:off x="0" y="0"/>
          <a:ext cx="0" cy="0"/>
          <a:chOff x="0" y="0"/>
          <a:chExt cx="0" cy="0"/>
        </a:xfrm>
      </p:grpSpPr>
      <p:sp>
        <p:nvSpPr>
          <p:cNvPr id="13" name="8-title-rule">
            <a:extLst>
              <a:ext uri="{FF2B5EF4-FFF2-40B4-BE49-F238E27FC236}">
                <a16:creationId xmlns:a16="http://schemas.microsoft.com/office/drawing/2014/main" id="{22214C95-EBFC-465E-9A96-9EE5B95A497F}"/>
              </a:ext>
            </a:extLst>
          </p:cNvPr>
          <p:cNvSpPr>
            <a:spLocks noGrp="1"/>
          </p:cNvSpPr>
          <p:nvPr/>
        </p:nvSpPr>
        <p:spPr>
          <a:xfrm>
            <a:off x="685800" y="552450"/>
            <a:ext cx="0" cy="400050"/>
          </a:xfrm>
          <a:prstGeom prst="line">
            <a:avLst/>
          </a:prstGeom>
          <a:noFill/>
          <a:ln w="19050">
            <a:solidFill>
              <a:srgbClr val="1FA9D2"/>
            </a:solidFill>
            <a:prstDash val="solid"/>
          </a:ln>
        </p:spPr>
        <p:txBody>
          <a:bodyPr/>
          <a:lstStyle/>
          <a:p>
            <a:endParaRPr lang="he-IL"/>
          </a:p>
        </p:txBody>
      </p:sp>
      <p:sp>
        <p:nvSpPr>
          <p:cNvPr id="2" name="8-title">
            <a:extLst>
              <a:ext uri="{FF2B5EF4-FFF2-40B4-BE49-F238E27FC236}">
                <a16:creationId xmlns:a16="http://schemas.microsoft.com/office/drawing/2014/main" id="{8AF4F044-2117-47CC-AED6-89A88CB51FA9}"/>
              </a:ext>
            </a:extLst>
          </p:cNvPr>
          <p:cNvSpPr>
            <a:spLocks noGrp="1"/>
          </p:cNvSpPr>
          <p:nvPr/>
        </p:nvSpPr>
        <p:spPr>
          <a:xfrm>
            <a:off x="914400" y="457200"/>
            <a:ext cx="9620250" cy="609600"/>
          </a:xfrm>
          <a:prstGeom prst="rect">
            <a:avLst/>
          </a:prstGeom>
          <a:noFill/>
          <a:ln w="0">
            <a:noFill/>
            <a:prstDash val="solid"/>
          </a:ln>
        </p:spPr>
        <p:txBody>
          <a:bodyPr wrap="square" lIns="0" tIns="0" rIns="0" bIns="0" anchor="t">
            <a:normAutofit/>
          </a:bodyPr>
          <a:lstStyle/>
          <a:p>
            <a:pPr algn="l">
              <a:lnSpc>
                <a:spcPct val="105000"/>
              </a:lnSpc>
              <a:buNone/>
              <a:defRPr sz="2925" b="0" i="0">
                <a:solidFill>
                  <a:srgbClr val="18252B"/>
                </a:solidFill>
                <a:latin typeface="Arial"/>
                <a:ea typeface="Arial"/>
                <a:cs typeface="Arial"/>
              </a:defRPr>
            </a:pPr>
            <a:r>
              <a:rPr sz="2925" b="0" i="0">
                <a:solidFill>
                  <a:srgbClr val="18252B"/>
                </a:solidFill>
                <a:latin typeface="Arial"/>
                <a:ea typeface="Arial"/>
                <a:cs typeface="Arial"/>
              </a:rPr>
              <a:t>Live dashboard</a:t>
            </a:r>
          </a:p>
        </p:txBody>
      </p:sp>
      <p:sp>
        <p:nvSpPr>
          <p:cNvPr id="3" name="8-subtitle">
            <a:extLst>
              <a:ext uri="{FF2B5EF4-FFF2-40B4-BE49-F238E27FC236}">
                <a16:creationId xmlns:a16="http://schemas.microsoft.com/office/drawing/2014/main" id="{165B92B4-38F9-4F70-A3F0-619058971BC4}"/>
              </a:ext>
            </a:extLst>
          </p:cNvPr>
          <p:cNvSpPr>
            <a:spLocks noGrp="1"/>
          </p:cNvSpPr>
          <p:nvPr/>
        </p:nvSpPr>
        <p:spPr>
          <a:xfrm>
            <a:off x="933450" y="1066800"/>
            <a:ext cx="10001250" cy="342900"/>
          </a:xfrm>
          <a:prstGeom prst="rect">
            <a:avLst/>
          </a:prstGeom>
          <a:noFill/>
          <a:ln w="0">
            <a:noFill/>
            <a:prstDash val="solid"/>
          </a:ln>
        </p:spPr>
        <p:txBody>
          <a:bodyPr wrap="square" lIns="0" tIns="0" rIns="0" bIns="0" anchor="t">
            <a:normAutofit/>
          </a:bodyPr>
          <a:lstStyle/>
          <a:p>
            <a:pPr algn="l">
              <a:lnSpc>
                <a:spcPct val="105000"/>
              </a:lnSpc>
              <a:buNone/>
              <a:defRPr sz="1350" b="0" i="0">
                <a:solidFill>
                  <a:srgbClr val="5C6A70"/>
                </a:solidFill>
                <a:latin typeface="Arial"/>
                <a:ea typeface="Arial"/>
                <a:cs typeface="Arial"/>
              </a:defRPr>
            </a:pPr>
            <a:r>
              <a:rPr sz="1350" b="0" i="0" dirty="0">
                <a:solidFill>
                  <a:srgbClr val="5C6A70"/>
                </a:solidFill>
                <a:latin typeface="Arial"/>
                <a:ea typeface="Arial"/>
                <a:cs typeface="Arial"/>
              </a:rPr>
              <a:t>A single window brings the broker connection, climate chart, relay states, and event log together</a:t>
            </a:r>
          </a:p>
        </p:txBody>
      </p:sp>
      <p:sp>
        <p:nvSpPr>
          <p:cNvPr id="4" name="8-folio">
            <a:extLst>
              <a:ext uri="{FF2B5EF4-FFF2-40B4-BE49-F238E27FC236}">
                <a16:creationId xmlns:a16="http://schemas.microsoft.com/office/drawing/2014/main" id="{29DDBD0D-2DC0-4780-8653-ADAC9007B094}"/>
              </a:ext>
            </a:extLst>
          </p:cNvPr>
          <p:cNvSpPr>
            <a:spLocks noGrp="1"/>
          </p:cNvSpPr>
          <p:nvPr/>
        </p:nvSpPr>
        <p:spPr>
          <a:xfrm>
            <a:off x="11239500" y="438150"/>
            <a:ext cx="419100" cy="228600"/>
          </a:xfrm>
          <a:prstGeom prst="rect">
            <a:avLst/>
          </a:prstGeom>
          <a:noFill/>
          <a:ln w="0">
            <a:noFill/>
            <a:prstDash val="solid"/>
          </a:ln>
        </p:spPr>
        <p:txBody>
          <a:bodyPr wrap="square" lIns="0" tIns="0" rIns="0" bIns="0" anchor="t">
            <a:normAutofit/>
          </a:bodyPr>
          <a:lstStyle/>
          <a:p>
            <a:pPr algn="r">
              <a:lnSpc>
                <a:spcPct val="105000"/>
              </a:lnSpc>
              <a:buNone/>
              <a:defRPr sz="1200" b="0" i="0">
                <a:solidFill>
                  <a:srgbClr val="5C6A70"/>
                </a:solidFill>
                <a:latin typeface="Arial"/>
                <a:ea typeface="Arial"/>
                <a:cs typeface="Arial"/>
              </a:defRPr>
            </a:pPr>
            <a:r>
              <a:rPr sz="1200" b="0" i="0">
                <a:solidFill>
                  <a:srgbClr val="5C6A70"/>
                </a:solidFill>
                <a:latin typeface="Arial"/>
                <a:ea typeface="Arial"/>
                <a:cs typeface="Arial"/>
              </a:rPr>
              <a:t>08</a:t>
            </a:r>
          </a:p>
        </p:txBody>
      </p:sp>
      <p:sp>
        <p:nvSpPr>
          <p:cNvPr id="5" name="dashboard-image-frame">
            <a:extLst>
              <a:ext uri="{FF2B5EF4-FFF2-40B4-BE49-F238E27FC236}">
                <a16:creationId xmlns:a16="http://schemas.microsoft.com/office/drawing/2014/main" id="{B47E0BF7-48EA-4BCB-A5BE-5C68ED34D5DF}"/>
              </a:ext>
            </a:extLst>
          </p:cNvPr>
          <p:cNvSpPr>
            <a:spLocks noGrp="1"/>
          </p:cNvSpPr>
          <p:nvPr/>
        </p:nvSpPr>
        <p:spPr>
          <a:xfrm>
            <a:off x="704850" y="1600200"/>
            <a:ext cx="7086600" cy="4400550"/>
          </a:xfrm>
          <a:prstGeom prst="roundRect">
            <a:avLst>
              <a:gd name="adj" fmla="val 3463"/>
            </a:avLst>
          </a:prstGeom>
          <a:solidFill>
            <a:srgbClr val="FFFFFF"/>
          </a:solidFill>
          <a:ln w="9525">
            <a:solidFill>
              <a:srgbClr val="C7D9DF"/>
            </a:solidFill>
            <a:prstDash val="solid"/>
          </a:ln>
        </p:spPr>
        <p:style>
          <a:lnRef idx="0">
            <a:scrgbClr r="0" g="0" b="0"/>
          </a:lnRef>
          <a:fillRef idx="0">
            <a:scrgbClr r="0" g="0" b="0"/>
          </a:fillRef>
          <a:effectRef idx="6">
            <a:scrgbClr r="0" g="0" b="0"/>
          </a:effectRef>
          <a:fontRef idx="major"/>
        </p:style>
        <p:txBody>
          <a:bodyPr/>
          <a:lstStyle/>
          <a:p>
            <a:endParaRPr lang="he-IL"/>
          </a:p>
        </p:txBody>
      </p:sp>
      <p:sp>
        <p:nvSpPr>
          <p:cNvPr id="7" name="dashboard-caption-panel">
            <a:extLst>
              <a:ext uri="{FF2B5EF4-FFF2-40B4-BE49-F238E27FC236}">
                <a16:creationId xmlns:a16="http://schemas.microsoft.com/office/drawing/2014/main" id="{CF80D390-6801-423D-BA5F-DAEC3ACF469F}"/>
              </a:ext>
            </a:extLst>
          </p:cNvPr>
          <p:cNvSpPr>
            <a:spLocks noGrp="1"/>
          </p:cNvSpPr>
          <p:nvPr/>
        </p:nvSpPr>
        <p:spPr>
          <a:xfrm>
            <a:off x="8191500" y="1600200"/>
            <a:ext cx="3314700" cy="4400550"/>
          </a:xfrm>
          <a:prstGeom prst="roundRect">
            <a:avLst>
              <a:gd name="adj" fmla="val 4598"/>
            </a:avLst>
          </a:prstGeom>
          <a:solidFill>
            <a:srgbClr val="113C52"/>
          </a:solidFill>
          <a:ln w="0">
            <a:solidFill>
              <a:srgbClr val="113C52"/>
            </a:solidFill>
            <a:prstDash val="solid"/>
          </a:ln>
        </p:spPr>
        <p:txBody>
          <a:bodyPr/>
          <a:lstStyle/>
          <a:p>
            <a:endParaRPr lang="he-IL"/>
          </a:p>
        </p:txBody>
      </p:sp>
      <p:sp>
        <p:nvSpPr>
          <p:cNvPr id="8" name="dashboard-caption-title">
            <a:extLst>
              <a:ext uri="{FF2B5EF4-FFF2-40B4-BE49-F238E27FC236}">
                <a16:creationId xmlns:a16="http://schemas.microsoft.com/office/drawing/2014/main" id="{F75EF1FB-7A1B-45F7-8F17-F010A31C97A0}"/>
              </a:ext>
            </a:extLst>
          </p:cNvPr>
          <p:cNvSpPr>
            <a:spLocks noGrp="1"/>
          </p:cNvSpPr>
          <p:nvPr/>
        </p:nvSpPr>
        <p:spPr>
          <a:xfrm>
            <a:off x="8534400" y="1981200"/>
            <a:ext cx="2571750" cy="361950"/>
          </a:xfrm>
          <a:prstGeom prst="rect">
            <a:avLst/>
          </a:prstGeom>
          <a:noFill/>
          <a:ln w="0">
            <a:noFill/>
            <a:prstDash val="solid"/>
          </a:ln>
        </p:spPr>
        <p:txBody>
          <a:bodyPr wrap="square" lIns="0" tIns="0" rIns="0" bIns="0" anchor="t">
            <a:normAutofit/>
          </a:bodyPr>
          <a:lstStyle/>
          <a:p>
            <a:pPr algn="l">
              <a:lnSpc>
                <a:spcPct val="105000"/>
              </a:lnSpc>
              <a:buNone/>
              <a:defRPr sz="1950" b="1" i="0">
                <a:solidFill>
                  <a:srgbClr val="FFFFFF"/>
                </a:solidFill>
                <a:latin typeface="Arial"/>
                <a:ea typeface="Arial"/>
                <a:cs typeface="Arial"/>
              </a:defRPr>
            </a:pPr>
            <a:r>
              <a:rPr sz="1950" b="1" i="0">
                <a:solidFill>
                  <a:srgbClr val="FFFFFF"/>
                </a:solidFill>
                <a:latin typeface="Arial"/>
                <a:ea typeface="Arial"/>
                <a:cs typeface="Arial"/>
              </a:rPr>
              <a:t>Current interface</a:t>
            </a:r>
          </a:p>
        </p:txBody>
      </p:sp>
      <p:sp>
        <p:nvSpPr>
          <p:cNvPr id="9" name="dashboard-caption-bullets">
            <a:extLst>
              <a:ext uri="{FF2B5EF4-FFF2-40B4-BE49-F238E27FC236}">
                <a16:creationId xmlns:a16="http://schemas.microsoft.com/office/drawing/2014/main" id="{F0621EF9-8AA3-41D7-AA95-44CAAA1733FF}"/>
              </a:ext>
            </a:extLst>
          </p:cNvPr>
          <p:cNvSpPr>
            <a:spLocks noGrp="1"/>
          </p:cNvSpPr>
          <p:nvPr/>
        </p:nvSpPr>
        <p:spPr>
          <a:xfrm>
            <a:off x="8534400" y="2628900"/>
            <a:ext cx="2647950" cy="2038350"/>
          </a:xfrm>
          <a:prstGeom prst="rect">
            <a:avLst/>
          </a:prstGeom>
          <a:noFill/>
          <a:ln w="0">
            <a:noFill/>
            <a:prstDash val="solid"/>
          </a:ln>
        </p:spPr>
        <p:txBody>
          <a:bodyPr wrap="square" lIns="0" tIns="0" rIns="0" bIns="0">
            <a:normAutofit/>
          </a:bodyPr>
          <a:lstStyle/>
          <a:p>
            <a:pPr marL="241300" indent="-114300">
              <a:lnSpc>
                <a:spcPct val="105000"/>
              </a:lnSpc>
              <a:spcAft>
                <a:spcPts val="1000"/>
              </a:spcAft>
              <a:buNone/>
              <a:defRPr sz="1350">
                <a:solidFill>
                  <a:srgbClr val="FFFFFF"/>
                </a:solidFill>
                <a:latin typeface="Arial"/>
                <a:ea typeface="Arial"/>
                <a:cs typeface="Arial"/>
              </a:defRPr>
            </a:pPr>
            <a:r>
              <a:rPr sz="1350">
                <a:solidFill>
                  <a:srgbClr val="FFFFFF"/>
                </a:solidFill>
                <a:latin typeface="Arial"/>
                <a:ea typeface="Arial"/>
                <a:cs typeface="Arial"/>
              </a:rPr>
              <a:t>One broker connection for the dashboard</a:t>
            </a:r>
          </a:p>
          <a:p>
            <a:pPr marL="241300" indent="-114300">
              <a:lnSpc>
                <a:spcPct val="105000"/>
              </a:lnSpc>
              <a:spcAft>
                <a:spcPts val="1000"/>
              </a:spcAft>
              <a:buNone/>
              <a:defRPr sz="1350">
                <a:solidFill>
                  <a:srgbClr val="FFFFFF"/>
                </a:solidFill>
                <a:latin typeface="Arial"/>
                <a:ea typeface="Arial"/>
                <a:cs typeface="Arial"/>
              </a:defRPr>
            </a:pPr>
            <a:r>
              <a:rPr sz="1350">
                <a:solidFill>
                  <a:srgbClr val="FFFFFF"/>
                </a:solidFill>
                <a:latin typeface="Arial"/>
                <a:ea typeface="Arial"/>
                <a:cs typeface="Arial"/>
              </a:rPr>
              <a:t>Temperature and humidity metrics with a live chart</a:t>
            </a:r>
          </a:p>
          <a:p>
            <a:pPr marL="241300" indent="-114300">
              <a:lnSpc>
                <a:spcPct val="105000"/>
              </a:lnSpc>
              <a:spcAft>
                <a:spcPts val="1000"/>
              </a:spcAft>
              <a:buNone/>
              <a:defRPr sz="1350">
                <a:solidFill>
                  <a:srgbClr val="FFFFFF"/>
                </a:solidFill>
                <a:latin typeface="Arial"/>
                <a:ea typeface="Arial"/>
                <a:cs typeface="Arial"/>
              </a:defRPr>
            </a:pPr>
            <a:r>
              <a:rPr sz="1350">
                <a:solidFill>
                  <a:srgbClr val="FFFFFF"/>
                </a:solidFill>
                <a:latin typeface="Arial"/>
                <a:ea typeface="Arial"/>
                <a:cs typeface="Arial"/>
              </a:rPr>
              <a:t>Alarm, A/C, and pump state cards</a:t>
            </a:r>
          </a:p>
          <a:p>
            <a:pPr marL="241300" indent="-114300">
              <a:lnSpc>
                <a:spcPct val="105000"/>
              </a:lnSpc>
              <a:spcAft>
                <a:spcPts val="1000"/>
              </a:spcAft>
              <a:buNone/>
              <a:defRPr sz="1350">
                <a:solidFill>
                  <a:srgbClr val="FFFFFF"/>
                </a:solidFill>
                <a:latin typeface="Arial"/>
                <a:ea typeface="Arial"/>
                <a:cs typeface="Arial"/>
              </a:defRPr>
            </a:pPr>
            <a:r>
              <a:rPr sz="1350">
                <a:solidFill>
                  <a:srgbClr val="FFFFFF"/>
                </a:solidFill>
                <a:latin typeface="Arial"/>
                <a:ea typeface="Arial"/>
                <a:cs typeface="Arial"/>
              </a:rPr>
              <a:t>Event Log tab for traceability</a:t>
            </a:r>
          </a:p>
        </p:txBody>
      </p:sp>
      <p:sp>
        <p:nvSpPr>
          <p:cNvPr id="10" name="dashboard-emergency-pill">
            <a:extLst>
              <a:ext uri="{FF2B5EF4-FFF2-40B4-BE49-F238E27FC236}">
                <a16:creationId xmlns:a16="http://schemas.microsoft.com/office/drawing/2014/main" id="{D504CEA1-6E7C-470C-8BE0-EE145A8D9DCA}"/>
              </a:ext>
            </a:extLst>
          </p:cNvPr>
          <p:cNvSpPr>
            <a:spLocks noGrp="1"/>
          </p:cNvSpPr>
          <p:nvPr/>
        </p:nvSpPr>
        <p:spPr>
          <a:xfrm>
            <a:off x="8534400" y="5105400"/>
            <a:ext cx="2343150" cy="285750"/>
          </a:xfrm>
          <a:prstGeom prst="roundRect">
            <a:avLst>
              <a:gd name="adj" fmla="val 50000"/>
            </a:avLst>
          </a:prstGeom>
          <a:solidFill>
            <a:srgbClr val="E25A60"/>
          </a:solidFill>
          <a:ln w="0">
            <a:solidFill>
              <a:srgbClr val="E25A60"/>
            </a:solidFill>
            <a:prstDash val="solid"/>
          </a:ln>
        </p:spPr>
        <p:txBody>
          <a:bodyPr wrap="square" lIns="76200" tIns="28575" rIns="76200" bIns="28575" anchor="ctr">
            <a:normAutofit fontScale="96280" lnSpcReduction="10000"/>
          </a:bodyPr>
          <a:lstStyle/>
          <a:p>
            <a:pPr algn="ctr">
              <a:lnSpc>
                <a:spcPct val="102000"/>
              </a:lnSpc>
              <a:buNone/>
              <a:defRPr sz="1050" b="1">
                <a:solidFill>
                  <a:srgbClr val="FFFFFF"/>
                </a:solidFill>
                <a:latin typeface="Arial"/>
                <a:ea typeface="Arial"/>
                <a:cs typeface="Arial"/>
              </a:defRPr>
            </a:pPr>
            <a:r>
              <a:rPr sz="1050" b="1">
                <a:solidFill>
                  <a:srgbClr val="FFFFFF"/>
                </a:solidFill>
                <a:latin typeface="Arial"/>
                <a:ea typeface="Arial"/>
                <a:cs typeface="Arial"/>
              </a:rPr>
              <a:t>EMERGENCY DEMO STATE</a:t>
            </a:r>
          </a:p>
        </p:txBody>
      </p:sp>
      <p:sp>
        <p:nvSpPr>
          <p:cNvPr id="11" name="8-footer-left">
            <a:extLst>
              <a:ext uri="{FF2B5EF4-FFF2-40B4-BE49-F238E27FC236}">
                <a16:creationId xmlns:a16="http://schemas.microsoft.com/office/drawing/2014/main" id="{3A63567A-FD21-459F-AEA1-9FC550FA4EF8}"/>
              </a:ext>
            </a:extLst>
          </p:cNvPr>
          <p:cNvSpPr>
            <a:spLocks noGrp="1"/>
          </p:cNvSpPr>
          <p:nvPr/>
        </p:nvSpPr>
        <p:spPr>
          <a:xfrm>
            <a:off x="685800" y="6534150"/>
            <a:ext cx="4762500" cy="190500"/>
          </a:xfrm>
          <a:prstGeom prst="rect">
            <a:avLst/>
          </a:prstGeom>
          <a:noFill/>
          <a:ln w="0">
            <a:noFill/>
            <a:prstDash val="solid"/>
          </a:ln>
        </p:spPr>
        <p:txBody>
          <a:bodyPr wrap="square" lIns="0" tIns="0" rIns="0" bIns="0" anchor="t">
            <a:normAutofit/>
          </a:bodyPr>
          <a:lstStyle/>
          <a:p>
            <a:pPr algn="l">
              <a:lnSpc>
                <a:spcPct val="105000"/>
              </a:lnSpc>
              <a:buNone/>
              <a:defRPr sz="900" b="0" i="0">
                <a:solidFill>
                  <a:srgbClr val="5C6A70"/>
                </a:solidFill>
                <a:latin typeface="Arial"/>
                <a:ea typeface="Arial"/>
                <a:cs typeface="Arial"/>
              </a:defRPr>
            </a:pPr>
            <a:r>
              <a:rPr sz="900" b="0" i="0">
                <a:solidFill>
                  <a:srgbClr val="5C6A70"/>
                </a:solidFill>
                <a:latin typeface="Arial"/>
                <a:ea typeface="Arial"/>
                <a:cs typeface="Arial"/>
              </a:rPr>
              <a:t>IOT SMART HOME / SERVER ROOM MONITOR</a:t>
            </a:r>
          </a:p>
        </p:txBody>
      </p:sp>
      <p:sp>
        <p:nvSpPr>
          <p:cNvPr id="12" name="8-footer-right">
            <a:extLst>
              <a:ext uri="{FF2B5EF4-FFF2-40B4-BE49-F238E27FC236}">
                <a16:creationId xmlns:a16="http://schemas.microsoft.com/office/drawing/2014/main" id="{41F6B5BD-3469-44D9-8F9C-7E83C4BA8256}"/>
              </a:ext>
            </a:extLst>
          </p:cNvPr>
          <p:cNvSpPr>
            <a:spLocks noGrp="1"/>
          </p:cNvSpPr>
          <p:nvPr/>
        </p:nvSpPr>
        <p:spPr>
          <a:xfrm>
            <a:off x="7239000" y="6534150"/>
            <a:ext cx="4267200" cy="190500"/>
          </a:xfrm>
          <a:prstGeom prst="rect">
            <a:avLst/>
          </a:prstGeom>
          <a:noFill/>
          <a:ln w="0">
            <a:noFill/>
            <a:prstDash val="solid"/>
          </a:ln>
        </p:spPr>
        <p:txBody>
          <a:bodyPr wrap="square" lIns="0" tIns="0" rIns="0" bIns="0" anchor="t">
            <a:normAutofit/>
          </a:bodyPr>
          <a:lstStyle/>
          <a:p>
            <a:pPr algn="r">
              <a:lnSpc>
                <a:spcPct val="105000"/>
              </a:lnSpc>
              <a:buNone/>
              <a:defRPr sz="900" b="0" i="0">
                <a:solidFill>
                  <a:srgbClr val="5C6A70"/>
                </a:solidFill>
                <a:latin typeface="Arial"/>
                <a:ea typeface="Arial"/>
                <a:cs typeface="Arial"/>
              </a:defRPr>
            </a:pPr>
            <a:r>
              <a:rPr sz="900" b="0" i="0">
                <a:solidFill>
                  <a:srgbClr val="5C6A70"/>
                </a:solidFill>
                <a:latin typeface="Arial"/>
                <a:ea typeface="Arial"/>
                <a:cs typeface="Arial"/>
              </a:rPr>
              <a:t>github.com/aharoni-cohen/iot-smart-home</a:t>
            </a:r>
          </a:p>
        </p:txBody>
      </p:sp>
      <p:pic>
        <p:nvPicPr>
          <p:cNvPr id="14" name="Picture 13">
            <a:extLst>
              <a:ext uri="{FF2B5EF4-FFF2-40B4-BE49-F238E27FC236}">
                <a16:creationId xmlns:a16="http://schemas.microsoft.com/office/drawing/2014/main" id="{D7373A81-2D30-170C-B4AE-C19BEFEDA704}"/>
              </a:ext>
            </a:extLst>
          </p:cNvPr>
          <p:cNvPicPr>
            <a:picLocks noChangeAspect="1"/>
          </p:cNvPicPr>
          <p:nvPr/>
        </p:nvPicPr>
        <p:blipFill>
          <a:blip r:embed="rId3"/>
          <a:stretch/>
        </p:blipFill>
        <p:spPr>
          <a:xfrm>
            <a:off x="1742822" y="1600201"/>
            <a:ext cx="5010656" cy="4400550"/>
          </a:xfrm>
          <a:prstGeom prst="rect">
            <a:avLst/>
          </a:prstGeom>
        </p:spPr>
      </p:pic>
    </p:spTree>
    <p:extLst>
      <p:ext uri="{BB962C8B-B14F-4D97-AF65-F5344CB8AC3E}">
        <p14:creationId xmlns:p14="http://schemas.microsoft.com/office/powerpoint/2010/main" val="10417517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9-title-rule">
            <a:extLst>
              <a:ext uri="{FF2B5EF4-FFF2-40B4-BE49-F238E27FC236}">
                <a16:creationId xmlns:a16="http://schemas.microsoft.com/office/drawing/2014/main" id="{3D66ECBB-408A-4EDD-BC1E-29870CF69AEA}"/>
              </a:ext>
            </a:extLst>
          </p:cNvPr>
          <p:cNvSpPr>
            <a:spLocks noGrp="1"/>
          </p:cNvSpPr>
          <p:nvPr/>
        </p:nvSpPr>
        <p:spPr>
          <a:xfrm>
            <a:off x="685800" y="552450"/>
            <a:ext cx="0" cy="400050"/>
          </a:xfrm>
          <a:prstGeom prst="line">
            <a:avLst/>
          </a:prstGeom>
          <a:noFill/>
          <a:ln w="19050">
            <a:solidFill>
              <a:srgbClr val="1FA9D2"/>
            </a:solidFill>
            <a:prstDash val="solid"/>
          </a:ln>
        </p:spPr>
        <p:txBody>
          <a:bodyPr/>
          <a:lstStyle/>
          <a:p>
            <a:endParaRPr lang="he-IL"/>
          </a:p>
        </p:txBody>
      </p:sp>
      <p:sp>
        <p:nvSpPr>
          <p:cNvPr id="2" name="9-title">
            <a:extLst>
              <a:ext uri="{FF2B5EF4-FFF2-40B4-BE49-F238E27FC236}">
                <a16:creationId xmlns:a16="http://schemas.microsoft.com/office/drawing/2014/main" id="{22805B29-BD87-4F72-B33D-3C29C9F1E07F}"/>
              </a:ext>
            </a:extLst>
          </p:cNvPr>
          <p:cNvSpPr>
            <a:spLocks noGrp="1"/>
          </p:cNvSpPr>
          <p:nvPr/>
        </p:nvSpPr>
        <p:spPr>
          <a:xfrm>
            <a:off x="914400" y="457200"/>
            <a:ext cx="9620250" cy="609600"/>
          </a:xfrm>
          <a:prstGeom prst="rect">
            <a:avLst/>
          </a:prstGeom>
          <a:noFill/>
          <a:ln w="0">
            <a:noFill/>
            <a:prstDash val="solid"/>
          </a:ln>
        </p:spPr>
        <p:txBody>
          <a:bodyPr wrap="square" lIns="0" tIns="0" rIns="0" bIns="0" anchor="t">
            <a:normAutofit/>
          </a:bodyPr>
          <a:lstStyle/>
          <a:p>
            <a:pPr algn="l">
              <a:lnSpc>
                <a:spcPct val="105000"/>
              </a:lnSpc>
              <a:buNone/>
              <a:defRPr sz="2925" b="0" i="0">
                <a:solidFill>
                  <a:srgbClr val="18252B"/>
                </a:solidFill>
                <a:latin typeface="Arial"/>
                <a:ea typeface="Arial"/>
                <a:cs typeface="Arial"/>
              </a:defRPr>
            </a:pPr>
            <a:r>
              <a:rPr sz="2925" b="0" i="0">
                <a:solidFill>
                  <a:srgbClr val="18252B"/>
                </a:solidFill>
                <a:latin typeface="Arial"/>
                <a:ea typeface="Arial"/>
                <a:cs typeface="Arial"/>
              </a:rPr>
              <a:t>Emergency response in the GUI</a:t>
            </a:r>
          </a:p>
        </p:txBody>
      </p:sp>
      <p:sp>
        <p:nvSpPr>
          <p:cNvPr id="3" name="9-subtitle">
            <a:extLst>
              <a:ext uri="{FF2B5EF4-FFF2-40B4-BE49-F238E27FC236}">
                <a16:creationId xmlns:a16="http://schemas.microsoft.com/office/drawing/2014/main" id="{458D436F-1A88-4B9F-9014-B2134986D2BA}"/>
              </a:ext>
            </a:extLst>
          </p:cNvPr>
          <p:cNvSpPr>
            <a:spLocks noGrp="1"/>
          </p:cNvSpPr>
          <p:nvPr/>
        </p:nvSpPr>
        <p:spPr>
          <a:xfrm>
            <a:off x="933450" y="1066800"/>
            <a:ext cx="10001250" cy="342900"/>
          </a:xfrm>
          <a:prstGeom prst="rect">
            <a:avLst/>
          </a:prstGeom>
          <a:noFill/>
          <a:ln w="0">
            <a:noFill/>
            <a:prstDash val="solid"/>
          </a:ln>
        </p:spPr>
        <p:txBody>
          <a:bodyPr wrap="square" lIns="0" tIns="0" rIns="0" bIns="0" anchor="t">
            <a:normAutofit/>
          </a:bodyPr>
          <a:lstStyle/>
          <a:p>
            <a:pPr algn="l">
              <a:lnSpc>
                <a:spcPct val="105000"/>
              </a:lnSpc>
              <a:buNone/>
              <a:defRPr sz="1350" b="0" i="0">
                <a:solidFill>
                  <a:srgbClr val="5C6A70"/>
                </a:solidFill>
                <a:latin typeface="Arial"/>
                <a:ea typeface="Arial"/>
                <a:cs typeface="Arial"/>
              </a:defRPr>
            </a:pPr>
            <a:r>
              <a:rPr sz="1350" b="0" i="0">
                <a:solidFill>
                  <a:srgbClr val="5C6A70"/>
                </a:solidFill>
                <a:latin typeface="Arial"/>
                <a:ea typeface="Arial"/>
                <a:cs typeface="Arial"/>
              </a:rPr>
              <a:t>The event log makes the decision path easy to inspect after a threshold is crossed</a:t>
            </a:r>
          </a:p>
        </p:txBody>
      </p:sp>
      <p:sp>
        <p:nvSpPr>
          <p:cNvPr id="4" name="9-folio">
            <a:extLst>
              <a:ext uri="{FF2B5EF4-FFF2-40B4-BE49-F238E27FC236}">
                <a16:creationId xmlns:a16="http://schemas.microsoft.com/office/drawing/2014/main" id="{505069ED-9121-46E2-89B0-07A90EBD443A}"/>
              </a:ext>
            </a:extLst>
          </p:cNvPr>
          <p:cNvSpPr>
            <a:spLocks noGrp="1"/>
          </p:cNvSpPr>
          <p:nvPr/>
        </p:nvSpPr>
        <p:spPr>
          <a:xfrm>
            <a:off x="11239500" y="438150"/>
            <a:ext cx="419100" cy="228600"/>
          </a:xfrm>
          <a:prstGeom prst="rect">
            <a:avLst/>
          </a:prstGeom>
          <a:noFill/>
          <a:ln w="0">
            <a:noFill/>
            <a:prstDash val="solid"/>
          </a:ln>
        </p:spPr>
        <p:txBody>
          <a:bodyPr wrap="square" lIns="0" tIns="0" rIns="0" bIns="0" anchor="t">
            <a:normAutofit/>
          </a:bodyPr>
          <a:lstStyle/>
          <a:p>
            <a:pPr algn="r">
              <a:lnSpc>
                <a:spcPct val="105000"/>
              </a:lnSpc>
              <a:buNone/>
              <a:defRPr sz="1200" b="0" i="0">
                <a:solidFill>
                  <a:srgbClr val="5C6A70"/>
                </a:solidFill>
                <a:latin typeface="Arial"/>
                <a:ea typeface="Arial"/>
                <a:cs typeface="Arial"/>
              </a:defRPr>
            </a:pPr>
            <a:r>
              <a:rPr sz="1200" b="0" i="0">
                <a:solidFill>
                  <a:srgbClr val="5C6A70"/>
                </a:solidFill>
                <a:latin typeface="Arial"/>
                <a:ea typeface="Arial"/>
                <a:cs typeface="Arial"/>
              </a:rPr>
              <a:t>09</a:t>
            </a:r>
          </a:p>
        </p:txBody>
      </p:sp>
      <p:pic>
        <p:nvPicPr>
          <p:cNvPr id="19" name="Picture 18"/>
          <p:cNvPicPr>
            <a:picLocks noChangeAspect="1"/>
          </p:cNvPicPr>
          <p:nvPr/>
        </p:nvPicPr>
        <p:blipFill>
          <a:blip r:embed="rId3"/>
          <a:stretch/>
        </p:blipFill>
        <p:spPr>
          <a:xfrm>
            <a:off x="1566502" y="1657350"/>
            <a:ext cx="5401396" cy="4476750"/>
          </a:xfrm>
          <a:prstGeom prst="roundRect">
            <a:avLst>
              <a:gd name="adj" fmla="val 2553"/>
            </a:avLst>
          </a:prstGeom>
        </p:spPr>
      </p:pic>
      <p:sp>
        <p:nvSpPr>
          <p:cNvPr id="6" name="event-log-detail-panel">
            <a:extLst>
              <a:ext uri="{FF2B5EF4-FFF2-40B4-BE49-F238E27FC236}">
                <a16:creationId xmlns:a16="http://schemas.microsoft.com/office/drawing/2014/main" id="{BAB16E54-7DB2-403A-A702-EB315DE1E031}"/>
              </a:ext>
            </a:extLst>
          </p:cNvPr>
          <p:cNvSpPr>
            <a:spLocks noGrp="1"/>
          </p:cNvSpPr>
          <p:nvPr/>
        </p:nvSpPr>
        <p:spPr>
          <a:xfrm>
            <a:off x="8248650" y="1657350"/>
            <a:ext cx="3162300" cy="4476750"/>
          </a:xfrm>
          <a:prstGeom prst="roundRect">
            <a:avLst>
              <a:gd name="adj" fmla="val 4819"/>
            </a:avLst>
          </a:prstGeom>
          <a:solidFill>
            <a:srgbClr val="E7F4F8"/>
          </a:solidFill>
          <a:ln w="9525">
            <a:solidFill>
              <a:srgbClr val="8CC9DB"/>
            </a:solidFill>
            <a:prstDash val="solid"/>
          </a:ln>
        </p:spPr>
        <p:txBody>
          <a:bodyPr/>
          <a:lstStyle/>
          <a:p>
            <a:endParaRPr lang="he-IL"/>
          </a:p>
        </p:txBody>
      </p:sp>
      <p:sp>
        <p:nvSpPr>
          <p:cNvPr id="7" name="event-log-detail-title">
            <a:extLst>
              <a:ext uri="{FF2B5EF4-FFF2-40B4-BE49-F238E27FC236}">
                <a16:creationId xmlns:a16="http://schemas.microsoft.com/office/drawing/2014/main" id="{66DB94AD-2314-4C00-9FCE-CE75C0965AE2}"/>
              </a:ext>
            </a:extLst>
          </p:cNvPr>
          <p:cNvSpPr>
            <a:spLocks noGrp="1"/>
          </p:cNvSpPr>
          <p:nvPr/>
        </p:nvSpPr>
        <p:spPr>
          <a:xfrm>
            <a:off x="8591550" y="1962150"/>
            <a:ext cx="2362200" cy="342900"/>
          </a:xfrm>
          <a:prstGeom prst="rect">
            <a:avLst/>
          </a:prstGeom>
          <a:noFill/>
          <a:ln w="0">
            <a:noFill/>
            <a:prstDash val="solid"/>
          </a:ln>
        </p:spPr>
        <p:txBody>
          <a:bodyPr wrap="square" lIns="0" tIns="0" rIns="0" bIns="0" anchor="t">
            <a:normAutofit/>
          </a:bodyPr>
          <a:lstStyle/>
          <a:p>
            <a:pPr algn="ctr">
              <a:lnSpc>
                <a:spcPct val="105000"/>
              </a:lnSpc>
              <a:buNone/>
              <a:defRPr sz="1875" b="1" i="0">
                <a:solidFill>
                  <a:srgbClr val="113C52"/>
                </a:solidFill>
                <a:latin typeface="Arial"/>
                <a:ea typeface="Arial"/>
                <a:cs typeface="Arial"/>
              </a:defRPr>
            </a:pPr>
            <a:r>
              <a:rPr sz="1875" b="1" i="0">
                <a:solidFill>
                  <a:srgbClr val="113C52"/>
                </a:solidFill>
                <a:latin typeface="Arial"/>
                <a:ea typeface="Arial"/>
                <a:cs typeface="Arial"/>
              </a:rPr>
              <a:t>Demo state</a:t>
            </a:r>
          </a:p>
        </p:txBody>
      </p:sp>
      <p:sp>
        <p:nvSpPr>
          <p:cNvPr id="8" name="event-log-temp">
            <a:extLst>
              <a:ext uri="{FF2B5EF4-FFF2-40B4-BE49-F238E27FC236}">
                <a16:creationId xmlns:a16="http://schemas.microsoft.com/office/drawing/2014/main" id="{34519E33-25CF-4C8F-BD96-9CC95078F00F}"/>
              </a:ext>
            </a:extLst>
          </p:cNvPr>
          <p:cNvSpPr>
            <a:spLocks noGrp="1"/>
          </p:cNvSpPr>
          <p:nvPr/>
        </p:nvSpPr>
        <p:spPr>
          <a:xfrm>
            <a:off x="8705850" y="2571750"/>
            <a:ext cx="2247900" cy="590550"/>
          </a:xfrm>
          <a:prstGeom prst="rect">
            <a:avLst/>
          </a:prstGeom>
          <a:noFill/>
          <a:ln w="0">
            <a:noFill/>
            <a:prstDash val="solid"/>
          </a:ln>
        </p:spPr>
        <p:txBody>
          <a:bodyPr wrap="square" lIns="0" tIns="0" rIns="0" bIns="0" anchor="t">
            <a:normAutofit/>
          </a:bodyPr>
          <a:lstStyle/>
          <a:p>
            <a:pPr algn="ctr">
              <a:lnSpc>
                <a:spcPct val="105000"/>
              </a:lnSpc>
              <a:buNone/>
              <a:defRPr sz="3450" b="1" i="0">
                <a:solidFill>
                  <a:srgbClr val="E25A60"/>
                </a:solidFill>
                <a:latin typeface="Arial"/>
                <a:ea typeface="Arial"/>
                <a:cs typeface="Arial"/>
              </a:defRPr>
            </a:pPr>
            <a:r>
              <a:rPr sz="3450" b="1" i="0">
                <a:solidFill>
                  <a:srgbClr val="E25A60"/>
                </a:solidFill>
                <a:latin typeface="Arial"/>
                <a:ea typeface="Arial"/>
                <a:cs typeface="Arial"/>
              </a:rPr>
              <a:t>31.2°C</a:t>
            </a:r>
          </a:p>
        </p:txBody>
      </p:sp>
      <p:sp>
        <p:nvSpPr>
          <p:cNvPr id="9" name="event-log-temp-label">
            <a:extLst>
              <a:ext uri="{FF2B5EF4-FFF2-40B4-BE49-F238E27FC236}">
                <a16:creationId xmlns:a16="http://schemas.microsoft.com/office/drawing/2014/main" id="{9D875778-F1E8-4D5D-80F9-24A30CB4489E}"/>
              </a:ext>
            </a:extLst>
          </p:cNvPr>
          <p:cNvSpPr>
            <a:spLocks noGrp="1"/>
          </p:cNvSpPr>
          <p:nvPr/>
        </p:nvSpPr>
        <p:spPr>
          <a:xfrm>
            <a:off x="8705850" y="3143250"/>
            <a:ext cx="2247900" cy="228600"/>
          </a:xfrm>
          <a:prstGeom prst="rect">
            <a:avLst/>
          </a:prstGeom>
          <a:noFill/>
          <a:ln w="0">
            <a:noFill/>
            <a:prstDash val="solid"/>
          </a:ln>
        </p:spPr>
        <p:txBody>
          <a:bodyPr wrap="square" lIns="0" tIns="0" rIns="0" bIns="0" anchor="t">
            <a:normAutofit/>
          </a:bodyPr>
          <a:lstStyle/>
          <a:p>
            <a:pPr algn="ctr">
              <a:lnSpc>
                <a:spcPct val="105000"/>
              </a:lnSpc>
              <a:buNone/>
              <a:defRPr sz="1200" b="0" i="0">
                <a:solidFill>
                  <a:srgbClr val="5C6A70"/>
                </a:solidFill>
                <a:latin typeface="Arial"/>
                <a:ea typeface="Arial"/>
                <a:cs typeface="Arial"/>
              </a:defRPr>
            </a:pPr>
            <a:r>
              <a:rPr sz="1200" b="0" i="0">
                <a:solidFill>
                  <a:srgbClr val="5C6A70"/>
                </a:solidFill>
                <a:latin typeface="Arial"/>
                <a:ea typeface="Arial"/>
                <a:cs typeface="Arial"/>
              </a:rPr>
              <a:t>temperature emergency</a:t>
            </a:r>
          </a:p>
        </p:txBody>
      </p:sp>
      <p:sp>
        <p:nvSpPr>
          <p:cNvPr id="10" name="event-log-humidity">
            <a:extLst>
              <a:ext uri="{FF2B5EF4-FFF2-40B4-BE49-F238E27FC236}">
                <a16:creationId xmlns:a16="http://schemas.microsoft.com/office/drawing/2014/main" id="{5322660D-E6B7-48D1-9B80-7E17BDBF37E1}"/>
              </a:ext>
            </a:extLst>
          </p:cNvPr>
          <p:cNvSpPr>
            <a:spLocks noGrp="1"/>
          </p:cNvSpPr>
          <p:nvPr/>
        </p:nvSpPr>
        <p:spPr>
          <a:xfrm>
            <a:off x="8705850" y="3657600"/>
            <a:ext cx="2247900" cy="590550"/>
          </a:xfrm>
          <a:prstGeom prst="rect">
            <a:avLst/>
          </a:prstGeom>
          <a:noFill/>
          <a:ln w="0">
            <a:noFill/>
            <a:prstDash val="solid"/>
          </a:ln>
        </p:spPr>
        <p:txBody>
          <a:bodyPr wrap="square" lIns="0" tIns="0" rIns="0" bIns="0" anchor="t">
            <a:normAutofit/>
          </a:bodyPr>
          <a:lstStyle/>
          <a:p>
            <a:pPr algn="ctr">
              <a:lnSpc>
                <a:spcPct val="105000"/>
              </a:lnSpc>
              <a:buNone/>
              <a:defRPr sz="3450" b="1" i="0">
                <a:solidFill>
                  <a:srgbClr val="1FA9D2"/>
                </a:solidFill>
                <a:latin typeface="Arial"/>
                <a:ea typeface="Arial"/>
                <a:cs typeface="Arial"/>
              </a:defRPr>
            </a:pPr>
            <a:r>
              <a:rPr sz="3450" b="1" i="0">
                <a:solidFill>
                  <a:srgbClr val="1FA9D2"/>
                </a:solidFill>
                <a:latin typeface="Arial"/>
                <a:ea typeface="Arial"/>
                <a:cs typeface="Arial"/>
              </a:rPr>
              <a:t>78.4%</a:t>
            </a:r>
          </a:p>
        </p:txBody>
      </p:sp>
      <p:sp>
        <p:nvSpPr>
          <p:cNvPr id="11" name="event-log-humidity-label">
            <a:extLst>
              <a:ext uri="{FF2B5EF4-FFF2-40B4-BE49-F238E27FC236}">
                <a16:creationId xmlns:a16="http://schemas.microsoft.com/office/drawing/2014/main" id="{5D7D3E55-C4F7-4E9B-B870-9C3F954ED799}"/>
              </a:ext>
            </a:extLst>
          </p:cNvPr>
          <p:cNvSpPr>
            <a:spLocks noGrp="1"/>
          </p:cNvSpPr>
          <p:nvPr/>
        </p:nvSpPr>
        <p:spPr>
          <a:xfrm>
            <a:off x="8705850" y="4229100"/>
            <a:ext cx="2247900" cy="228600"/>
          </a:xfrm>
          <a:prstGeom prst="rect">
            <a:avLst/>
          </a:prstGeom>
          <a:noFill/>
          <a:ln w="0">
            <a:noFill/>
            <a:prstDash val="solid"/>
          </a:ln>
        </p:spPr>
        <p:txBody>
          <a:bodyPr wrap="square" lIns="0" tIns="0" rIns="0" bIns="0" anchor="t">
            <a:normAutofit/>
          </a:bodyPr>
          <a:lstStyle/>
          <a:p>
            <a:pPr algn="ctr">
              <a:lnSpc>
                <a:spcPct val="105000"/>
              </a:lnSpc>
              <a:buNone/>
              <a:defRPr sz="1200" b="0" i="0">
                <a:solidFill>
                  <a:srgbClr val="5C6A70"/>
                </a:solidFill>
                <a:latin typeface="Arial"/>
                <a:ea typeface="Arial"/>
                <a:cs typeface="Arial"/>
              </a:defRPr>
            </a:pPr>
            <a:r>
              <a:rPr sz="1200" b="0" i="0">
                <a:solidFill>
                  <a:srgbClr val="5C6A70"/>
                </a:solidFill>
                <a:latin typeface="Arial"/>
                <a:ea typeface="Arial"/>
                <a:cs typeface="Arial"/>
              </a:rPr>
              <a:t>humidity emergency</a:t>
            </a:r>
          </a:p>
        </p:txBody>
      </p:sp>
      <p:sp>
        <p:nvSpPr>
          <p:cNvPr id="12" name="event-log-action-label">
            <a:extLst>
              <a:ext uri="{FF2B5EF4-FFF2-40B4-BE49-F238E27FC236}">
                <a16:creationId xmlns:a16="http://schemas.microsoft.com/office/drawing/2014/main" id="{FA507D22-238A-4253-8B2E-C9E83FB740E4}"/>
              </a:ext>
            </a:extLst>
          </p:cNvPr>
          <p:cNvSpPr>
            <a:spLocks noGrp="1"/>
          </p:cNvSpPr>
          <p:nvPr/>
        </p:nvSpPr>
        <p:spPr>
          <a:xfrm>
            <a:off x="8572500" y="4819650"/>
            <a:ext cx="2514600" cy="609600"/>
          </a:xfrm>
          <a:prstGeom prst="rect">
            <a:avLst/>
          </a:prstGeom>
          <a:noFill/>
          <a:ln w="0">
            <a:noFill/>
            <a:prstDash val="solid"/>
          </a:ln>
        </p:spPr>
        <p:txBody>
          <a:bodyPr wrap="square" lIns="0" tIns="0" rIns="0" bIns="0" anchor="t">
            <a:normAutofit/>
          </a:bodyPr>
          <a:lstStyle/>
          <a:p>
            <a:pPr algn="ctr">
              <a:lnSpc>
                <a:spcPct val="105000"/>
              </a:lnSpc>
              <a:buNone/>
              <a:defRPr sz="1350" b="0" i="0">
                <a:solidFill>
                  <a:srgbClr val="18252B"/>
                </a:solidFill>
                <a:latin typeface="Arial"/>
                <a:ea typeface="Arial"/>
                <a:cs typeface="Arial"/>
              </a:defRPr>
            </a:pPr>
            <a:r>
              <a:rPr sz="1350" b="0" i="0">
                <a:solidFill>
                  <a:srgbClr val="18252B"/>
                </a:solidFill>
                <a:latin typeface="Arial"/>
                <a:ea typeface="Arial"/>
                <a:cs typeface="Arial"/>
              </a:rPr>
              <a:t>A/C engaged, pump running, alarm sounding</a:t>
            </a:r>
          </a:p>
        </p:txBody>
      </p:sp>
      <p:sp>
        <p:nvSpPr>
          <p:cNvPr id="13" name="9-footer-left">
            <a:extLst>
              <a:ext uri="{FF2B5EF4-FFF2-40B4-BE49-F238E27FC236}">
                <a16:creationId xmlns:a16="http://schemas.microsoft.com/office/drawing/2014/main" id="{835F108B-3D27-4BDE-A2FD-012991091A6A}"/>
              </a:ext>
            </a:extLst>
          </p:cNvPr>
          <p:cNvSpPr>
            <a:spLocks noGrp="1"/>
          </p:cNvSpPr>
          <p:nvPr/>
        </p:nvSpPr>
        <p:spPr>
          <a:xfrm>
            <a:off x="685800" y="6534150"/>
            <a:ext cx="4762500" cy="190500"/>
          </a:xfrm>
          <a:prstGeom prst="rect">
            <a:avLst/>
          </a:prstGeom>
          <a:noFill/>
          <a:ln w="0">
            <a:noFill/>
            <a:prstDash val="solid"/>
          </a:ln>
        </p:spPr>
        <p:txBody>
          <a:bodyPr wrap="square" lIns="0" tIns="0" rIns="0" bIns="0" anchor="t">
            <a:normAutofit/>
          </a:bodyPr>
          <a:lstStyle/>
          <a:p>
            <a:pPr algn="l">
              <a:lnSpc>
                <a:spcPct val="105000"/>
              </a:lnSpc>
              <a:buNone/>
              <a:defRPr sz="900" b="0" i="0">
                <a:solidFill>
                  <a:srgbClr val="5C6A70"/>
                </a:solidFill>
                <a:latin typeface="Arial"/>
                <a:ea typeface="Arial"/>
                <a:cs typeface="Arial"/>
              </a:defRPr>
            </a:pPr>
            <a:r>
              <a:rPr sz="900" b="0" i="0">
                <a:solidFill>
                  <a:srgbClr val="5C6A70"/>
                </a:solidFill>
                <a:latin typeface="Arial"/>
                <a:ea typeface="Arial"/>
                <a:cs typeface="Arial"/>
              </a:rPr>
              <a:t>IOT SMART HOME / SERVER ROOM MONITOR</a:t>
            </a:r>
          </a:p>
        </p:txBody>
      </p:sp>
      <p:sp>
        <p:nvSpPr>
          <p:cNvPr id="14" name="9-footer-right">
            <a:extLst>
              <a:ext uri="{FF2B5EF4-FFF2-40B4-BE49-F238E27FC236}">
                <a16:creationId xmlns:a16="http://schemas.microsoft.com/office/drawing/2014/main" id="{F65B3643-7705-4A30-BAFF-73E1A1AE1AC2}"/>
              </a:ext>
            </a:extLst>
          </p:cNvPr>
          <p:cNvSpPr>
            <a:spLocks noGrp="1"/>
          </p:cNvSpPr>
          <p:nvPr/>
        </p:nvSpPr>
        <p:spPr>
          <a:xfrm>
            <a:off x="7239000" y="6534150"/>
            <a:ext cx="4267200" cy="190500"/>
          </a:xfrm>
          <a:prstGeom prst="rect">
            <a:avLst/>
          </a:prstGeom>
          <a:noFill/>
          <a:ln w="0">
            <a:noFill/>
            <a:prstDash val="solid"/>
          </a:ln>
        </p:spPr>
        <p:txBody>
          <a:bodyPr wrap="square" lIns="0" tIns="0" rIns="0" bIns="0" anchor="t">
            <a:normAutofit/>
          </a:bodyPr>
          <a:lstStyle/>
          <a:p>
            <a:pPr algn="r">
              <a:lnSpc>
                <a:spcPct val="105000"/>
              </a:lnSpc>
              <a:buNone/>
              <a:defRPr sz="900" b="0" i="0">
                <a:solidFill>
                  <a:srgbClr val="5C6A70"/>
                </a:solidFill>
                <a:latin typeface="Arial"/>
                <a:ea typeface="Arial"/>
                <a:cs typeface="Arial"/>
              </a:defRPr>
            </a:pPr>
            <a:r>
              <a:rPr sz="900" b="0" i="0">
                <a:solidFill>
                  <a:srgbClr val="5C6A70"/>
                </a:solidFill>
                <a:latin typeface="Arial"/>
                <a:ea typeface="Arial"/>
                <a:cs typeface="Arial"/>
              </a:rPr>
              <a:t>github.com/aharoni-cohen/iot-smart-home</a:t>
            </a:r>
          </a:p>
        </p:txBody>
      </p:sp>
    </p:spTree>
    <p:extLst>
      <p:ext uri="{BB962C8B-B14F-4D97-AF65-F5344CB8AC3E}">
        <p14:creationId xmlns:p14="http://schemas.microsoft.com/office/powerpoint/2010/main" val="475334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7"/>
        </a:solidFill>
        <a:effectLst/>
      </p:bgPr>
    </p:bg>
    <p:spTree>
      <p:nvGrpSpPr>
        <p:cNvPr id="1" name=""/>
        <p:cNvGrpSpPr/>
        <p:nvPr/>
      </p:nvGrpSpPr>
      <p:grpSpPr>
        <a:xfrm>
          <a:off x="0" y="0"/>
          <a:ext cx="0" cy="0"/>
          <a:chOff x="0" y="0"/>
          <a:chExt cx="0" cy="0"/>
        </a:xfrm>
      </p:grpSpPr>
      <p:sp>
        <p:nvSpPr>
          <p:cNvPr id="36" name="10-title-rule">
            <a:extLst>
              <a:ext uri="{FF2B5EF4-FFF2-40B4-BE49-F238E27FC236}">
                <a16:creationId xmlns:a16="http://schemas.microsoft.com/office/drawing/2014/main" id="{56A8C3B8-04CD-430C-A740-918B956316CF}"/>
              </a:ext>
            </a:extLst>
          </p:cNvPr>
          <p:cNvSpPr>
            <a:spLocks noGrp="1"/>
          </p:cNvSpPr>
          <p:nvPr/>
        </p:nvSpPr>
        <p:spPr>
          <a:xfrm>
            <a:off x="685800" y="552450"/>
            <a:ext cx="0" cy="400050"/>
          </a:xfrm>
          <a:prstGeom prst="line">
            <a:avLst/>
          </a:prstGeom>
          <a:noFill/>
          <a:ln w="19050">
            <a:solidFill>
              <a:srgbClr val="1FA9D2"/>
            </a:solidFill>
            <a:prstDash val="solid"/>
          </a:ln>
        </p:spPr>
        <p:txBody>
          <a:bodyPr/>
          <a:lstStyle/>
          <a:p>
            <a:endParaRPr lang="he-IL"/>
          </a:p>
        </p:txBody>
      </p:sp>
      <p:sp>
        <p:nvSpPr>
          <p:cNvPr id="2" name="10-title">
            <a:extLst>
              <a:ext uri="{FF2B5EF4-FFF2-40B4-BE49-F238E27FC236}">
                <a16:creationId xmlns:a16="http://schemas.microsoft.com/office/drawing/2014/main" id="{D6D04A36-95CC-405C-8A0A-48470ECF00B2}"/>
              </a:ext>
            </a:extLst>
          </p:cNvPr>
          <p:cNvSpPr>
            <a:spLocks noGrp="1"/>
          </p:cNvSpPr>
          <p:nvPr/>
        </p:nvSpPr>
        <p:spPr>
          <a:xfrm>
            <a:off x="914400" y="457200"/>
            <a:ext cx="9620250" cy="609600"/>
          </a:xfrm>
          <a:prstGeom prst="rect">
            <a:avLst/>
          </a:prstGeom>
          <a:noFill/>
          <a:ln w="0">
            <a:noFill/>
            <a:prstDash val="solid"/>
          </a:ln>
        </p:spPr>
        <p:txBody>
          <a:bodyPr wrap="square" lIns="0" tIns="0" rIns="0" bIns="0" anchor="t">
            <a:normAutofit/>
          </a:bodyPr>
          <a:lstStyle/>
          <a:p>
            <a:pPr algn="l">
              <a:lnSpc>
                <a:spcPct val="105000"/>
              </a:lnSpc>
              <a:buNone/>
              <a:defRPr sz="2925" b="0" i="0">
                <a:solidFill>
                  <a:srgbClr val="18252B"/>
                </a:solidFill>
                <a:latin typeface="Arial"/>
                <a:ea typeface="Arial"/>
                <a:cs typeface="Arial"/>
              </a:defRPr>
            </a:pPr>
            <a:r>
              <a:rPr sz="2925" b="0" i="0">
                <a:solidFill>
                  <a:srgbClr val="18252B"/>
                </a:solidFill>
                <a:latin typeface="Arial"/>
                <a:ea typeface="Arial"/>
                <a:cs typeface="Arial"/>
              </a:rPr>
              <a:t>Implementation stack</a:t>
            </a:r>
          </a:p>
        </p:txBody>
      </p:sp>
      <p:sp>
        <p:nvSpPr>
          <p:cNvPr id="3" name="10-subtitle">
            <a:extLst>
              <a:ext uri="{FF2B5EF4-FFF2-40B4-BE49-F238E27FC236}">
                <a16:creationId xmlns:a16="http://schemas.microsoft.com/office/drawing/2014/main" id="{F407DA8A-9E32-4110-845D-A63A92D9C3BF}"/>
              </a:ext>
            </a:extLst>
          </p:cNvPr>
          <p:cNvSpPr>
            <a:spLocks noGrp="1"/>
          </p:cNvSpPr>
          <p:nvPr/>
        </p:nvSpPr>
        <p:spPr>
          <a:xfrm>
            <a:off x="933450" y="1066800"/>
            <a:ext cx="10001250" cy="342900"/>
          </a:xfrm>
          <a:prstGeom prst="rect">
            <a:avLst/>
          </a:prstGeom>
          <a:noFill/>
          <a:ln w="0">
            <a:noFill/>
            <a:prstDash val="solid"/>
          </a:ln>
        </p:spPr>
        <p:txBody>
          <a:bodyPr wrap="square" lIns="0" tIns="0" rIns="0" bIns="0" anchor="t">
            <a:normAutofit/>
          </a:bodyPr>
          <a:lstStyle/>
          <a:p>
            <a:pPr algn="l">
              <a:lnSpc>
                <a:spcPct val="105000"/>
              </a:lnSpc>
              <a:buNone/>
              <a:defRPr sz="1350" b="0" i="0">
                <a:solidFill>
                  <a:srgbClr val="5C6A70"/>
                </a:solidFill>
                <a:latin typeface="Arial"/>
                <a:ea typeface="Arial"/>
                <a:cs typeface="Arial"/>
              </a:defRPr>
            </a:pPr>
            <a:r>
              <a:rPr sz="1350" b="0" i="0">
                <a:solidFill>
                  <a:srgbClr val="5C6A70"/>
                </a:solidFill>
                <a:latin typeface="Arial"/>
                <a:ea typeface="Arial"/>
                <a:cs typeface="Arial"/>
              </a:rPr>
              <a:t>The application stays small by combining a desktop GUI, MQTT messaging, and a charting layer</a:t>
            </a:r>
          </a:p>
        </p:txBody>
      </p:sp>
      <p:sp>
        <p:nvSpPr>
          <p:cNvPr id="4" name="10-folio">
            <a:extLst>
              <a:ext uri="{FF2B5EF4-FFF2-40B4-BE49-F238E27FC236}">
                <a16:creationId xmlns:a16="http://schemas.microsoft.com/office/drawing/2014/main" id="{3E46C20B-1625-45BD-A448-7DD86E0005E5}"/>
              </a:ext>
            </a:extLst>
          </p:cNvPr>
          <p:cNvSpPr>
            <a:spLocks noGrp="1"/>
          </p:cNvSpPr>
          <p:nvPr/>
        </p:nvSpPr>
        <p:spPr>
          <a:xfrm>
            <a:off x="11239500" y="438150"/>
            <a:ext cx="419100" cy="228600"/>
          </a:xfrm>
          <a:prstGeom prst="rect">
            <a:avLst/>
          </a:prstGeom>
          <a:noFill/>
          <a:ln w="0">
            <a:noFill/>
            <a:prstDash val="solid"/>
          </a:ln>
        </p:spPr>
        <p:txBody>
          <a:bodyPr wrap="square" lIns="0" tIns="0" rIns="0" bIns="0" anchor="t">
            <a:normAutofit/>
          </a:bodyPr>
          <a:lstStyle/>
          <a:p>
            <a:pPr algn="r">
              <a:lnSpc>
                <a:spcPct val="105000"/>
              </a:lnSpc>
              <a:buNone/>
              <a:defRPr sz="1200" b="0" i="0">
                <a:solidFill>
                  <a:srgbClr val="5C6A70"/>
                </a:solidFill>
                <a:latin typeface="Arial"/>
                <a:ea typeface="Arial"/>
                <a:cs typeface="Arial"/>
              </a:defRPr>
            </a:pPr>
            <a:r>
              <a:rPr sz="1200" b="0" i="0">
                <a:solidFill>
                  <a:srgbClr val="5C6A70"/>
                </a:solidFill>
                <a:latin typeface="Arial"/>
                <a:ea typeface="Arial"/>
                <a:cs typeface="Arial"/>
              </a:rPr>
              <a:t>10</a:t>
            </a:r>
          </a:p>
        </p:txBody>
      </p:sp>
      <p:sp>
        <p:nvSpPr>
          <p:cNvPr id="5" name="repo-tree-panel">
            <a:extLst>
              <a:ext uri="{FF2B5EF4-FFF2-40B4-BE49-F238E27FC236}">
                <a16:creationId xmlns:a16="http://schemas.microsoft.com/office/drawing/2014/main" id="{E3CF1B3E-5BA1-412C-BBFA-2483D3E254D6}"/>
              </a:ext>
            </a:extLst>
          </p:cNvPr>
          <p:cNvSpPr>
            <a:spLocks noGrp="1"/>
          </p:cNvSpPr>
          <p:nvPr/>
        </p:nvSpPr>
        <p:spPr>
          <a:xfrm>
            <a:off x="876300" y="1638300"/>
            <a:ext cx="5334000" cy="3752847"/>
          </a:xfrm>
          <a:prstGeom prst="roundRect">
            <a:avLst>
              <a:gd name="adj" fmla="val 3556"/>
            </a:avLst>
          </a:prstGeom>
          <a:solidFill>
            <a:srgbClr val="113C52"/>
          </a:solidFill>
          <a:ln w="0">
            <a:solidFill>
              <a:srgbClr val="113C52"/>
            </a:solidFill>
            <a:prstDash val="solid"/>
          </a:ln>
        </p:spPr>
        <p:txBody>
          <a:bodyPr/>
          <a:lstStyle/>
          <a:p>
            <a:endParaRPr lang="he-IL"/>
          </a:p>
        </p:txBody>
      </p:sp>
      <p:sp>
        <p:nvSpPr>
          <p:cNvPr id="6" name="repo-tree-title">
            <a:extLst>
              <a:ext uri="{FF2B5EF4-FFF2-40B4-BE49-F238E27FC236}">
                <a16:creationId xmlns:a16="http://schemas.microsoft.com/office/drawing/2014/main" id="{682FC9D2-9681-4675-AC4F-866674259BBD}"/>
              </a:ext>
            </a:extLst>
          </p:cNvPr>
          <p:cNvSpPr>
            <a:spLocks noGrp="1"/>
          </p:cNvSpPr>
          <p:nvPr/>
        </p:nvSpPr>
        <p:spPr>
          <a:xfrm>
            <a:off x="1238250" y="1962150"/>
            <a:ext cx="4095750" cy="361950"/>
          </a:xfrm>
          <a:prstGeom prst="rect">
            <a:avLst/>
          </a:prstGeom>
          <a:noFill/>
          <a:ln w="0">
            <a:noFill/>
            <a:prstDash val="solid"/>
          </a:ln>
        </p:spPr>
        <p:txBody>
          <a:bodyPr wrap="square" lIns="0" tIns="0" rIns="0" bIns="0" anchor="t">
            <a:normAutofit/>
          </a:bodyPr>
          <a:lstStyle/>
          <a:p>
            <a:pPr algn="l">
              <a:lnSpc>
                <a:spcPct val="105000"/>
              </a:lnSpc>
              <a:buNone/>
              <a:defRPr sz="1950" b="1" i="0">
                <a:solidFill>
                  <a:srgbClr val="FFFFFF"/>
                </a:solidFill>
                <a:latin typeface="Arial"/>
                <a:ea typeface="Arial"/>
                <a:cs typeface="Arial"/>
              </a:defRPr>
            </a:pPr>
            <a:r>
              <a:rPr sz="1950" b="1" i="0">
                <a:solidFill>
                  <a:srgbClr val="FFFFFF"/>
                </a:solidFill>
                <a:latin typeface="Arial"/>
                <a:ea typeface="Arial"/>
                <a:cs typeface="Arial"/>
              </a:rPr>
              <a:t>Repository structure</a:t>
            </a:r>
          </a:p>
        </p:txBody>
      </p:sp>
      <p:sp>
        <p:nvSpPr>
          <p:cNvPr id="7" name="tree-1-file">
            <a:extLst>
              <a:ext uri="{FF2B5EF4-FFF2-40B4-BE49-F238E27FC236}">
                <a16:creationId xmlns:a16="http://schemas.microsoft.com/office/drawing/2014/main" id="{A020F385-2CD1-4815-A294-1A8F44ED34AC}"/>
              </a:ext>
            </a:extLst>
          </p:cNvPr>
          <p:cNvSpPr>
            <a:spLocks noGrp="1"/>
          </p:cNvSpPr>
          <p:nvPr/>
        </p:nvSpPr>
        <p:spPr>
          <a:xfrm>
            <a:off x="1238250" y="2533650"/>
            <a:ext cx="2590800" cy="323850"/>
          </a:xfrm>
          <a:prstGeom prst="rect">
            <a:avLst/>
          </a:prstGeom>
          <a:noFill/>
          <a:ln w="0">
            <a:noFill/>
            <a:prstDash val="solid"/>
          </a:ln>
        </p:spPr>
        <p:txBody>
          <a:bodyPr wrap="square" lIns="0" tIns="0" rIns="0" bIns="0" anchor="t">
            <a:normAutofit/>
          </a:bodyPr>
          <a:lstStyle/>
          <a:p>
            <a:pPr algn="l">
              <a:lnSpc>
                <a:spcPct val="105000"/>
              </a:lnSpc>
              <a:buNone/>
              <a:defRPr sz="1425" b="1" i="0">
                <a:solidFill>
                  <a:srgbClr val="8CC9DB"/>
                </a:solidFill>
                <a:latin typeface="Arial"/>
                <a:ea typeface="Arial"/>
                <a:cs typeface="Arial"/>
              </a:defRPr>
            </a:pPr>
            <a:r>
              <a:rPr sz="1425" b="1" i="0">
                <a:solidFill>
                  <a:srgbClr val="8CC9DB"/>
                </a:solidFill>
                <a:latin typeface="Arial"/>
                <a:ea typeface="Arial"/>
                <a:cs typeface="Arial"/>
              </a:rPr>
              <a:t>dashboard.py</a:t>
            </a:r>
          </a:p>
        </p:txBody>
      </p:sp>
      <p:sp>
        <p:nvSpPr>
          <p:cNvPr id="8" name="tree-1-detail">
            <a:extLst>
              <a:ext uri="{FF2B5EF4-FFF2-40B4-BE49-F238E27FC236}">
                <a16:creationId xmlns:a16="http://schemas.microsoft.com/office/drawing/2014/main" id="{69521041-B438-4B38-B4F5-9543E5E0ED25}"/>
              </a:ext>
            </a:extLst>
          </p:cNvPr>
          <p:cNvSpPr>
            <a:spLocks noGrp="1"/>
          </p:cNvSpPr>
          <p:nvPr/>
        </p:nvSpPr>
        <p:spPr>
          <a:xfrm>
            <a:off x="3829050" y="2533650"/>
            <a:ext cx="2000250" cy="323850"/>
          </a:xfrm>
          <a:prstGeom prst="rect">
            <a:avLst/>
          </a:prstGeom>
          <a:noFill/>
          <a:ln w="0">
            <a:noFill/>
            <a:prstDash val="solid"/>
          </a:ln>
        </p:spPr>
        <p:txBody>
          <a:bodyPr wrap="square" lIns="0" tIns="0" rIns="0" bIns="0" anchor="t">
            <a:normAutofit/>
          </a:bodyPr>
          <a:lstStyle/>
          <a:p>
            <a:pPr algn="l">
              <a:lnSpc>
                <a:spcPct val="105000"/>
              </a:lnSpc>
              <a:buNone/>
              <a:defRPr sz="1125" b="0" i="0">
                <a:solidFill>
                  <a:srgbClr val="FFFFFF"/>
                </a:solidFill>
                <a:latin typeface="Arial"/>
                <a:ea typeface="Arial"/>
                <a:cs typeface="Arial"/>
              </a:defRPr>
            </a:pPr>
            <a:r>
              <a:rPr sz="1125" b="0" i="0">
                <a:solidFill>
                  <a:srgbClr val="FFFFFF"/>
                </a:solidFill>
                <a:latin typeface="Arial"/>
                <a:ea typeface="Arial"/>
                <a:cs typeface="Arial"/>
              </a:rPr>
              <a:t>main monitor and controller</a:t>
            </a:r>
          </a:p>
        </p:txBody>
      </p:sp>
      <p:sp>
        <p:nvSpPr>
          <p:cNvPr id="9" name="tree-2-file">
            <a:extLst>
              <a:ext uri="{FF2B5EF4-FFF2-40B4-BE49-F238E27FC236}">
                <a16:creationId xmlns:a16="http://schemas.microsoft.com/office/drawing/2014/main" id="{124A522B-F2D1-4D15-AD8D-DD1EFD417567}"/>
              </a:ext>
            </a:extLst>
          </p:cNvPr>
          <p:cNvSpPr>
            <a:spLocks noGrp="1"/>
          </p:cNvSpPr>
          <p:nvPr/>
        </p:nvSpPr>
        <p:spPr>
          <a:xfrm>
            <a:off x="1238250" y="2952750"/>
            <a:ext cx="2590800" cy="323850"/>
          </a:xfrm>
          <a:prstGeom prst="rect">
            <a:avLst/>
          </a:prstGeom>
          <a:noFill/>
          <a:ln w="0">
            <a:noFill/>
            <a:prstDash val="solid"/>
          </a:ln>
        </p:spPr>
        <p:txBody>
          <a:bodyPr wrap="square" lIns="0" tIns="0" rIns="0" bIns="0" anchor="t">
            <a:normAutofit/>
          </a:bodyPr>
          <a:lstStyle/>
          <a:p>
            <a:pPr algn="l">
              <a:lnSpc>
                <a:spcPct val="105000"/>
              </a:lnSpc>
              <a:buNone/>
              <a:defRPr sz="1425" b="1" i="0">
                <a:solidFill>
                  <a:srgbClr val="FFFFFF"/>
                </a:solidFill>
                <a:latin typeface="Arial"/>
                <a:ea typeface="Arial"/>
                <a:cs typeface="Arial"/>
              </a:defRPr>
            </a:pPr>
            <a:r>
              <a:rPr sz="1425" b="1" i="0">
                <a:solidFill>
                  <a:srgbClr val="FFFFFF"/>
                </a:solidFill>
                <a:latin typeface="Arial"/>
                <a:ea typeface="Arial"/>
                <a:cs typeface="Arial"/>
              </a:rPr>
              <a:t>mqtt_init.py</a:t>
            </a:r>
          </a:p>
        </p:txBody>
      </p:sp>
      <p:sp>
        <p:nvSpPr>
          <p:cNvPr id="10" name="tree-2-detail">
            <a:extLst>
              <a:ext uri="{FF2B5EF4-FFF2-40B4-BE49-F238E27FC236}">
                <a16:creationId xmlns:a16="http://schemas.microsoft.com/office/drawing/2014/main" id="{5AE4E872-92DB-43FF-ABD1-D64A46CBE7EE}"/>
              </a:ext>
            </a:extLst>
          </p:cNvPr>
          <p:cNvSpPr>
            <a:spLocks noGrp="1"/>
          </p:cNvSpPr>
          <p:nvPr/>
        </p:nvSpPr>
        <p:spPr>
          <a:xfrm>
            <a:off x="3829050" y="2952750"/>
            <a:ext cx="2000250" cy="323850"/>
          </a:xfrm>
          <a:prstGeom prst="rect">
            <a:avLst/>
          </a:prstGeom>
          <a:noFill/>
          <a:ln w="0">
            <a:noFill/>
            <a:prstDash val="solid"/>
          </a:ln>
        </p:spPr>
        <p:txBody>
          <a:bodyPr wrap="square" lIns="0" tIns="0" rIns="0" bIns="0" anchor="t">
            <a:normAutofit/>
          </a:bodyPr>
          <a:lstStyle/>
          <a:p>
            <a:pPr algn="l">
              <a:lnSpc>
                <a:spcPct val="105000"/>
              </a:lnSpc>
              <a:buNone/>
              <a:defRPr sz="1125" b="0" i="0">
                <a:solidFill>
                  <a:srgbClr val="FFFFFF"/>
                </a:solidFill>
                <a:latin typeface="Arial"/>
                <a:ea typeface="Arial"/>
                <a:cs typeface="Arial"/>
              </a:defRPr>
            </a:pPr>
            <a:r>
              <a:rPr sz="1125" b="0" i="0">
                <a:solidFill>
                  <a:srgbClr val="FFFFFF"/>
                </a:solidFill>
                <a:latin typeface="Arial"/>
                <a:ea typeface="Arial"/>
                <a:cs typeface="Arial"/>
              </a:rPr>
              <a:t>broker and topic configuration</a:t>
            </a:r>
          </a:p>
        </p:txBody>
      </p:sp>
      <p:sp>
        <p:nvSpPr>
          <p:cNvPr id="11" name="tree-3-file">
            <a:extLst>
              <a:ext uri="{FF2B5EF4-FFF2-40B4-BE49-F238E27FC236}">
                <a16:creationId xmlns:a16="http://schemas.microsoft.com/office/drawing/2014/main" id="{798FF434-0A88-4170-A549-784726E9C44E}"/>
              </a:ext>
            </a:extLst>
          </p:cNvPr>
          <p:cNvSpPr>
            <a:spLocks noGrp="1"/>
          </p:cNvSpPr>
          <p:nvPr/>
        </p:nvSpPr>
        <p:spPr>
          <a:xfrm>
            <a:off x="1238250" y="3371850"/>
            <a:ext cx="2590800" cy="323850"/>
          </a:xfrm>
          <a:prstGeom prst="rect">
            <a:avLst/>
          </a:prstGeom>
          <a:noFill/>
          <a:ln w="0">
            <a:noFill/>
            <a:prstDash val="solid"/>
          </a:ln>
        </p:spPr>
        <p:txBody>
          <a:bodyPr wrap="square" lIns="0" tIns="0" rIns="0" bIns="0" anchor="t">
            <a:normAutofit/>
          </a:bodyPr>
          <a:lstStyle/>
          <a:p>
            <a:pPr algn="l">
              <a:lnSpc>
                <a:spcPct val="105000"/>
              </a:lnSpc>
              <a:buNone/>
              <a:defRPr sz="1425" b="1" i="0">
                <a:solidFill>
                  <a:srgbClr val="FFFFFF"/>
                </a:solidFill>
                <a:latin typeface="Arial"/>
                <a:ea typeface="Arial"/>
                <a:cs typeface="Arial"/>
              </a:defRPr>
            </a:pPr>
            <a:r>
              <a:rPr sz="1425" b="1" i="0">
                <a:solidFill>
                  <a:srgbClr val="FFFFFF"/>
                </a:solidFill>
                <a:latin typeface="Arial"/>
                <a:ea typeface="Arial"/>
                <a:cs typeface="Arial"/>
              </a:rPr>
              <a:t>DHT.py</a:t>
            </a:r>
          </a:p>
        </p:txBody>
      </p:sp>
      <p:sp>
        <p:nvSpPr>
          <p:cNvPr id="12" name="tree-3-detail">
            <a:extLst>
              <a:ext uri="{FF2B5EF4-FFF2-40B4-BE49-F238E27FC236}">
                <a16:creationId xmlns:a16="http://schemas.microsoft.com/office/drawing/2014/main" id="{5BDC3B1E-AD18-4CF0-9497-C6C1B3F057E7}"/>
              </a:ext>
            </a:extLst>
          </p:cNvPr>
          <p:cNvSpPr>
            <a:spLocks noGrp="1"/>
          </p:cNvSpPr>
          <p:nvPr/>
        </p:nvSpPr>
        <p:spPr>
          <a:xfrm>
            <a:off x="3829050" y="3371850"/>
            <a:ext cx="2000250" cy="323850"/>
          </a:xfrm>
          <a:prstGeom prst="rect">
            <a:avLst/>
          </a:prstGeom>
          <a:noFill/>
          <a:ln w="0">
            <a:noFill/>
            <a:prstDash val="solid"/>
          </a:ln>
        </p:spPr>
        <p:txBody>
          <a:bodyPr wrap="square" lIns="0" tIns="0" rIns="0" bIns="0" anchor="t">
            <a:normAutofit/>
          </a:bodyPr>
          <a:lstStyle/>
          <a:p>
            <a:pPr algn="l">
              <a:lnSpc>
                <a:spcPct val="105000"/>
              </a:lnSpc>
              <a:buNone/>
              <a:defRPr sz="1125" b="0" i="0">
                <a:solidFill>
                  <a:srgbClr val="FFFFFF"/>
                </a:solidFill>
                <a:latin typeface="Arial"/>
                <a:ea typeface="Arial"/>
                <a:cs typeface="Arial"/>
              </a:defRPr>
            </a:pPr>
            <a:r>
              <a:rPr sz="1125" b="0" i="0">
                <a:solidFill>
                  <a:srgbClr val="FFFFFF"/>
                </a:solidFill>
                <a:latin typeface="Arial"/>
                <a:ea typeface="Arial"/>
                <a:cs typeface="Arial"/>
              </a:rPr>
              <a:t>standalone sensor publisher</a:t>
            </a:r>
          </a:p>
        </p:txBody>
      </p:sp>
      <p:sp>
        <p:nvSpPr>
          <p:cNvPr id="13" name="tree-4-file">
            <a:extLst>
              <a:ext uri="{FF2B5EF4-FFF2-40B4-BE49-F238E27FC236}">
                <a16:creationId xmlns:a16="http://schemas.microsoft.com/office/drawing/2014/main" id="{FB6BA621-3A73-4EB0-8B98-8D605085E9C0}"/>
              </a:ext>
            </a:extLst>
          </p:cNvPr>
          <p:cNvSpPr>
            <a:spLocks noGrp="1"/>
          </p:cNvSpPr>
          <p:nvPr/>
        </p:nvSpPr>
        <p:spPr>
          <a:xfrm>
            <a:off x="1238250" y="3790950"/>
            <a:ext cx="2590800" cy="323850"/>
          </a:xfrm>
          <a:prstGeom prst="rect">
            <a:avLst/>
          </a:prstGeom>
          <a:noFill/>
          <a:ln w="0">
            <a:noFill/>
            <a:prstDash val="solid"/>
          </a:ln>
        </p:spPr>
        <p:txBody>
          <a:bodyPr wrap="square" lIns="0" tIns="0" rIns="0" bIns="0" anchor="t">
            <a:normAutofit/>
          </a:bodyPr>
          <a:lstStyle/>
          <a:p>
            <a:pPr algn="l">
              <a:lnSpc>
                <a:spcPct val="105000"/>
              </a:lnSpc>
              <a:buNone/>
              <a:defRPr sz="1425" b="1" i="0">
                <a:solidFill>
                  <a:srgbClr val="E25A60"/>
                </a:solidFill>
                <a:latin typeface="Arial"/>
                <a:ea typeface="Arial"/>
                <a:cs typeface="Arial"/>
              </a:defRPr>
            </a:pPr>
            <a:r>
              <a:rPr sz="1425" b="1" i="0">
                <a:solidFill>
                  <a:srgbClr val="E25A60"/>
                </a:solidFill>
                <a:latin typeface="Arial"/>
                <a:ea typeface="Arial"/>
                <a:cs typeface="Arial"/>
              </a:rPr>
              <a:t>alarm.py</a:t>
            </a:r>
          </a:p>
        </p:txBody>
      </p:sp>
      <p:sp>
        <p:nvSpPr>
          <p:cNvPr id="14" name="tree-4-detail">
            <a:extLst>
              <a:ext uri="{FF2B5EF4-FFF2-40B4-BE49-F238E27FC236}">
                <a16:creationId xmlns:a16="http://schemas.microsoft.com/office/drawing/2014/main" id="{E5F0A3AD-A770-4877-B380-D72F2D38140A}"/>
              </a:ext>
            </a:extLst>
          </p:cNvPr>
          <p:cNvSpPr>
            <a:spLocks noGrp="1"/>
          </p:cNvSpPr>
          <p:nvPr/>
        </p:nvSpPr>
        <p:spPr>
          <a:xfrm>
            <a:off x="3829050" y="3790950"/>
            <a:ext cx="2000250" cy="323850"/>
          </a:xfrm>
          <a:prstGeom prst="rect">
            <a:avLst/>
          </a:prstGeom>
          <a:noFill/>
          <a:ln w="0">
            <a:noFill/>
            <a:prstDash val="solid"/>
          </a:ln>
        </p:spPr>
        <p:txBody>
          <a:bodyPr wrap="square" lIns="0" tIns="0" rIns="0" bIns="0" anchor="t">
            <a:normAutofit/>
          </a:bodyPr>
          <a:lstStyle/>
          <a:p>
            <a:pPr algn="l">
              <a:lnSpc>
                <a:spcPct val="105000"/>
              </a:lnSpc>
              <a:buNone/>
              <a:defRPr sz="1125" b="0" i="0">
                <a:solidFill>
                  <a:srgbClr val="FFFFFF"/>
                </a:solidFill>
                <a:latin typeface="Arial"/>
                <a:ea typeface="Arial"/>
                <a:cs typeface="Arial"/>
              </a:defRPr>
            </a:pPr>
            <a:r>
              <a:rPr sz="1125" b="0" i="0">
                <a:solidFill>
                  <a:srgbClr val="FFFFFF"/>
                </a:solidFill>
                <a:latin typeface="Arial"/>
                <a:ea typeface="Arial"/>
                <a:cs typeface="Arial"/>
              </a:rPr>
              <a:t>standalone alarm relay</a:t>
            </a:r>
          </a:p>
        </p:txBody>
      </p:sp>
      <p:sp>
        <p:nvSpPr>
          <p:cNvPr id="15" name="tree-5-file">
            <a:extLst>
              <a:ext uri="{FF2B5EF4-FFF2-40B4-BE49-F238E27FC236}">
                <a16:creationId xmlns:a16="http://schemas.microsoft.com/office/drawing/2014/main" id="{E54A46C2-6E23-4B02-B832-E3F9308C99E8}"/>
              </a:ext>
            </a:extLst>
          </p:cNvPr>
          <p:cNvSpPr>
            <a:spLocks noGrp="1"/>
          </p:cNvSpPr>
          <p:nvPr/>
        </p:nvSpPr>
        <p:spPr>
          <a:xfrm>
            <a:off x="1238250" y="4210050"/>
            <a:ext cx="2590800" cy="323850"/>
          </a:xfrm>
          <a:prstGeom prst="rect">
            <a:avLst/>
          </a:prstGeom>
          <a:noFill/>
          <a:ln w="0">
            <a:noFill/>
            <a:prstDash val="solid"/>
          </a:ln>
        </p:spPr>
        <p:txBody>
          <a:bodyPr wrap="square" lIns="0" tIns="0" rIns="0" bIns="0" anchor="t">
            <a:normAutofit/>
          </a:bodyPr>
          <a:lstStyle/>
          <a:p>
            <a:pPr algn="l">
              <a:lnSpc>
                <a:spcPct val="105000"/>
              </a:lnSpc>
              <a:buNone/>
              <a:defRPr sz="1425" b="1" i="0">
                <a:solidFill>
                  <a:srgbClr val="8CC9DB"/>
                </a:solidFill>
                <a:latin typeface="Arial"/>
                <a:ea typeface="Arial"/>
                <a:cs typeface="Arial"/>
              </a:defRPr>
            </a:pPr>
            <a:r>
              <a:rPr sz="1425" b="1" i="0">
                <a:solidFill>
                  <a:srgbClr val="8CC9DB"/>
                </a:solidFill>
                <a:latin typeface="Arial"/>
                <a:ea typeface="Arial"/>
                <a:cs typeface="Arial"/>
              </a:rPr>
              <a:t>pump.py</a:t>
            </a:r>
          </a:p>
        </p:txBody>
      </p:sp>
      <p:sp>
        <p:nvSpPr>
          <p:cNvPr id="16" name="tree-5-detail">
            <a:extLst>
              <a:ext uri="{FF2B5EF4-FFF2-40B4-BE49-F238E27FC236}">
                <a16:creationId xmlns:a16="http://schemas.microsoft.com/office/drawing/2014/main" id="{C3FF4D09-BF33-4C9D-A670-6C682AD36A03}"/>
              </a:ext>
            </a:extLst>
          </p:cNvPr>
          <p:cNvSpPr>
            <a:spLocks noGrp="1"/>
          </p:cNvSpPr>
          <p:nvPr/>
        </p:nvSpPr>
        <p:spPr>
          <a:xfrm>
            <a:off x="3829050" y="4210050"/>
            <a:ext cx="2000250" cy="323850"/>
          </a:xfrm>
          <a:prstGeom prst="rect">
            <a:avLst/>
          </a:prstGeom>
          <a:noFill/>
          <a:ln w="0">
            <a:noFill/>
            <a:prstDash val="solid"/>
          </a:ln>
        </p:spPr>
        <p:txBody>
          <a:bodyPr wrap="square" lIns="0" tIns="0" rIns="0" bIns="0" anchor="t">
            <a:normAutofit/>
          </a:bodyPr>
          <a:lstStyle/>
          <a:p>
            <a:pPr algn="l">
              <a:lnSpc>
                <a:spcPct val="105000"/>
              </a:lnSpc>
              <a:buNone/>
              <a:defRPr sz="1125" b="0" i="0">
                <a:solidFill>
                  <a:srgbClr val="FFFFFF"/>
                </a:solidFill>
                <a:latin typeface="Arial"/>
                <a:ea typeface="Arial"/>
                <a:cs typeface="Arial"/>
              </a:defRPr>
            </a:pPr>
            <a:r>
              <a:rPr sz="1125" b="0" i="0">
                <a:solidFill>
                  <a:srgbClr val="FFFFFF"/>
                </a:solidFill>
                <a:latin typeface="Arial"/>
                <a:ea typeface="Arial"/>
                <a:cs typeface="Arial"/>
              </a:rPr>
              <a:t>standalone pump relay</a:t>
            </a:r>
          </a:p>
        </p:txBody>
      </p:sp>
      <p:sp>
        <p:nvSpPr>
          <p:cNvPr id="17" name="tree-6-file">
            <a:extLst>
              <a:ext uri="{FF2B5EF4-FFF2-40B4-BE49-F238E27FC236}">
                <a16:creationId xmlns:a16="http://schemas.microsoft.com/office/drawing/2014/main" id="{1587F14D-57EB-41EB-88A5-57F77B2A76BC}"/>
              </a:ext>
            </a:extLst>
          </p:cNvPr>
          <p:cNvSpPr>
            <a:spLocks noGrp="1"/>
          </p:cNvSpPr>
          <p:nvPr/>
        </p:nvSpPr>
        <p:spPr>
          <a:xfrm>
            <a:off x="1238250" y="4629150"/>
            <a:ext cx="2590800" cy="323850"/>
          </a:xfrm>
          <a:prstGeom prst="rect">
            <a:avLst/>
          </a:prstGeom>
          <a:noFill/>
          <a:ln w="0">
            <a:noFill/>
            <a:prstDash val="solid"/>
          </a:ln>
        </p:spPr>
        <p:txBody>
          <a:bodyPr wrap="square" lIns="0" tIns="0" rIns="0" bIns="0" anchor="t">
            <a:normAutofit/>
          </a:bodyPr>
          <a:lstStyle/>
          <a:p>
            <a:pPr algn="l">
              <a:lnSpc>
                <a:spcPct val="105000"/>
              </a:lnSpc>
              <a:buNone/>
              <a:defRPr sz="1425" b="1" i="0">
                <a:solidFill>
                  <a:srgbClr val="F2C94C"/>
                </a:solidFill>
                <a:latin typeface="Arial"/>
                <a:ea typeface="Arial"/>
                <a:cs typeface="Arial"/>
              </a:defRPr>
            </a:pPr>
            <a:r>
              <a:rPr sz="1425" b="1" i="0">
                <a:solidFill>
                  <a:srgbClr val="F2C94C"/>
                </a:solidFill>
                <a:latin typeface="Arial"/>
                <a:ea typeface="Arial"/>
                <a:cs typeface="Arial"/>
              </a:rPr>
              <a:t>emergency air conditioner.py</a:t>
            </a:r>
          </a:p>
        </p:txBody>
      </p:sp>
      <p:sp>
        <p:nvSpPr>
          <p:cNvPr id="18" name="tree-6-detail">
            <a:extLst>
              <a:ext uri="{FF2B5EF4-FFF2-40B4-BE49-F238E27FC236}">
                <a16:creationId xmlns:a16="http://schemas.microsoft.com/office/drawing/2014/main" id="{212744EC-D182-4609-B9FD-F7BF13DC3029}"/>
              </a:ext>
            </a:extLst>
          </p:cNvPr>
          <p:cNvSpPr>
            <a:spLocks noGrp="1"/>
          </p:cNvSpPr>
          <p:nvPr/>
        </p:nvSpPr>
        <p:spPr>
          <a:xfrm>
            <a:off x="3829050" y="4629150"/>
            <a:ext cx="2000250" cy="323850"/>
          </a:xfrm>
          <a:prstGeom prst="rect">
            <a:avLst/>
          </a:prstGeom>
          <a:noFill/>
          <a:ln w="0">
            <a:noFill/>
            <a:prstDash val="solid"/>
          </a:ln>
        </p:spPr>
        <p:txBody>
          <a:bodyPr wrap="square" lIns="0" tIns="0" rIns="0" bIns="0" anchor="t">
            <a:normAutofit/>
          </a:bodyPr>
          <a:lstStyle/>
          <a:p>
            <a:pPr algn="l">
              <a:lnSpc>
                <a:spcPct val="105000"/>
              </a:lnSpc>
              <a:buNone/>
              <a:defRPr sz="1125" b="0" i="0">
                <a:solidFill>
                  <a:srgbClr val="FFFFFF"/>
                </a:solidFill>
                <a:latin typeface="Arial"/>
                <a:ea typeface="Arial"/>
                <a:cs typeface="Arial"/>
              </a:defRPr>
            </a:pPr>
            <a:r>
              <a:rPr sz="1125" b="0" i="0">
                <a:solidFill>
                  <a:srgbClr val="FFFFFF"/>
                </a:solidFill>
                <a:latin typeface="Arial"/>
                <a:ea typeface="Arial"/>
                <a:cs typeface="Arial"/>
              </a:rPr>
              <a:t>standalone A/C relay</a:t>
            </a:r>
          </a:p>
        </p:txBody>
      </p:sp>
      <p:sp>
        <p:nvSpPr>
          <p:cNvPr id="21" name="facts-title">
            <a:extLst>
              <a:ext uri="{FF2B5EF4-FFF2-40B4-BE49-F238E27FC236}">
                <a16:creationId xmlns:a16="http://schemas.microsoft.com/office/drawing/2014/main" id="{F5753DCA-30BD-4D6C-8840-7535AF04DA6F}"/>
              </a:ext>
            </a:extLst>
          </p:cNvPr>
          <p:cNvSpPr>
            <a:spLocks noGrp="1"/>
          </p:cNvSpPr>
          <p:nvPr/>
        </p:nvSpPr>
        <p:spPr>
          <a:xfrm>
            <a:off x="7143750" y="1619250"/>
            <a:ext cx="3619500" cy="342900"/>
          </a:xfrm>
          <a:prstGeom prst="rect">
            <a:avLst/>
          </a:prstGeom>
          <a:noFill/>
          <a:ln w="0">
            <a:noFill/>
            <a:prstDash val="solid"/>
          </a:ln>
        </p:spPr>
        <p:txBody>
          <a:bodyPr wrap="square" lIns="0" tIns="0" rIns="0" bIns="0" anchor="t">
            <a:normAutofit/>
          </a:bodyPr>
          <a:lstStyle/>
          <a:p>
            <a:pPr algn="l">
              <a:lnSpc>
                <a:spcPct val="105000"/>
              </a:lnSpc>
              <a:buNone/>
              <a:defRPr sz="2025" b="1" i="0">
                <a:solidFill>
                  <a:srgbClr val="113C52"/>
                </a:solidFill>
                <a:latin typeface="Arial"/>
                <a:ea typeface="Arial"/>
                <a:cs typeface="Arial"/>
              </a:defRPr>
            </a:pPr>
            <a:r>
              <a:rPr sz="2025" b="1" i="0">
                <a:solidFill>
                  <a:srgbClr val="113C52"/>
                </a:solidFill>
                <a:latin typeface="Arial"/>
                <a:ea typeface="Arial"/>
                <a:cs typeface="Arial"/>
              </a:rPr>
              <a:t>Key implementation facts</a:t>
            </a:r>
          </a:p>
        </p:txBody>
      </p:sp>
      <p:sp>
        <p:nvSpPr>
          <p:cNvPr id="22" name="fact-1-rule">
            <a:extLst>
              <a:ext uri="{FF2B5EF4-FFF2-40B4-BE49-F238E27FC236}">
                <a16:creationId xmlns:a16="http://schemas.microsoft.com/office/drawing/2014/main" id="{E8927939-409A-4BFC-A6A3-2CDBB68731CA}"/>
              </a:ext>
            </a:extLst>
          </p:cNvPr>
          <p:cNvSpPr>
            <a:spLocks noGrp="1"/>
          </p:cNvSpPr>
          <p:nvPr/>
        </p:nvSpPr>
        <p:spPr>
          <a:xfrm>
            <a:off x="7200900" y="2686050"/>
            <a:ext cx="3714750" cy="0"/>
          </a:xfrm>
          <a:prstGeom prst="line">
            <a:avLst/>
          </a:prstGeom>
          <a:noFill/>
          <a:ln w="28575">
            <a:solidFill>
              <a:srgbClr val="1FA9D2"/>
            </a:solidFill>
            <a:prstDash val="solid"/>
          </a:ln>
        </p:spPr>
        <p:txBody>
          <a:bodyPr/>
          <a:lstStyle/>
          <a:p>
            <a:endParaRPr lang="he-IL"/>
          </a:p>
        </p:txBody>
      </p:sp>
      <p:sp>
        <p:nvSpPr>
          <p:cNvPr id="23" name="fact-1-title">
            <a:extLst>
              <a:ext uri="{FF2B5EF4-FFF2-40B4-BE49-F238E27FC236}">
                <a16:creationId xmlns:a16="http://schemas.microsoft.com/office/drawing/2014/main" id="{D124BDC9-445B-4207-B013-092D49B6E303}"/>
              </a:ext>
            </a:extLst>
          </p:cNvPr>
          <p:cNvSpPr>
            <a:spLocks noGrp="1"/>
          </p:cNvSpPr>
          <p:nvPr/>
        </p:nvSpPr>
        <p:spPr>
          <a:xfrm>
            <a:off x="7200900" y="2209800"/>
            <a:ext cx="1619250" cy="285750"/>
          </a:xfrm>
          <a:prstGeom prst="rect">
            <a:avLst/>
          </a:prstGeom>
          <a:noFill/>
          <a:ln w="0">
            <a:noFill/>
            <a:prstDash val="solid"/>
          </a:ln>
        </p:spPr>
        <p:txBody>
          <a:bodyPr wrap="square" lIns="0" tIns="0" rIns="0" bIns="0" anchor="t">
            <a:normAutofit/>
          </a:bodyPr>
          <a:lstStyle/>
          <a:p>
            <a:pPr algn="l">
              <a:lnSpc>
                <a:spcPct val="105000"/>
              </a:lnSpc>
              <a:buNone/>
              <a:defRPr sz="1725" b="1" i="0">
                <a:solidFill>
                  <a:srgbClr val="1FA9D2"/>
                </a:solidFill>
                <a:latin typeface="Arial"/>
                <a:ea typeface="Arial"/>
                <a:cs typeface="Arial"/>
              </a:defRPr>
            </a:pPr>
            <a:r>
              <a:rPr sz="1725" b="1" i="0">
                <a:solidFill>
                  <a:srgbClr val="1FA9D2"/>
                </a:solidFill>
                <a:latin typeface="Arial"/>
                <a:ea typeface="Arial"/>
                <a:cs typeface="Arial"/>
              </a:rPr>
              <a:t>PyQt5</a:t>
            </a:r>
          </a:p>
        </p:txBody>
      </p:sp>
      <p:sp>
        <p:nvSpPr>
          <p:cNvPr id="24" name="fact-1-detail">
            <a:extLst>
              <a:ext uri="{FF2B5EF4-FFF2-40B4-BE49-F238E27FC236}">
                <a16:creationId xmlns:a16="http://schemas.microsoft.com/office/drawing/2014/main" id="{A67EBF9A-55A1-4A16-9732-2A6F9BAC14B7}"/>
              </a:ext>
            </a:extLst>
          </p:cNvPr>
          <p:cNvSpPr>
            <a:spLocks noGrp="1"/>
          </p:cNvSpPr>
          <p:nvPr/>
        </p:nvSpPr>
        <p:spPr>
          <a:xfrm>
            <a:off x="8877300" y="2228850"/>
            <a:ext cx="2057400" cy="438150"/>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18252B"/>
                </a:solidFill>
                <a:latin typeface="Arial"/>
                <a:ea typeface="Arial"/>
                <a:cs typeface="Arial"/>
              </a:defRPr>
            </a:pPr>
            <a:r>
              <a:rPr sz="1275" b="0" i="0">
                <a:solidFill>
                  <a:srgbClr val="18252B"/>
                </a:solidFill>
                <a:latin typeface="Arial"/>
                <a:ea typeface="Arial"/>
                <a:cs typeface="Arial"/>
              </a:rPr>
              <a:t>Desktop dashboard and status controls</a:t>
            </a:r>
          </a:p>
        </p:txBody>
      </p:sp>
      <p:sp>
        <p:nvSpPr>
          <p:cNvPr id="25" name="fact-2-rule">
            <a:extLst>
              <a:ext uri="{FF2B5EF4-FFF2-40B4-BE49-F238E27FC236}">
                <a16:creationId xmlns:a16="http://schemas.microsoft.com/office/drawing/2014/main" id="{9EFDB16D-65E6-4572-B2CC-53DFCC85A247}"/>
              </a:ext>
            </a:extLst>
          </p:cNvPr>
          <p:cNvSpPr>
            <a:spLocks noGrp="1"/>
          </p:cNvSpPr>
          <p:nvPr/>
        </p:nvSpPr>
        <p:spPr>
          <a:xfrm>
            <a:off x="7200900" y="3505200"/>
            <a:ext cx="3714750" cy="0"/>
          </a:xfrm>
          <a:prstGeom prst="line">
            <a:avLst/>
          </a:prstGeom>
          <a:noFill/>
          <a:ln w="28575">
            <a:solidFill>
              <a:srgbClr val="4FB49A"/>
            </a:solidFill>
            <a:prstDash val="solid"/>
          </a:ln>
        </p:spPr>
        <p:txBody>
          <a:bodyPr/>
          <a:lstStyle/>
          <a:p>
            <a:endParaRPr lang="he-IL"/>
          </a:p>
        </p:txBody>
      </p:sp>
      <p:sp>
        <p:nvSpPr>
          <p:cNvPr id="26" name="fact-2-title">
            <a:extLst>
              <a:ext uri="{FF2B5EF4-FFF2-40B4-BE49-F238E27FC236}">
                <a16:creationId xmlns:a16="http://schemas.microsoft.com/office/drawing/2014/main" id="{C8CA427D-4BD0-48DA-BBD5-428CA3DEEFFD}"/>
              </a:ext>
            </a:extLst>
          </p:cNvPr>
          <p:cNvSpPr>
            <a:spLocks noGrp="1"/>
          </p:cNvSpPr>
          <p:nvPr/>
        </p:nvSpPr>
        <p:spPr>
          <a:xfrm>
            <a:off x="7200900" y="3028950"/>
            <a:ext cx="1619250" cy="285750"/>
          </a:xfrm>
          <a:prstGeom prst="rect">
            <a:avLst/>
          </a:prstGeom>
          <a:noFill/>
          <a:ln w="0">
            <a:noFill/>
            <a:prstDash val="solid"/>
          </a:ln>
        </p:spPr>
        <p:txBody>
          <a:bodyPr wrap="square" lIns="0" tIns="0" rIns="0" bIns="0" anchor="t">
            <a:normAutofit/>
          </a:bodyPr>
          <a:lstStyle/>
          <a:p>
            <a:pPr algn="l">
              <a:lnSpc>
                <a:spcPct val="105000"/>
              </a:lnSpc>
              <a:buNone/>
              <a:defRPr sz="1725" b="1" i="0">
                <a:solidFill>
                  <a:srgbClr val="4FB49A"/>
                </a:solidFill>
                <a:latin typeface="Arial"/>
                <a:ea typeface="Arial"/>
                <a:cs typeface="Arial"/>
              </a:defRPr>
            </a:pPr>
            <a:r>
              <a:rPr sz="1725" b="1" i="0">
                <a:solidFill>
                  <a:srgbClr val="4FB49A"/>
                </a:solidFill>
                <a:latin typeface="Arial"/>
                <a:ea typeface="Arial"/>
                <a:cs typeface="Arial"/>
              </a:rPr>
              <a:t>paho-mqtt</a:t>
            </a:r>
          </a:p>
        </p:txBody>
      </p:sp>
      <p:sp>
        <p:nvSpPr>
          <p:cNvPr id="27" name="fact-2-detail">
            <a:extLst>
              <a:ext uri="{FF2B5EF4-FFF2-40B4-BE49-F238E27FC236}">
                <a16:creationId xmlns:a16="http://schemas.microsoft.com/office/drawing/2014/main" id="{B34EA658-9828-4F7E-8D10-611C246C1625}"/>
              </a:ext>
            </a:extLst>
          </p:cNvPr>
          <p:cNvSpPr>
            <a:spLocks noGrp="1"/>
          </p:cNvSpPr>
          <p:nvPr/>
        </p:nvSpPr>
        <p:spPr>
          <a:xfrm>
            <a:off x="8877300" y="3048000"/>
            <a:ext cx="2057400" cy="438150"/>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18252B"/>
                </a:solidFill>
                <a:latin typeface="Arial"/>
                <a:ea typeface="Arial"/>
                <a:cs typeface="Arial"/>
              </a:defRPr>
            </a:pPr>
            <a:r>
              <a:rPr sz="1275" b="0" i="0">
                <a:solidFill>
                  <a:srgbClr val="18252B"/>
                </a:solidFill>
                <a:latin typeface="Arial"/>
                <a:ea typeface="Arial"/>
                <a:cs typeface="Arial"/>
              </a:rPr>
              <a:t>MQTT client for publish and subscribe</a:t>
            </a:r>
          </a:p>
        </p:txBody>
      </p:sp>
      <p:sp>
        <p:nvSpPr>
          <p:cNvPr id="28" name="fact-3-rule">
            <a:extLst>
              <a:ext uri="{FF2B5EF4-FFF2-40B4-BE49-F238E27FC236}">
                <a16:creationId xmlns:a16="http://schemas.microsoft.com/office/drawing/2014/main" id="{7F800ACF-2CAA-4798-84FD-80EA386722A5}"/>
              </a:ext>
            </a:extLst>
          </p:cNvPr>
          <p:cNvSpPr>
            <a:spLocks noGrp="1"/>
          </p:cNvSpPr>
          <p:nvPr/>
        </p:nvSpPr>
        <p:spPr>
          <a:xfrm>
            <a:off x="7200900" y="4324350"/>
            <a:ext cx="3714750" cy="0"/>
          </a:xfrm>
          <a:prstGeom prst="line">
            <a:avLst/>
          </a:prstGeom>
          <a:noFill/>
          <a:ln w="28575">
            <a:solidFill>
              <a:srgbClr val="F2C94C"/>
            </a:solidFill>
            <a:prstDash val="solid"/>
          </a:ln>
        </p:spPr>
        <p:txBody>
          <a:bodyPr/>
          <a:lstStyle/>
          <a:p>
            <a:endParaRPr lang="he-IL"/>
          </a:p>
        </p:txBody>
      </p:sp>
      <p:sp>
        <p:nvSpPr>
          <p:cNvPr id="29" name="fact-3-title">
            <a:extLst>
              <a:ext uri="{FF2B5EF4-FFF2-40B4-BE49-F238E27FC236}">
                <a16:creationId xmlns:a16="http://schemas.microsoft.com/office/drawing/2014/main" id="{FFF3A330-E8CF-4E5E-901D-EC62CC29238F}"/>
              </a:ext>
            </a:extLst>
          </p:cNvPr>
          <p:cNvSpPr>
            <a:spLocks noGrp="1"/>
          </p:cNvSpPr>
          <p:nvPr/>
        </p:nvSpPr>
        <p:spPr>
          <a:xfrm>
            <a:off x="7200900" y="3848100"/>
            <a:ext cx="1619250" cy="285750"/>
          </a:xfrm>
          <a:prstGeom prst="rect">
            <a:avLst/>
          </a:prstGeom>
          <a:noFill/>
          <a:ln w="0">
            <a:noFill/>
            <a:prstDash val="solid"/>
          </a:ln>
        </p:spPr>
        <p:txBody>
          <a:bodyPr wrap="square" lIns="0" tIns="0" rIns="0" bIns="0" anchor="t">
            <a:normAutofit/>
          </a:bodyPr>
          <a:lstStyle/>
          <a:p>
            <a:pPr algn="l">
              <a:lnSpc>
                <a:spcPct val="105000"/>
              </a:lnSpc>
              <a:buNone/>
              <a:defRPr sz="1725" b="1" i="0">
                <a:solidFill>
                  <a:srgbClr val="F2C94C"/>
                </a:solidFill>
                <a:latin typeface="Arial"/>
                <a:ea typeface="Arial"/>
                <a:cs typeface="Arial"/>
              </a:defRPr>
            </a:pPr>
            <a:r>
              <a:rPr sz="1725" b="1" i="0">
                <a:solidFill>
                  <a:srgbClr val="F2C94C"/>
                </a:solidFill>
                <a:latin typeface="Arial"/>
                <a:ea typeface="Arial"/>
                <a:cs typeface="Arial"/>
              </a:rPr>
              <a:t>matplotlib</a:t>
            </a:r>
          </a:p>
        </p:txBody>
      </p:sp>
      <p:sp>
        <p:nvSpPr>
          <p:cNvPr id="30" name="fact-3-detail">
            <a:extLst>
              <a:ext uri="{FF2B5EF4-FFF2-40B4-BE49-F238E27FC236}">
                <a16:creationId xmlns:a16="http://schemas.microsoft.com/office/drawing/2014/main" id="{4736EA54-AB27-4C29-9AE1-662542C79C71}"/>
              </a:ext>
            </a:extLst>
          </p:cNvPr>
          <p:cNvSpPr>
            <a:spLocks noGrp="1"/>
          </p:cNvSpPr>
          <p:nvPr/>
        </p:nvSpPr>
        <p:spPr>
          <a:xfrm>
            <a:off x="8877300" y="3867150"/>
            <a:ext cx="2057400" cy="438150"/>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18252B"/>
                </a:solidFill>
                <a:latin typeface="Arial"/>
                <a:ea typeface="Arial"/>
                <a:cs typeface="Arial"/>
              </a:defRPr>
            </a:pPr>
            <a:r>
              <a:rPr sz="1275" b="0" i="0">
                <a:solidFill>
                  <a:srgbClr val="18252B"/>
                </a:solidFill>
                <a:latin typeface="Arial"/>
                <a:ea typeface="Arial"/>
                <a:cs typeface="Arial"/>
              </a:rPr>
              <a:t>Temperature and humidity history chart</a:t>
            </a:r>
          </a:p>
        </p:txBody>
      </p:sp>
      <p:sp>
        <p:nvSpPr>
          <p:cNvPr id="31" name="constants-panel">
            <a:extLst>
              <a:ext uri="{FF2B5EF4-FFF2-40B4-BE49-F238E27FC236}">
                <a16:creationId xmlns:a16="http://schemas.microsoft.com/office/drawing/2014/main" id="{D5BC8AF9-BC8F-47C2-B5A3-FD84A26EBD9B}"/>
              </a:ext>
            </a:extLst>
          </p:cNvPr>
          <p:cNvSpPr>
            <a:spLocks noGrp="1"/>
          </p:cNvSpPr>
          <p:nvPr/>
        </p:nvSpPr>
        <p:spPr>
          <a:xfrm>
            <a:off x="7200900" y="4514850"/>
            <a:ext cx="3714750" cy="1066800"/>
          </a:xfrm>
          <a:prstGeom prst="roundRect">
            <a:avLst>
              <a:gd name="adj" fmla="val 10714"/>
            </a:avLst>
          </a:prstGeom>
          <a:solidFill>
            <a:srgbClr val="FFFFFF"/>
          </a:solidFill>
          <a:ln w="9525">
            <a:solidFill>
              <a:srgbClr val="C7D9DF"/>
            </a:solidFill>
            <a:prstDash val="solid"/>
          </a:ln>
        </p:spPr>
        <p:txBody>
          <a:bodyPr/>
          <a:lstStyle/>
          <a:p>
            <a:endParaRPr lang="he-IL"/>
          </a:p>
        </p:txBody>
      </p:sp>
      <p:sp>
        <p:nvSpPr>
          <p:cNvPr id="32" name="constant-temp">
            <a:extLst>
              <a:ext uri="{FF2B5EF4-FFF2-40B4-BE49-F238E27FC236}">
                <a16:creationId xmlns:a16="http://schemas.microsoft.com/office/drawing/2014/main" id="{B9B444A9-0942-48FD-B14E-9EDB3A349AC1}"/>
              </a:ext>
            </a:extLst>
          </p:cNvPr>
          <p:cNvSpPr>
            <a:spLocks noGrp="1"/>
          </p:cNvSpPr>
          <p:nvPr/>
        </p:nvSpPr>
        <p:spPr>
          <a:xfrm>
            <a:off x="7410450" y="4724400"/>
            <a:ext cx="3238500" cy="323850"/>
          </a:xfrm>
          <a:prstGeom prst="rect">
            <a:avLst/>
          </a:prstGeom>
          <a:noFill/>
          <a:ln w="0">
            <a:noFill/>
            <a:prstDash val="solid"/>
          </a:ln>
        </p:spPr>
        <p:txBody>
          <a:bodyPr wrap="square" lIns="0" tIns="0" rIns="0" bIns="0" anchor="t">
            <a:normAutofit/>
          </a:bodyPr>
          <a:lstStyle/>
          <a:p>
            <a:pPr algn="l">
              <a:lnSpc>
                <a:spcPct val="105000"/>
              </a:lnSpc>
              <a:buNone/>
              <a:defRPr sz="1425" b="1" i="0">
                <a:solidFill>
                  <a:srgbClr val="E25A60"/>
                </a:solidFill>
                <a:latin typeface="Arial"/>
                <a:ea typeface="Arial"/>
                <a:cs typeface="Arial"/>
              </a:defRPr>
            </a:pPr>
            <a:r>
              <a:rPr sz="1425" b="1" i="0" dirty="0">
                <a:solidFill>
                  <a:srgbClr val="E25A60"/>
                </a:solidFill>
                <a:latin typeface="Arial"/>
                <a:ea typeface="Arial"/>
                <a:cs typeface="Arial"/>
              </a:rPr>
              <a:t>TEMP_EMERGENCY = </a:t>
            </a:r>
            <a:r>
              <a:rPr lang="he-IL" sz="1425" b="1" i="0" dirty="0">
                <a:solidFill>
                  <a:srgbClr val="E25A60"/>
                </a:solidFill>
                <a:latin typeface="Arial"/>
                <a:ea typeface="Arial"/>
                <a:cs typeface="Arial"/>
              </a:rPr>
              <a:t>31.2</a:t>
            </a:r>
            <a:endParaRPr sz="1425" b="1" i="0" dirty="0">
              <a:solidFill>
                <a:srgbClr val="E25A60"/>
              </a:solidFill>
              <a:latin typeface="Arial"/>
              <a:ea typeface="Arial"/>
              <a:cs typeface="Arial"/>
            </a:endParaRPr>
          </a:p>
        </p:txBody>
      </p:sp>
      <p:sp>
        <p:nvSpPr>
          <p:cNvPr id="33" name="constant-humidity">
            <a:extLst>
              <a:ext uri="{FF2B5EF4-FFF2-40B4-BE49-F238E27FC236}">
                <a16:creationId xmlns:a16="http://schemas.microsoft.com/office/drawing/2014/main" id="{CD880DD3-570F-4DAA-8341-D24B92EB3A38}"/>
              </a:ext>
            </a:extLst>
          </p:cNvPr>
          <p:cNvSpPr>
            <a:spLocks noGrp="1"/>
          </p:cNvSpPr>
          <p:nvPr/>
        </p:nvSpPr>
        <p:spPr>
          <a:xfrm>
            <a:off x="7410450" y="5067300"/>
            <a:ext cx="3238500" cy="323850"/>
          </a:xfrm>
          <a:prstGeom prst="rect">
            <a:avLst/>
          </a:prstGeom>
          <a:noFill/>
          <a:ln w="0">
            <a:noFill/>
            <a:prstDash val="solid"/>
          </a:ln>
        </p:spPr>
        <p:txBody>
          <a:bodyPr wrap="square" lIns="0" tIns="0" rIns="0" bIns="0" anchor="t">
            <a:normAutofit/>
          </a:bodyPr>
          <a:lstStyle/>
          <a:p>
            <a:pPr algn="l">
              <a:lnSpc>
                <a:spcPct val="105000"/>
              </a:lnSpc>
              <a:buNone/>
              <a:defRPr sz="1425" b="1" i="0">
                <a:solidFill>
                  <a:srgbClr val="1FA9D2"/>
                </a:solidFill>
                <a:latin typeface="Arial"/>
                <a:ea typeface="Arial"/>
                <a:cs typeface="Arial"/>
              </a:defRPr>
            </a:pPr>
            <a:r>
              <a:rPr sz="1425" b="1" i="0" dirty="0">
                <a:solidFill>
                  <a:srgbClr val="1FA9D2"/>
                </a:solidFill>
                <a:latin typeface="Arial"/>
                <a:ea typeface="Arial"/>
                <a:cs typeface="Arial"/>
              </a:rPr>
              <a:t>HUMIDITY_EMERGENCY = </a:t>
            </a:r>
            <a:r>
              <a:rPr lang="he-IL" sz="1425" b="1" i="0" dirty="0">
                <a:solidFill>
                  <a:srgbClr val="1FA9D2"/>
                </a:solidFill>
                <a:latin typeface="Arial"/>
                <a:ea typeface="Arial"/>
                <a:cs typeface="Arial"/>
              </a:rPr>
              <a:t>78.4</a:t>
            </a:r>
            <a:endParaRPr sz="1425" b="1" i="0" dirty="0">
              <a:solidFill>
                <a:srgbClr val="1FA9D2"/>
              </a:solidFill>
              <a:latin typeface="Arial"/>
              <a:ea typeface="Arial"/>
              <a:cs typeface="Arial"/>
            </a:endParaRPr>
          </a:p>
        </p:txBody>
      </p:sp>
      <p:sp>
        <p:nvSpPr>
          <p:cNvPr id="34" name="10-footer-left">
            <a:extLst>
              <a:ext uri="{FF2B5EF4-FFF2-40B4-BE49-F238E27FC236}">
                <a16:creationId xmlns:a16="http://schemas.microsoft.com/office/drawing/2014/main" id="{005FBC50-4F3D-41D0-9BB7-83560142E92E}"/>
              </a:ext>
            </a:extLst>
          </p:cNvPr>
          <p:cNvSpPr>
            <a:spLocks noGrp="1"/>
          </p:cNvSpPr>
          <p:nvPr/>
        </p:nvSpPr>
        <p:spPr>
          <a:xfrm>
            <a:off x="685800" y="6534150"/>
            <a:ext cx="4762500" cy="190500"/>
          </a:xfrm>
          <a:prstGeom prst="rect">
            <a:avLst/>
          </a:prstGeom>
          <a:noFill/>
          <a:ln w="0">
            <a:noFill/>
            <a:prstDash val="solid"/>
          </a:ln>
        </p:spPr>
        <p:txBody>
          <a:bodyPr wrap="square" lIns="0" tIns="0" rIns="0" bIns="0" anchor="t">
            <a:normAutofit/>
          </a:bodyPr>
          <a:lstStyle/>
          <a:p>
            <a:pPr algn="l">
              <a:lnSpc>
                <a:spcPct val="105000"/>
              </a:lnSpc>
              <a:buNone/>
              <a:defRPr sz="900" b="0" i="0">
                <a:solidFill>
                  <a:srgbClr val="5C6A70"/>
                </a:solidFill>
                <a:latin typeface="Arial"/>
                <a:ea typeface="Arial"/>
                <a:cs typeface="Arial"/>
              </a:defRPr>
            </a:pPr>
            <a:r>
              <a:rPr sz="900" b="0" i="0">
                <a:solidFill>
                  <a:srgbClr val="5C6A70"/>
                </a:solidFill>
                <a:latin typeface="Arial"/>
                <a:ea typeface="Arial"/>
                <a:cs typeface="Arial"/>
              </a:rPr>
              <a:t>IOT SMART HOME / SERVER ROOM MONITOR</a:t>
            </a:r>
          </a:p>
        </p:txBody>
      </p:sp>
      <p:sp>
        <p:nvSpPr>
          <p:cNvPr id="35" name="10-footer-right">
            <a:extLst>
              <a:ext uri="{FF2B5EF4-FFF2-40B4-BE49-F238E27FC236}">
                <a16:creationId xmlns:a16="http://schemas.microsoft.com/office/drawing/2014/main" id="{8137ECD8-7BB7-4701-A4A0-8C2FB1965330}"/>
              </a:ext>
            </a:extLst>
          </p:cNvPr>
          <p:cNvSpPr>
            <a:spLocks noGrp="1"/>
          </p:cNvSpPr>
          <p:nvPr/>
        </p:nvSpPr>
        <p:spPr>
          <a:xfrm>
            <a:off x="7239000" y="6534150"/>
            <a:ext cx="4267200" cy="190500"/>
          </a:xfrm>
          <a:prstGeom prst="rect">
            <a:avLst/>
          </a:prstGeom>
          <a:noFill/>
          <a:ln w="0">
            <a:noFill/>
            <a:prstDash val="solid"/>
          </a:ln>
        </p:spPr>
        <p:txBody>
          <a:bodyPr wrap="square" lIns="0" tIns="0" rIns="0" bIns="0" anchor="t">
            <a:normAutofit/>
          </a:bodyPr>
          <a:lstStyle/>
          <a:p>
            <a:pPr algn="r">
              <a:lnSpc>
                <a:spcPct val="105000"/>
              </a:lnSpc>
              <a:buNone/>
              <a:defRPr sz="900" b="0" i="0">
                <a:solidFill>
                  <a:srgbClr val="5C6A70"/>
                </a:solidFill>
                <a:latin typeface="Arial"/>
                <a:ea typeface="Arial"/>
                <a:cs typeface="Arial"/>
              </a:defRPr>
            </a:pPr>
            <a:r>
              <a:rPr sz="900" b="0" i="0">
                <a:solidFill>
                  <a:srgbClr val="5C6A70"/>
                </a:solidFill>
                <a:latin typeface="Arial"/>
                <a:ea typeface="Arial"/>
                <a:cs typeface="Arial"/>
              </a:rPr>
              <a:t>github.com/aharoni-cohen/iot-smart-home</a:t>
            </a:r>
          </a:p>
        </p:txBody>
      </p:sp>
    </p:spTree>
    <p:extLst>
      <p:ext uri="{BB962C8B-B14F-4D97-AF65-F5344CB8AC3E}">
        <p14:creationId xmlns:p14="http://schemas.microsoft.com/office/powerpoint/2010/main" val="8721211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13C52"/>
        </a:solidFill>
        <a:effectLst/>
      </p:bgPr>
    </p:bg>
    <p:spTree>
      <p:nvGrpSpPr>
        <p:cNvPr id="1" name=""/>
        <p:cNvGrpSpPr/>
        <p:nvPr/>
      </p:nvGrpSpPr>
      <p:grpSpPr>
        <a:xfrm>
          <a:off x="0" y="0"/>
          <a:ext cx="0" cy="0"/>
          <a:chOff x="0" y="0"/>
          <a:chExt cx="0" cy="0"/>
        </a:xfrm>
      </p:grpSpPr>
      <p:sp>
        <p:nvSpPr>
          <p:cNvPr id="21" name="summary-rule">
            <a:extLst>
              <a:ext uri="{FF2B5EF4-FFF2-40B4-BE49-F238E27FC236}">
                <a16:creationId xmlns:a16="http://schemas.microsoft.com/office/drawing/2014/main" id="{34797768-080C-400F-ADE4-4CB4B54806BD}"/>
              </a:ext>
            </a:extLst>
          </p:cNvPr>
          <p:cNvSpPr>
            <a:spLocks noGrp="1"/>
          </p:cNvSpPr>
          <p:nvPr/>
        </p:nvSpPr>
        <p:spPr>
          <a:xfrm>
            <a:off x="933450" y="1200150"/>
            <a:ext cx="0" cy="1314450"/>
          </a:xfrm>
          <a:prstGeom prst="line">
            <a:avLst/>
          </a:prstGeom>
          <a:noFill/>
          <a:ln w="28575">
            <a:solidFill>
              <a:srgbClr val="1FA9D2"/>
            </a:solidFill>
            <a:prstDash val="solid"/>
          </a:ln>
        </p:spPr>
        <p:txBody>
          <a:bodyPr/>
          <a:lstStyle/>
          <a:p>
            <a:endParaRPr lang="he-IL"/>
          </a:p>
        </p:txBody>
      </p:sp>
      <p:sp>
        <p:nvSpPr>
          <p:cNvPr id="2" name="summary-title">
            <a:extLst>
              <a:ext uri="{FF2B5EF4-FFF2-40B4-BE49-F238E27FC236}">
                <a16:creationId xmlns:a16="http://schemas.microsoft.com/office/drawing/2014/main" id="{C4B19E33-B319-42A0-AC2B-8F788DA0CE00}"/>
              </a:ext>
            </a:extLst>
          </p:cNvPr>
          <p:cNvSpPr>
            <a:spLocks noGrp="1"/>
          </p:cNvSpPr>
          <p:nvPr/>
        </p:nvSpPr>
        <p:spPr>
          <a:xfrm>
            <a:off x="1219200" y="1066800"/>
            <a:ext cx="6858000" cy="552450"/>
          </a:xfrm>
          <a:prstGeom prst="rect">
            <a:avLst/>
          </a:prstGeom>
          <a:noFill/>
          <a:ln w="0">
            <a:noFill/>
            <a:prstDash val="solid"/>
          </a:ln>
        </p:spPr>
        <p:txBody>
          <a:bodyPr wrap="square" lIns="0" tIns="0" rIns="0" bIns="0" anchor="t">
            <a:normAutofit/>
          </a:bodyPr>
          <a:lstStyle/>
          <a:p>
            <a:pPr algn="l">
              <a:lnSpc>
                <a:spcPct val="105000"/>
              </a:lnSpc>
              <a:buNone/>
              <a:defRPr sz="2925" b="1" i="0">
                <a:solidFill>
                  <a:srgbClr val="FFFFFF"/>
                </a:solidFill>
                <a:latin typeface="Arial"/>
                <a:ea typeface="Arial"/>
                <a:cs typeface="Arial"/>
              </a:defRPr>
            </a:pPr>
            <a:r>
              <a:rPr sz="2925" b="1" i="0">
                <a:solidFill>
                  <a:srgbClr val="FFFFFF"/>
                </a:solidFill>
                <a:latin typeface="Arial"/>
                <a:ea typeface="Arial"/>
                <a:cs typeface="Arial"/>
              </a:rPr>
              <a:t>What the application delivers</a:t>
            </a:r>
          </a:p>
        </p:txBody>
      </p:sp>
      <p:sp>
        <p:nvSpPr>
          <p:cNvPr id="3" name="summary-subtitle">
            <a:extLst>
              <a:ext uri="{FF2B5EF4-FFF2-40B4-BE49-F238E27FC236}">
                <a16:creationId xmlns:a16="http://schemas.microsoft.com/office/drawing/2014/main" id="{69A27EF7-F922-4636-9056-323F5873451F}"/>
              </a:ext>
            </a:extLst>
          </p:cNvPr>
          <p:cNvSpPr>
            <a:spLocks noGrp="1"/>
          </p:cNvSpPr>
          <p:nvPr/>
        </p:nvSpPr>
        <p:spPr>
          <a:xfrm>
            <a:off x="1219200" y="1943100"/>
            <a:ext cx="5715000" cy="571500"/>
          </a:xfrm>
          <a:prstGeom prst="rect">
            <a:avLst/>
          </a:prstGeom>
          <a:noFill/>
          <a:ln w="0">
            <a:noFill/>
            <a:prstDash val="solid"/>
          </a:ln>
        </p:spPr>
        <p:txBody>
          <a:bodyPr wrap="square" lIns="0" tIns="0" rIns="0" bIns="0" anchor="t">
            <a:normAutofit fontScale="95238"/>
          </a:bodyPr>
          <a:lstStyle/>
          <a:p>
            <a:pPr algn="l">
              <a:lnSpc>
                <a:spcPct val="105000"/>
              </a:lnSpc>
              <a:buNone/>
              <a:defRPr sz="1875" b="0" i="0">
                <a:solidFill>
                  <a:srgbClr val="8CC9DB"/>
                </a:solidFill>
                <a:latin typeface="Arial"/>
                <a:ea typeface="Arial"/>
                <a:cs typeface="Arial"/>
              </a:defRPr>
            </a:pPr>
            <a:r>
              <a:rPr sz="1875" b="0" i="0">
                <a:solidFill>
                  <a:srgbClr val="8CC9DB"/>
                </a:solidFill>
                <a:latin typeface="Arial"/>
                <a:ea typeface="Arial"/>
                <a:cs typeface="Arial"/>
              </a:rPr>
              <a:t>The project connects a simulated sensor feed to an automatic, visible response</a:t>
            </a:r>
          </a:p>
        </p:txBody>
      </p:sp>
      <p:sp>
        <p:nvSpPr>
          <p:cNvPr id="4" name="summary-1-number">
            <a:extLst>
              <a:ext uri="{FF2B5EF4-FFF2-40B4-BE49-F238E27FC236}">
                <a16:creationId xmlns:a16="http://schemas.microsoft.com/office/drawing/2014/main" id="{3F2D064F-5CC8-4F11-839A-7DA17A876ADF}"/>
              </a:ext>
            </a:extLst>
          </p:cNvPr>
          <p:cNvSpPr>
            <a:spLocks noGrp="1"/>
          </p:cNvSpPr>
          <p:nvPr/>
        </p:nvSpPr>
        <p:spPr>
          <a:xfrm>
            <a:off x="1238250" y="3180444"/>
            <a:ext cx="514350" cy="514350"/>
          </a:xfrm>
          <a:prstGeom prst="ellipse">
            <a:avLst/>
          </a:prstGeom>
          <a:solidFill>
            <a:srgbClr val="1FA9D2"/>
          </a:solidFill>
          <a:ln w="0">
            <a:noFill/>
            <a:prstDash val="solid"/>
          </a:ln>
        </p:spPr>
        <p:txBody>
          <a:bodyPr wrap="square" lIns="0" tIns="0" rIns="0" bIns="0" anchor="ctr">
            <a:normAutofit/>
          </a:bodyPr>
          <a:lstStyle/>
          <a:p>
            <a:pPr algn="ctr">
              <a:lnSpc>
                <a:spcPct val="102000"/>
              </a:lnSpc>
              <a:buNone/>
              <a:defRPr sz="1200" b="1">
                <a:solidFill>
                  <a:srgbClr val="FFFFFF"/>
                </a:solidFill>
                <a:latin typeface="Arial"/>
                <a:ea typeface="Arial"/>
                <a:cs typeface="Arial"/>
              </a:defRPr>
            </a:pPr>
            <a:r>
              <a:rPr sz="1200" b="1">
                <a:solidFill>
                  <a:srgbClr val="FFFFFF"/>
                </a:solidFill>
                <a:latin typeface="Arial"/>
                <a:ea typeface="Arial"/>
                <a:cs typeface="Arial"/>
              </a:rPr>
              <a:t>01</a:t>
            </a:r>
          </a:p>
        </p:txBody>
      </p:sp>
      <p:sp>
        <p:nvSpPr>
          <p:cNvPr id="5" name="summary-1-title">
            <a:extLst>
              <a:ext uri="{FF2B5EF4-FFF2-40B4-BE49-F238E27FC236}">
                <a16:creationId xmlns:a16="http://schemas.microsoft.com/office/drawing/2014/main" id="{3E7EB0AF-0778-4439-9F73-6BAF3539879B}"/>
              </a:ext>
            </a:extLst>
          </p:cNvPr>
          <p:cNvSpPr>
            <a:spLocks noGrp="1"/>
          </p:cNvSpPr>
          <p:nvPr/>
        </p:nvSpPr>
        <p:spPr>
          <a:xfrm>
            <a:off x="2038350" y="3257550"/>
            <a:ext cx="1200150" cy="3048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FFFFFF"/>
                </a:solidFill>
                <a:latin typeface="Arial"/>
                <a:ea typeface="Arial"/>
                <a:cs typeface="Arial"/>
              </a:defRPr>
            </a:pPr>
            <a:r>
              <a:rPr sz="1800" b="1" i="0">
                <a:solidFill>
                  <a:srgbClr val="FFFFFF"/>
                </a:solidFill>
                <a:latin typeface="Arial"/>
                <a:ea typeface="Arial"/>
                <a:cs typeface="Arial"/>
              </a:rPr>
              <a:t>Measure</a:t>
            </a:r>
          </a:p>
        </p:txBody>
      </p:sp>
      <p:sp>
        <p:nvSpPr>
          <p:cNvPr id="6" name="summary-1-detail">
            <a:extLst>
              <a:ext uri="{FF2B5EF4-FFF2-40B4-BE49-F238E27FC236}">
                <a16:creationId xmlns:a16="http://schemas.microsoft.com/office/drawing/2014/main" id="{883F48F6-9207-4281-B15D-2B220E260EEC}"/>
              </a:ext>
            </a:extLst>
          </p:cNvPr>
          <p:cNvSpPr>
            <a:spLocks noGrp="1"/>
          </p:cNvSpPr>
          <p:nvPr/>
        </p:nvSpPr>
        <p:spPr>
          <a:xfrm>
            <a:off x="3371850" y="3257550"/>
            <a:ext cx="5334000" cy="400050"/>
          </a:xfrm>
          <a:prstGeom prst="rect">
            <a:avLst/>
          </a:prstGeom>
          <a:noFill/>
          <a:ln w="0">
            <a:noFill/>
            <a:prstDash val="solid"/>
          </a:ln>
        </p:spPr>
        <p:txBody>
          <a:bodyPr wrap="square" lIns="0" tIns="0" rIns="0" bIns="0" anchor="t">
            <a:normAutofit/>
          </a:bodyPr>
          <a:lstStyle/>
          <a:p>
            <a:pPr algn="l">
              <a:lnSpc>
                <a:spcPct val="105000"/>
              </a:lnSpc>
              <a:buNone/>
              <a:defRPr sz="1500" b="0" i="0">
                <a:solidFill>
                  <a:srgbClr val="FFFFFF"/>
                </a:solidFill>
                <a:latin typeface="Arial"/>
                <a:ea typeface="Arial"/>
                <a:cs typeface="Arial"/>
              </a:defRPr>
            </a:pPr>
            <a:r>
              <a:rPr sz="1500" b="0" i="0">
                <a:solidFill>
                  <a:srgbClr val="FFFFFF"/>
                </a:solidFill>
                <a:latin typeface="Arial"/>
                <a:ea typeface="Arial"/>
                <a:cs typeface="Arial"/>
              </a:rPr>
              <a:t>Temperature and humidity readings arrive through MQTT.</a:t>
            </a:r>
          </a:p>
        </p:txBody>
      </p:sp>
      <p:sp>
        <p:nvSpPr>
          <p:cNvPr id="7" name="summary-2-number">
            <a:extLst>
              <a:ext uri="{FF2B5EF4-FFF2-40B4-BE49-F238E27FC236}">
                <a16:creationId xmlns:a16="http://schemas.microsoft.com/office/drawing/2014/main" id="{8FB089C4-69C0-46D5-BC5F-FC84DD92727D}"/>
              </a:ext>
            </a:extLst>
          </p:cNvPr>
          <p:cNvSpPr>
            <a:spLocks noGrp="1"/>
          </p:cNvSpPr>
          <p:nvPr/>
        </p:nvSpPr>
        <p:spPr>
          <a:xfrm>
            <a:off x="1238250" y="4056744"/>
            <a:ext cx="514350" cy="514350"/>
          </a:xfrm>
          <a:prstGeom prst="ellipse">
            <a:avLst/>
          </a:prstGeom>
          <a:solidFill>
            <a:srgbClr val="FFC000"/>
          </a:solidFill>
          <a:ln w="0">
            <a:noFill/>
            <a:prstDash val="solid"/>
          </a:ln>
        </p:spPr>
        <p:txBody>
          <a:bodyPr wrap="square" lIns="0" tIns="0" rIns="0" bIns="0" anchor="ctr">
            <a:normAutofit/>
          </a:bodyPr>
          <a:lstStyle/>
          <a:p>
            <a:pPr algn="ctr">
              <a:lnSpc>
                <a:spcPct val="102000"/>
              </a:lnSpc>
              <a:buNone/>
              <a:defRPr sz="1200" b="1">
                <a:solidFill>
                  <a:srgbClr val="FFFFFF"/>
                </a:solidFill>
                <a:latin typeface="Arial"/>
                <a:ea typeface="Arial"/>
                <a:cs typeface="Arial"/>
              </a:defRPr>
            </a:pPr>
            <a:r>
              <a:rPr sz="1200" b="1">
                <a:solidFill>
                  <a:srgbClr val="FFFFFF"/>
                </a:solidFill>
                <a:latin typeface="Arial"/>
                <a:ea typeface="Arial"/>
                <a:cs typeface="Arial"/>
              </a:rPr>
              <a:t>02</a:t>
            </a:r>
          </a:p>
        </p:txBody>
      </p:sp>
      <p:sp>
        <p:nvSpPr>
          <p:cNvPr id="8" name="summary-2-title">
            <a:extLst>
              <a:ext uri="{FF2B5EF4-FFF2-40B4-BE49-F238E27FC236}">
                <a16:creationId xmlns:a16="http://schemas.microsoft.com/office/drawing/2014/main" id="{6348D425-6C11-4343-A8C7-B70A6864F57A}"/>
              </a:ext>
            </a:extLst>
          </p:cNvPr>
          <p:cNvSpPr>
            <a:spLocks noGrp="1"/>
          </p:cNvSpPr>
          <p:nvPr/>
        </p:nvSpPr>
        <p:spPr>
          <a:xfrm>
            <a:off x="2038350" y="4133850"/>
            <a:ext cx="1200150" cy="3048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FFFFFF"/>
                </a:solidFill>
                <a:latin typeface="Arial"/>
                <a:ea typeface="Arial"/>
                <a:cs typeface="Arial"/>
              </a:defRPr>
            </a:pPr>
            <a:r>
              <a:rPr sz="1800" b="1" i="0">
                <a:solidFill>
                  <a:srgbClr val="FFFFFF"/>
                </a:solidFill>
                <a:latin typeface="Arial"/>
                <a:ea typeface="Arial"/>
                <a:cs typeface="Arial"/>
              </a:rPr>
              <a:t>Decide</a:t>
            </a:r>
          </a:p>
        </p:txBody>
      </p:sp>
      <p:sp>
        <p:nvSpPr>
          <p:cNvPr id="9" name="summary-2-detail">
            <a:extLst>
              <a:ext uri="{FF2B5EF4-FFF2-40B4-BE49-F238E27FC236}">
                <a16:creationId xmlns:a16="http://schemas.microsoft.com/office/drawing/2014/main" id="{CA8ED913-9428-45A5-9240-2F58A5087615}"/>
              </a:ext>
            </a:extLst>
          </p:cNvPr>
          <p:cNvSpPr>
            <a:spLocks noGrp="1"/>
          </p:cNvSpPr>
          <p:nvPr/>
        </p:nvSpPr>
        <p:spPr>
          <a:xfrm>
            <a:off x="3371850" y="4133850"/>
            <a:ext cx="5334000" cy="400050"/>
          </a:xfrm>
          <a:prstGeom prst="rect">
            <a:avLst/>
          </a:prstGeom>
          <a:noFill/>
          <a:ln w="0">
            <a:noFill/>
            <a:prstDash val="solid"/>
          </a:ln>
        </p:spPr>
        <p:txBody>
          <a:bodyPr wrap="square" lIns="0" tIns="0" rIns="0" bIns="0" anchor="t">
            <a:normAutofit/>
          </a:bodyPr>
          <a:lstStyle/>
          <a:p>
            <a:pPr algn="l">
              <a:lnSpc>
                <a:spcPct val="105000"/>
              </a:lnSpc>
              <a:buNone/>
              <a:defRPr sz="1500" b="0" i="0">
                <a:solidFill>
                  <a:srgbClr val="FFFFFF"/>
                </a:solidFill>
                <a:latin typeface="Arial"/>
                <a:ea typeface="Arial"/>
                <a:cs typeface="Arial"/>
              </a:defRPr>
            </a:pPr>
            <a:r>
              <a:rPr sz="1500" b="0" i="0">
                <a:solidFill>
                  <a:srgbClr val="FFFFFF"/>
                </a:solidFill>
                <a:latin typeface="Arial"/>
                <a:ea typeface="Arial"/>
                <a:cs typeface="Arial"/>
              </a:rPr>
              <a:t>Threshold logic classifies the room state.</a:t>
            </a:r>
          </a:p>
        </p:txBody>
      </p:sp>
      <p:sp>
        <p:nvSpPr>
          <p:cNvPr id="10" name="summary-3-number">
            <a:extLst>
              <a:ext uri="{FF2B5EF4-FFF2-40B4-BE49-F238E27FC236}">
                <a16:creationId xmlns:a16="http://schemas.microsoft.com/office/drawing/2014/main" id="{A7260C59-85CB-4E37-B940-5B4F4CD6F1A6}"/>
              </a:ext>
            </a:extLst>
          </p:cNvPr>
          <p:cNvSpPr>
            <a:spLocks noGrp="1"/>
          </p:cNvSpPr>
          <p:nvPr/>
        </p:nvSpPr>
        <p:spPr>
          <a:xfrm>
            <a:off x="1238250" y="4933044"/>
            <a:ext cx="514350" cy="514350"/>
          </a:xfrm>
          <a:prstGeom prst="ellipse">
            <a:avLst/>
          </a:prstGeom>
          <a:solidFill>
            <a:srgbClr val="4FB49A"/>
          </a:solidFill>
          <a:ln w="0">
            <a:noFill/>
            <a:prstDash val="solid"/>
          </a:ln>
        </p:spPr>
        <p:txBody>
          <a:bodyPr wrap="square" lIns="0" tIns="0" rIns="0" bIns="0" anchor="ctr">
            <a:normAutofit/>
          </a:bodyPr>
          <a:lstStyle/>
          <a:p>
            <a:pPr algn="ctr">
              <a:lnSpc>
                <a:spcPct val="102000"/>
              </a:lnSpc>
              <a:buNone/>
              <a:defRPr sz="1200" b="1">
                <a:solidFill>
                  <a:srgbClr val="FFFFFF"/>
                </a:solidFill>
                <a:latin typeface="Arial"/>
                <a:ea typeface="Arial"/>
                <a:cs typeface="Arial"/>
              </a:defRPr>
            </a:pPr>
            <a:r>
              <a:rPr sz="1200" b="1">
                <a:solidFill>
                  <a:srgbClr val="FFFFFF"/>
                </a:solidFill>
                <a:latin typeface="Arial"/>
                <a:ea typeface="Arial"/>
                <a:cs typeface="Arial"/>
              </a:rPr>
              <a:t>03</a:t>
            </a:r>
          </a:p>
        </p:txBody>
      </p:sp>
      <p:sp>
        <p:nvSpPr>
          <p:cNvPr id="11" name="summary-3-title">
            <a:extLst>
              <a:ext uri="{FF2B5EF4-FFF2-40B4-BE49-F238E27FC236}">
                <a16:creationId xmlns:a16="http://schemas.microsoft.com/office/drawing/2014/main" id="{B7E99751-A11D-4BFE-87F8-90B2F5415FAB}"/>
              </a:ext>
            </a:extLst>
          </p:cNvPr>
          <p:cNvSpPr>
            <a:spLocks noGrp="1"/>
          </p:cNvSpPr>
          <p:nvPr/>
        </p:nvSpPr>
        <p:spPr>
          <a:xfrm>
            <a:off x="2038350" y="5010150"/>
            <a:ext cx="1200150" cy="3048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FFFFFF"/>
                </a:solidFill>
                <a:latin typeface="Arial"/>
                <a:ea typeface="Arial"/>
                <a:cs typeface="Arial"/>
              </a:defRPr>
            </a:pPr>
            <a:r>
              <a:rPr sz="1800" b="1" i="0">
                <a:solidFill>
                  <a:srgbClr val="FFFFFF"/>
                </a:solidFill>
                <a:latin typeface="Arial"/>
                <a:ea typeface="Arial"/>
                <a:cs typeface="Arial"/>
              </a:rPr>
              <a:t>Act</a:t>
            </a:r>
          </a:p>
        </p:txBody>
      </p:sp>
      <p:sp>
        <p:nvSpPr>
          <p:cNvPr id="12" name="summary-3-detail">
            <a:extLst>
              <a:ext uri="{FF2B5EF4-FFF2-40B4-BE49-F238E27FC236}">
                <a16:creationId xmlns:a16="http://schemas.microsoft.com/office/drawing/2014/main" id="{96351669-4BFC-4DBB-A53B-1D9DF7DC34EC}"/>
              </a:ext>
            </a:extLst>
          </p:cNvPr>
          <p:cNvSpPr>
            <a:spLocks noGrp="1"/>
          </p:cNvSpPr>
          <p:nvPr/>
        </p:nvSpPr>
        <p:spPr>
          <a:xfrm>
            <a:off x="3371850" y="5010150"/>
            <a:ext cx="5334000" cy="400050"/>
          </a:xfrm>
          <a:prstGeom prst="rect">
            <a:avLst/>
          </a:prstGeom>
          <a:noFill/>
          <a:ln w="0">
            <a:noFill/>
            <a:prstDash val="solid"/>
          </a:ln>
        </p:spPr>
        <p:txBody>
          <a:bodyPr wrap="square" lIns="0" tIns="0" rIns="0" bIns="0" anchor="t">
            <a:normAutofit/>
          </a:bodyPr>
          <a:lstStyle/>
          <a:p>
            <a:pPr algn="l">
              <a:lnSpc>
                <a:spcPct val="105000"/>
              </a:lnSpc>
              <a:buNone/>
              <a:defRPr sz="1500" b="0" i="0">
                <a:solidFill>
                  <a:srgbClr val="FFFFFF"/>
                </a:solidFill>
                <a:latin typeface="Arial"/>
                <a:ea typeface="Arial"/>
                <a:cs typeface="Arial"/>
              </a:defRPr>
            </a:pPr>
            <a:r>
              <a:rPr sz="1500" b="0" i="0">
                <a:solidFill>
                  <a:srgbClr val="FFFFFF"/>
                </a:solidFill>
                <a:latin typeface="Arial"/>
                <a:ea typeface="Arial"/>
                <a:cs typeface="Arial"/>
              </a:rPr>
              <a:t>A/C, pump, alarm, and event log show the response.</a:t>
            </a:r>
          </a:p>
        </p:txBody>
      </p:sp>
      <p:sp>
        <p:nvSpPr>
          <p:cNvPr id="13" name="summary-side-panel">
            <a:extLst>
              <a:ext uri="{FF2B5EF4-FFF2-40B4-BE49-F238E27FC236}">
                <a16:creationId xmlns:a16="http://schemas.microsoft.com/office/drawing/2014/main" id="{04C230FF-0E55-4B10-ADD3-4F6EA88A4682}"/>
              </a:ext>
            </a:extLst>
          </p:cNvPr>
          <p:cNvSpPr>
            <a:spLocks noGrp="1"/>
          </p:cNvSpPr>
          <p:nvPr/>
        </p:nvSpPr>
        <p:spPr>
          <a:xfrm>
            <a:off x="9505950" y="1676400"/>
            <a:ext cx="1752600" cy="3429000"/>
          </a:xfrm>
          <a:prstGeom prst="roundRect">
            <a:avLst>
              <a:gd name="adj" fmla="val 9783"/>
            </a:avLst>
          </a:prstGeom>
          <a:solidFill>
            <a:srgbClr val="FFFFFF"/>
          </a:solidFill>
          <a:ln w="0">
            <a:solidFill>
              <a:srgbClr val="FFFFFF"/>
            </a:solidFill>
            <a:prstDash val="solid"/>
          </a:ln>
        </p:spPr>
        <p:txBody>
          <a:bodyPr/>
          <a:lstStyle/>
          <a:p>
            <a:endParaRPr lang="he-IL"/>
          </a:p>
        </p:txBody>
      </p:sp>
      <p:sp>
        <p:nvSpPr>
          <p:cNvPr id="14" name="summary-mqtt">
            <a:extLst>
              <a:ext uri="{FF2B5EF4-FFF2-40B4-BE49-F238E27FC236}">
                <a16:creationId xmlns:a16="http://schemas.microsoft.com/office/drawing/2014/main" id="{EC6AA563-2CE6-420D-A141-48F7C5F8DCD7}"/>
              </a:ext>
            </a:extLst>
          </p:cNvPr>
          <p:cNvSpPr>
            <a:spLocks noGrp="1"/>
          </p:cNvSpPr>
          <p:nvPr/>
        </p:nvSpPr>
        <p:spPr>
          <a:xfrm>
            <a:off x="9715500" y="2114550"/>
            <a:ext cx="1333500" cy="476250"/>
          </a:xfrm>
          <a:prstGeom prst="rect">
            <a:avLst/>
          </a:prstGeom>
          <a:noFill/>
          <a:ln w="0">
            <a:noFill/>
            <a:prstDash val="solid"/>
          </a:ln>
        </p:spPr>
        <p:txBody>
          <a:bodyPr wrap="square" lIns="0" tIns="0" rIns="0" bIns="0" anchor="t">
            <a:normAutofit/>
          </a:bodyPr>
          <a:lstStyle/>
          <a:p>
            <a:pPr algn="ctr">
              <a:lnSpc>
                <a:spcPct val="105000"/>
              </a:lnSpc>
              <a:buNone/>
              <a:defRPr sz="2400" b="1" i="0">
                <a:solidFill>
                  <a:srgbClr val="1FA9D2"/>
                </a:solidFill>
                <a:latin typeface="Arial"/>
                <a:ea typeface="Arial"/>
                <a:cs typeface="Arial"/>
              </a:defRPr>
            </a:pPr>
            <a:r>
              <a:rPr sz="2400" b="1" i="0">
                <a:solidFill>
                  <a:srgbClr val="1FA9D2"/>
                </a:solidFill>
                <a:latin typeface="Arial"/>
                <a:ea typeface="Arial"/>
                <a:cs typeface="Arial"/>
              </a:rPr>
              <a:t>MQTT</a:t>
            </a:r>
          </a:p>
        </p:txBody>
      </p:sp>
      <p:sp>
        <p:nvSpPr>
          <p:cNvPr id="15" name="summary-line-1">
            <a:extLst>
              <a:ext uri="{FF2B5EF4-FFF2-40B4-BE49-F238E27FC236}">
                <a16:creationId xmlns:a16="http://schemas.microsoft.com/office/drawing/2014/main" id="{1D5187F4-C73C-4664-8152-33F311BAFE01}"/>
              </a:ext>
            </a:extLst>
          </p:cNvPr>
          <p:cNvSpPr>
            <a:spLocks noGrp="1"/>
          </p:cNvSpPr>
          <p:nvPr/>
        </p:nvSpPr>
        <p:spPr>
          <a:xfrm>
            <a:off x="9963150" y="2724150"/>
            <a:ext cx="838200" cy="0"/>
          </a:xfrm>
          <a:prstGeom prst="line">
            <a:avLst/>
          </a:prstGeom>
          <a:noFill/>
          <a:ln w="19050">
            <a:solidFill>
              <a:srgbClr val="C7D9DF"/>
            </a:solidFill>
            <a:prstDash val="solid"/>
          </a:ln>
        </p:spPr>
        <p:txBody>
          <a:bodyPr/>
          <a:lstStyle/>
          <a:p>
            <a:endParaRPr lang="he-IL"/>
          </a:p>
        </p:txBody>
      </p:sp>
      <p:sp>
        <p:nvSpPr>
          <p:cNvPr id="16" name="summary-dht">
            <a:extLst>
              <a:ext uri="{FF2B5EF4-FFF2-40B4-BE49-F238E27FC236}">
                <a16:creationId xmlns:a16="http://schemas.microsoft.com/office/drawing/2014/main" id="{D3DC81CA-28A2-4EE1-AB1E-70A83DF85CBD}"/>
              </a:ext>
            </a:extLst>
          </p:cNvPr>
          <p:cNvSpPr>
            <a:spLocks noGrp="1"/>
          </p:cNvSpPr>
          <p:nvPr/>
        </p:nvSpPr>
        <p:spPr>
          <a:xfrm>
            <a:off x="9715500" y="3048000"/>
            <a:ext cx="1333500" cy="381000"/>
          </a:xfrm>
          <a:prstGeom prst="rect">
            <a:avLst/>
          </a:prstGeom>
          <a:noFill/>
          <a:ln w="0">
            <a:noFill/>
            <a:prstDash val="solid"/>
          </a:ln>
        </p:spPr>
        <p:txBody>
          <a:bodyPr wrap="square" lIns="0" tIns="0" rIns="0" bIns="0" anchor="t">
            <a:normAutofit/>
          </a:bodyPr>
          <a:lstStyle/>
          <a:p>
            <a:pPr algn="ctr">
              <a:lnSpc>
                <a:spcPct val="105000"/>
              </a:lnSpc>
              <a:buNone/>
              <a:defRPr sz="1950" b="1" i="0">
                <a:solidFill>
                  <a:srgbClr val="113C52"/>
                </a:solidFill>
                <a:latin typeface="Arial"/>
                <a:ea typeface="Arial"/>
                <a:cs typeface="Arial"/>
              </a:defRPr>
            </a:pPr>
            <a:r>
              <a:rPr sz="1950" b="1" i="0">
                <a:solidFill>
                  <a:srgbClr val="113C52"/>
                </a:solidFill>
                <a:latin typeface="Arial"/>
                <a:ea typeface="Arial"/>
                <a:cs typeface="Arial"/>
              </a:rPr>
              <a:t>DHT</a:t>
            </a:r>
          </a:p>
        </p:txBody>
      </p:sp>
      <p:sp>
        <p:nvSpPr>
          <p:cNvPr id="17" name="summary-line-2">
            <a:extLst>
              <a:ext uri="{FF2B5EF4-FFF2-40B4-BE49-F238E27FC236}">
                <a16:creationId xmlns:a16="http://schemas.microsoft.com/office/drawing/2014/main" id="{20ECB17D-F135-4040-A253-B27C82F1CC8A}"/>
              </a:ext>
            </a:extLst>
          </p:cNvPr>
          <p:cNvSpPr>
            <a:spLocks noGrp="1"/>
          </p:cNvSpPr>
          <p:nvPr/>
        </p:nvSpPr>
        <p:spPr>
          <a:xfrm>
            <a:off x="9963150" y="3657600"/>
            <a:ext cx="838200" cy="0"/>
          </a:xfrm>
          <a:prstGeom prst="line">
            <a:avLst/>
          </a:prstGeom>
          <a:noFill/>
          <a:ln w="19050">
            <a:solidFill>
              <a:srgbClr val="C7D9DF"/>
            </a:solidFill>
            <a:prstDash val="solid"/>
          </a:ln>
        </p:spPr>
        <p:txBody>
          <a:bodyPr/>
          <a:lstStyle/>
          <a:p>
            <a:endParaRPr lang="he-IL"/>
          </a:p>
        </p:txBody>
      </p:sp>
      <p:sp>
        <p:nvSpPr>
          <p:cNvPr id="18" name="summary-actions">
            <a:extLst>
              <a:ext uri="{FF2B5EF4-FFF2-40B4-BE49-F238E27FC236}">
                <a16:creationId xmlns:a16="http://schemas.microsoft.com/office/drawing/2014/main" id="{1BAE51A0-8C23-48FC-B980-69072C8867F4}"/>
              </a:ext>
            </a:extLst>
          </p:cNvPr>
          <p:cNvSpPr>
            <a:spLocks noGrp="1"/>
          </p:cNvSpPr>
          <p:nvPr/>
        </p:nvSpPr>
        <p:spPr>
          <a:xfrm>
            <a:off x="9715500" y="4000500"/>
            <a:ext cx="1333500" cy="666750"/>
          </a:xfrm>
          <a:prstGeom prst="rect">
            <a:avLst/>
          </a:prstGeom>
          <a:noFill/>
          <a:ln w="0">
            <a:noFill/>
            <a:prstDash val="solid"/>
          </a:ln>
        </p:spPr>
        <p:txBody>
          <a:bodyPr wrap="square" lIns="0" tIns="0" rIns="0" bIns="0" anchor="t">
            <a:normAutofit/>
          </a:bodyPr>
          <a:lstStyle/>
          <a:p>
            <a:pPr algn="ctr">
              <a:lnSpc>
                <a:spcPct val="105000"/>
              </a:lnSpc>
              <a:buNone/>
              <a:defRPr sz="1575" b="1" i="0">
                <a:solidFill>
                  <a:srgbClr val="4FB49A"/>
                </a:solidFill>
                <a:latin typeface="Arial"/>
                <a:ea typeface="Arial"/>
                <a:cs typeface="Arial"/>
              </a:defRPr>
            </a:pPr>
            <a:r>
              <a:rPr sz="1575" b="1" i="0">
                <a:solidFill>
                  <a:srgbClr val="4FB49A"/>
                </a:solidFill>
                <a:latin typeface="Arial"/>
                <a:ea typeface="Arial"/>
                <a:cs typeface="Arial"/>
              </a:rPr>
              <a:t>A/C, PUMP</a:t>
            </a:r>
          </a:p>
          <a:p>
            <a:pPr algn="ctr">
              <a:lnSpc>
                <a:spcPct val="105000"/>
              </a:lnSpc>
              <a:buNone/>
              <a:defRPr sz="1575" b="1" i="0">
                <a:solidFill>
                  <a:srgbClr val="4FB49A"/>
                </a:solidFill>
                <a:latin typeface="Arial"/>
                <a:ea typeface="Arial"/>
                <a:cs typeface="Arial"/>
              </a:defRPr>
            </a:pPr>
            <a:r>
              <a:rPr sz="1575" b="1" i="0">
                <a:solidFill>
                  <a:srgbClr val="4FB49A"/>
                </a:solidFill>
                <a:latin typeface="Arial"/>
                <a:ea typeface="Arial"/>
                <a:cs typeface="Arial"/>
              </a:rPr>
              <a:t>ALARM</a:t>
            </a:r>
          </a:p>
        </p:txBody>
      </p:sp>
      <p:sp>
        <p:nvSpPr>
          <p:cNvPr id="19" name="summary-caption">
            <a:extLst>
              <a:ext uri="{FF2B5EF4-FFF2-40B4-BE49-F238E27FC236}">
                <a16:creationId xmlns:a16="http://schemas.microsoft.com/office/drawing/2014/main" id="{29A7C465-66BF-4821-A62D-8FE3CFA5527E}"/>
              </a:ext>
            </a:extLst>
          </p:cNvPr>
          <p:cNvSpPr>
            <a:spLocks noGrp="1"/>
          </p:cNvSpPr>
          <p:nvPr/>
        </p:nvSpPr>
        <p:spPr>
          <a:xfrm>
            <a:off x="9182100" y="5467350"/>
            <a:ext cx="2400300" cy="304800"/>
          </a:xfrm>
          <a:prstGeom prst="rect">
            <a:avLst/>
          </a:prstGeom>
          <a:noFill/>
          <a:ln w="0">
            <a:noFill/>
            <a:prstDash val="solid"/>
          </a:ln>
        </p:spPr>
        <p:txBody>
          <a:bodyPr wrap="square" lIns="0" tIns="0" rIns="0" bIns="0" anchor="t">
            <a:normAutofit/>
          </a:bodyPr>
          <a:lstStyle/>
          <a:p>
            <a:pPr algn="ctr">
              <a:lnSpc>
                <a:spcPct val="105000"/>
              </a:lnSpc>
              <a:buNone/>
              <a:defRPr sz="1200" b="0" i="0">
                <a:solidFill>
                  <a:srgbClr val="8CC9DB"/>
                </a:solidFill>
                <a:latin typeface="Arial"/>
                <a:ea typeface="Arial"/>
                <a:cs typeface="Arial"/>
              </a:defRPr>
            </a:pPr>
            <a:r>
              <a:rPr sz="1200" b="0" i="0">
                <a:solidFill>
                  <a:srgbClr val="8CC9DB"/>
                </a:solidFill>
                <a:latin typeface="Arial"/>
                <a:ea typeface="Arial"/>
                <a:cs typeface="Arial"/>
              </a:rPr>
              <a:t>From message to action</a:t>
            </a:r>
          </a:p>
        </p:txBody>
      </p:sp>
      <p:sp>
        <p:nvSpPr>
          <p:cNvPr id="20" name="summary-footer">
            <a:extLst>
              <a:ext uri="{FF2B5EF4-FFF2-40B4-BE49-F238E27FC236}">
                <a16:creationId xmlns:a16="http://schemas.microsoft.com/office/drawing/2014/main" id="{B5B393F2-9AAA-4420-A530-5FA1A79DF355}"/>
              </a:ext>
            </a:extLst>
          </p:cNvPr>
          <p:cNvSpPr>
            <a:spLocks noGrp="1"/>
          </p:cNvSpPr>
          <p:nvPr/>
        </p:nvSpPr>
        <p:spPr>
          <a:xfrm>
            <a:off x="1219200" y="6343650"/>
            <a:ext cx="4191000" cy="190500"/>
          </a:xfrm>
          <a:prstGeom prst="rect">
            <a:avLst/>
          </a:prstGeom>
          <a:noFill/>
          <a:ln w="0">
            <a:noFill/>
            <a:prstDash val="solid"/>
          </a:ln>
        </p:spPr>
        <p:txBody>
          <a:bodyPr wrap="square" lIns="0" tIns="0" rIns="0" bIns="0" anchor="t">
            <a:normAutofit/>
          </a:bodyPr>
          <a:lstStyle/>
          <a:p>
            <a:pPr algn="l">
              <a:lnSpc>
                <a:spcPct val="105000"/>
              </a:lnSpc>
              <a:buNone/>
              <a:defRPr sz="900" b="0" i="0">
                <a:solidFill>
                  <a:srgbClr val="8CC9DB"/>
                </a:solidFill>
                <a:latin typeface="Arial"/>
                <a:ea typeface="Arial"/>
                <a:cs typeface="Arial"/>
              </a:defRPr>
            </a:pPr>
            <a:r>
              <a:rPr sz="900" b="0" i="0">
                <a:solidFill>
                  <a:srgbClr val="8CC9DB"/>
                </a:solidFill>
                <a:latin typeface="Arial"/>
                <a:ea typeface="Arial"/>
                <a:cs typeface="Arial"/>
              </a:rPr>
              <a:t>IOT SMART HOME / SERVER ROOM MONITOR</a:t>
            </a:r>
          </a:p>
        </p:txBody>
      </p:sp>
    </p:spTree>
    <p:extLst>
      <p:ext uri="{BB962C8B-B14F-4D97-AF65-F5344CB8AC3E}">
        <p14:creationId xmlns:p14="http://schemas.microsoft.com/office/powerpoint/2010/main" val="1808772251"/>
      </p:ext>
    </p:extLst>
  </p:cSld>
  <p:clrMapOvr>
    <a:masterClrMapping/>
  </p:clrMapOvr>
</p:sld>
</file>

<file path=ppt/theme/theme1.xml><?xml version="1.0" encoding="utf-8"?>
<a:theme xmlns:a="http://schemas.openxmlformats.org/drawingml/2006/main" name="ChatGPT">
  <a:themeElements>
    <a:clrScheme name="Smart Home Technical">
      <a:dk1>
        <a:srgbClr val="000000"/>
      </a:dk1>
      <a:lt1>
        <a:srgbClr val="FFFFFF"/>
      </a:lt1>
      <a:dk2>
        <a:srgbClr val="113C52"/>
      </a:dk2>
      <a:lt2>
        <a:srgbClr val="E9EEF0"/>
      </a:lt2>
      <a:accent1>
        <a:srgbClr val="1FA9D2"/>
      </a:accent1>
      <a:accent2>
        <a:srgbClr val="4FB49A"/>
      </a:accent2>
      <a:accent3>
        <a:srgbClr val="F2C94C"/>
      </a:accent3>
      <a:accent4>
        <a:srgbClr val="E25A60"/>
      </a:accent4>
      <a:accent5>
        <a:srgbClr val="113C52"/>
      </a:accent5>
      <a:accent6>
        <a:srgbClr val="8CC9DB"/>
      </a:accent6>
      <a:hlink>
        <a:srgbClr val="1FA9D2"/>
      </a:hlink>
      <a:folHlink>
        <a:srgbClr val="113C52"/>
      </a:folHlink>
    </a:clrScheme>
    <a:fontScheme name="Office">
      <a:majorFont>
        <a:latin typeface="Calibri Light"/>
        <a:ea typeface="Calibri Light"/>
        <a:cs typeface="Calibri Light"/>
      </a:majorFont>
      <a:minorFont>
        <a:latin typeface="Calibri"/>
        <a:ea typeface="Calibri"/>
        <a:cs typeface="Calibri"/>
      </a:minorFont>
    </a:fontScheme>
    <a:fmtScheme name="Smart Home Technic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Smart Home Technical">
      <a:dk1>
        <a:srgbClr val="000000"/>
      </a:dk1>
      <a:lt1>
        <a:srgbClr val="FFFFFF"/>
      </a:lt1>
      <a:dk2>
        <a:srgbClr val="113C52"/>
      </a:dk2>
      <a:lt2>
        <a:srgbClr val="E9EEF0"/>
      </a:lt2>
      <a:accent1>
        <a:srgbClr val="1FA9D2"/>
      </a:accent1>
      <a:accent2>
        <a:srgbClr val="4FB49A"/>
      </a:accent2>
      <a:accent3>
        <a:srgbClr val="F2C94C"/>
      </a:accent3>
      <a:accent4>
        <a:srgbClr val="E25A60"/>
      </a:accent4>
      <a:accent5>
        <a:srgbClr val="113C52"/>
      </a:accent5>
      <a:accent6>
        <a:srgbClr val="8CC9DB"/>
      </a:accent6>
      <a:hlink>
        <a:srgbClr val="1FA9D2"/>
      </a:hlink>
      <a:folHlink>
        <a:srgbClr val="113C52"/>
      </a:folHlink>
    </a:clrScheme>
    <a:fontScheme name="Office">
      <a:majorFont>
        <a:latin typeface="Calibri Light"/>
        <a:ea typeface="Calibri Light"/>
        <a:cs typeface="Calibri Light"/>
      </a:majorFont>
      <a:minorFont>
        <a:latin typeface="Calibri"/>
        <a:ea typeface="Calibri"/>
        <a:cs typeface="Calibri"/>
      </a:minorFont>
    </a:fontScheme>
    <a:fmtScheme name="Smart Home Technic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969</TotalTime>
  <Words>1560</Words>
  <Application>Microsoft Office PowerPoint</Application>
  <DocSecurity>0</DocSecurity>
  <PresentationFormat>מסך רחב</PresentationFormat>
  <Paragraphs>218</Paragraphs>
  <Slides>10</Slides>
  <Notes>10</Notes>
  <HiddenSlides>0</HiddenSlides>
  <MMClips>0</MMClips>
  <ScaleCrop>false</ScaleCrop>
  <HeadingPairs>
    <vt:vector size="6" baseType="variant">
      <vt:variant>
        <vt:lpstr>גופנים בשימוש</vt:lpstr>
      </vt:variant>
      <vt:variant>
        <vt:i4>2</vt:i4>
      </vt:variant>
      <vt:variant>
        <vt:lpstr>ערכת נושא</vt:lpstr>
      </vt:variant>
      <vt:variant>
        <vt:i4>1</vt:i4>
      </vt:variant>
      <vt:variant>
        <vt:lpstr>כותרות שקופיות</vt:lpstr>
      </vt:variant>
      <vt:variant>
        <vt:i4>10</vt:i4>
      </vt:variant>
    </vt:vector>
  </HeadingPairs>
  <TitlesOfParts>
    <vt:vector size="13" baseType="lpstr">
      <vt:lpstr>Arial</vt:lpstr>
      <vt:lpstr>Calibri</vt:lpstr>
      <vt:lpstr>ChatGPT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אהרוני כהן</cp:lastModifiedBy>
  <cp:revision>17</cp:revision>
  <dcterms:created xsi:type="dcterms:W3CDTF">2026-09-11T20:13:35Z</dcterms:created>
  <dcterms:modified xsi:type="dcterms:W3CDTF">2026-09-14T20:56:30Z</dcterms:modified>
</cp:coreProperties>
</file>